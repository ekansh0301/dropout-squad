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4630400" cy="8229600"/>
  <p:notesSz cx="8229600" cy="14630400"/>
  <p:embeddedFontLst>
    <p:embeddedFont>
      <p:font typeface="Alice"/>
      <p:regular r:id="rId28"/>
    </p:embeddedFont>
    <p:embeddedFont>
      <p:font typeface="Alice"/>
      <p:regular r:id="rId29"/>
    </p:embeddedFont>
    <p:embeddedFont>
      <p:font typeface="Lora"/>
      <p:regular r:id="rId30"/>
    </p:embeddedFont>
    <p:embeddedFont>
      <p:font typeface="Lora"/>
      <p:regular r:id="rId31"/>
    </p:embeddedFont>
    <p:embeddedFont>
      <p:font typeface="Lora"/>
      <p:regular r:id="rId32"/>
    </p:embeddedFont>
    <p:embeddedFont>
      <p:font typeface="Lora"/>
      <p:regular r:id="rId33"/>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openxmlformats.org/officeDocument/2006/relationships/font" Target="fonts/font1.fntdata"/><Relationship Id="rId29" Type="http://schemas.openxmlformats.org/officeDocument/2006/relationships/font" Target="fonts/font2.fntdata"/><Relationship Id="rId30" Type="http://schemas.openxmlformats.org/officeDocument/2006/relationships/font" Target="fonts/font3.fntdata"/><Relationship Id="rId31" Type="http://schemas.openxmlformats.org/officeDocument/2006/relationships/font" Target="fonts/font4.fntdata"/><Relationship Id="rId32" Type="http://schemas.openxmlformats.org/officeDocument/2006/relationships/font" Target="fonts/font5.fntdata"/><Relationship Id="rId33"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2-1.png"/><Relationship Id="rId3"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3-1.png"/><Relationship Id="rId3"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4-1.png"/><Relationship Id="rId3"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5-1.png"/><Relationship Id="rId3"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6-1.png"/><Relationship Id="rId3"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7-1.png"/><Relationship Id="rId3"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8-1.png"/><Relationship Id="rId3"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9-1.png"/><Relationship Id="rId3"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20-1.png"/><Relationship Id="rId3"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21-1.png"/><Relationship Id="rId3"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2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5.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7.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164199"/>
            <a:ext cx="7556421" cy="2835116"/>
          </a:xfrm>
          <a:prstGeom prst="rect">
            <a:avLst/>
          </a:prstGeom>
          <a:noFill/>
          <a:ln/>
        </p:spPr>
        <p:txBody>
          <a:bodyPr wrap="square" lIns="0" tIns="0" rIns="0" bIns="0" rtlCol="0" anchor="t"/>
          <a:lstStyle/>
          <a:p>
            <a:pPr algn="l" indent="0" marL="0">
              <a:lnSpc>
                <a:spcPts val="5550"/>
              </a:lnSpc>
              <a:buNone/>
            </a:pPr>
            <a:r>
              <a:rPr lang="en-US" sz="4450" dirty="0">
                <a:solidFill>
                  <a:srgbClr val="233E32"/>
                </a:solidFill>
                <a:latin typeface="Alice" pitchFamily="34" charset="0"/>
                <a:ea typeface="Alice" pitchFamily="34" charset="-122"/>
                <a:cs typeface="Alice" pitchFamily="34" charset="-120"/>
              </a:rPr>
              <a:t>The Director LLM: Multi-Critic Reinforcement Learning for Narrative Generation</a:t>
            </a:r>
            <a:endParaRPr lang="en-US" sz="4450" dirty="0"/>
          </a:p>
        </p:txBody>
      </p:sp>
      <p:sp>
        <p:nvSpPr>
          <p:cNvPr id="4" name="Text 1"/>
          <p:cNvSpPr/>
          <p:nvPr/>
        </p:nvSpPr>
        <p:spPr>
          <a:xfrm>
            <a:off x="793790" y="5339477"/>
            <a:ext cx="7556421" cy="725805"/>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A framework for balancing competing objectives in interactive storytelling through specialized critics and dynamic reward weighting.</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120854"/>
            <a:ext cx="7556421" cy="2126337"/>
          </a:xfrm>
          <a:prstGeom prst="rect">
            <a:avLst/>
          </a:prstGeom>
          <a:noFill/>
          <a:ln/>
        </p:spPr>
        <p:txBody>
          <a:bodyPr wrap="square" lIns="0" tIns="0" rIns="0" bIns="0" rtlCol="0" anchor="t"/>
          <a:lstStyle/>
          <a:p>
            <a:pPr algn="l" indent="0" marL="0">
              <a:lnSpc>
                <a:spcPts val="5550"/>
              </a:lnSpc>
              <a:buNone/>
            </a:pPr>
            <a:r>
              <a:rPr lang="en-US" sz="4450" dirty="0">
                <a:solidFill>
                  <a:srgbClr val="233E32"/>
                </a:solidFill>
                <a:latin typeface="Alice" pitchFamily="34" charset="0"/>
                <a:ea typeface="Alice" pitchFamily="34" charset="-122"/>
                <a:cs typeface="Alice" pitchFamily="34" charset="-120"/>
              </a:rPr>
              <a:t>The Challenge: Multi-Objective Narrative Generation</a:t>
            </a:r>
            <a:endParaRPr lang="en-US" sz="4450" dirty="0"/>
          </a:p>
        </p:txBody>
      </p:sp>
      <p:sp>
        <p:nvSpPr>
          <p:cNvPr id="4" name="Text 1"/>
          <p:cNvSpPr/>
          <p:nvPr/>
        </p:nvSpPr>
        <p:spPr>
          <a:xfrm>
            <a:off x="793790" y="3587353"/>
            <a:ext cx="7556421" cy="2177415"/>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Large Language Models excel at fluency but struggle with competing objectives. In Dungeon Master generation, effective storytelling demands rich atmospheric description AND logical consistency AND appropriate causal responses. Standard approaches optimize single objectives, producing outputs that excel in one dimension while failing in others.</a:t>
            </a:r>
            <a:endParaRPr lang="en-US" sz="1750" dirty="0"/>
          </a:p>
        </p:txBody>
      </p:sp>
      <p:sp>
        <p:nvSpPr>
          <p:cNvPr id="5" name="Text 2"/>
          <p:cNvSpPr/>
          <p:nvPr/>
        </p:nvSpPr>
        <p:spPr>
          <a:xfrm>
            <a:off x="793790" y="6019919"/>
            <a:ext cx="7556421" cy="1088708"/>
          </a:xfrm>
          <a:prstGeom prst="rect">
            <a:avLst/>
          </a:prstGeom>
          <a:noFill/>
          <a:ln/>
        </p:spPr>
        <p:txBody>
          <a:bodyPr wrap="square" lIns="0" tIns="0" rIns="0" bIns="0" rtlCol="0" anchor="t"/>
          <a:lstStyle/>
          <a:p>
            <a:pPr algn="l" indent="0" marL="0">
              <a:lnSpc>
                <a:spcPts val="2850"/>
              </a:lnSpc>
              <a:buNone/>
            </a:pPr>
            <a:r>
              <a:rPr lang="en-US" sz="1750" b="1" dirty="0">
                <a:solidFill>
                  <a:srgbClr val="2C2821"/>
                </a:solidFill>
                <a:latin typeface="Lora" pitchFamily="34" charset="0"/>
                <a:ea typeface="Lora" pitchFamily="34" charset="-122"/>
                <a:cs typeface="Lora" pitchFamily="34" charset="-120"/>
              </a:rPr>
              <a:t>The Core Tension:</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Vivid worldbuilding conflicts with mechanical precision. Atmospheric narration conflicts with actionable information. Creative storytelling conflicts with logical consequences.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2165866"/>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233E32"/>
                </a:solidFill>
                <a:latin typeface="Alice" pitchFamily="34" charset="0"/>
                <a:ea typeface="Alice" pitchFamily="34" charset="-122"/>
                <a:cs typeface="Alice" pitchFamily="34" charset="-120"/>
              </a:rPr>
              <a:t>Research Objectives</a:t>
            </a:r>
            <a:endParaRPr lang="en-US" sz="4450" dirty="0"/>
          </a:p>
        </p:txBody>
      </p:sp>
      <p:sp>
        <p:nvSpPr>
          <p:cNvPr id="3" name="Shape 1"/>
          <p:cNvSpPr/>
          <p:nvPr/>
        </p:nvSpPr>
        <p:spPr>
          <a:xfrm>
            <a:off x="793790" y="3328273"/>
            <a:ext cx="510302" cy="510302"/>
          </a:xfrm>
          <a:prstGeom prst="roundRect">
            <a:avLst>
              <a:gd name="adj" fmla="val 6667"/>
            </a:avLst>
          </a:prstGeom>
          <a:solidFill>
            <a:srgbClr val="F0EDE6"/>
          </a:solidFill>
          <a:ln/>
        </p:spPr>
      </p:sp>
      <p:sp>
        <p:nvSpPr>
          <p:cNvPr id="4" name="Text 2"/>
          <p:cNvSpPr/>
          <p:nvPr/>
        </p:nvSpPr>
        <p:spPr>
          <a:xfrm>
            <a:off x="878860" y="3370778"/>
            <a:ext cx="340162" cy="425291"/>
          </a:xfrm>
          <a:prstGeom prst="rect">
            <a:avLst/>
          </a:prstGeom>
          <a:noFill/>
          <a:ln/>
        </p:spPr>
        <p:txBody>
          <a:bodyPr wrap="none" lIns="0" tIns="0" rIns="0" bIns="0" rtlCol="0" anchor="t"/>
          <a:lstStyle/>
          <a:p>
            <a:pPr algn="ctr" indent="0" marL="0">
              <a:lnSpc>
                <a:spcPts val="2650"/>
              </a:lnSpc>
              <a:buNone/>
            </a:pPr>
            <a:r>
              <a:rPr lang="en-US" sz="2650" dirty="0">
                <a:solidFill>
                  <a:srgbClr val="2C2821"/>
                </a:solidFill>
                <a:latin typeface="Alice" pitchFamily="34" charset="0"/>
                <a:ea typeface="Alice" pitchFamily="34" charset="-122"/>
                <a:cs typeface="Alice" pitchFamily="34" charset="-120"/>
              </a:rPr>
              <a:t>1</a:t>
            </a:r>
            <a:endParaRPr lang="en-US" sz="2650" dirty="0"/>
          </a:p>
        </p:txBody>
      </p:sp>
      <p:sp>
        <p:nvSpPr>
          <p:cNvPr id="5" name="Text 3"/>
          <p:cNvSpPr/>
          <p:nvPr/>
        </p:nvSpPr>
        <p:spPr>
          <a:xfrm>
            <a:off x="1530906" y="3406140"/>
            <a:ext cx="5642491" cy="1062990"/>
          </a:xfrm>
          <a:prstGeom prst="rect">
            <a:avLst/>
          </a:prstGeom>
          <a:noFill/>
          <a:ln/>
        </p:spPr>
        <p:txBody>
          <a:bodyPr wrap="square" lIns="0" tIns="0" rIns="0" bIns="0" rtlCol="0" anchor="t"/>
          <a:lstStyle/>
          <a:p>
            <a:pPr algn="l" indent="0" marL="0">
              <a:lnSpc>
                <a:spcPts val="2750"/>
              </a:lnSpc>
              <a:buNone/>
            </a:pPr>
            <a:r>
              <a:rPr lang="en-US" sz="2200" dirty="0">
                <a:solidFill>
                  <a:srgbClr val="2C2821"/>
                </a:solidFill>
                <a:latin typeface="Alice" pitchFamily="34" charset="0"/>
                <a:ea typeface="Alice" pitchFamily="34" charset="-122"/>
                <a:cs typeface="Alice" pitchFamily="34" charset="-120"/>
              </a:rPr>
              <a:t>Decompose narrative quality into distinct measurable competencies amenable to specialized evaluation</a:t>
            </a:r>
            <a:endParaRPr lang="en-US" sz="2200" dirty="0"/>
          </a:p>
        </p:txBody>
      </p:sp>
      <p:sp>
        <p:nvSpPr>
          <p:cNvPr id="6" name="Shape 4"/>
          <p:cNvSpPr/>
          <p:nvPr/>
        </p:nvSpPr>
        <p:spPr>
          <a:xfrm>
            <a:off x="7456884" y="3328273"/>
            <a:ext cx="510302" cy="510302"/>
          </a:xfrm>
          <a:prstGeom prst="roundRect">
            <a:avLst>
              <a:gd name="adj" fmla="val 6667"/>
            </a:avLst>
          </a:prstGeom>
          <a:solidFill>
            <a:srgbClr val="F0EDE6"/>
          </a:solidFill>
          <a:ln/>
        </p:spPr>
      </p:sp>
      <p:sp>
        <p:nvSpPr>
          <p:cNvPr id="7" name="Text 5"/>
          <p:cNvSpPr/>
          <p:nvPr/>
        </p:nvSpPr>
        <p:spPr>
          <a:xfrm>
            <a:off x="7541955" y="3370778"/>
            <a:ext cx="340162" cy="425291"/>
          </a:xfrm>
          <a:prstGeom prst="rect">
            <a:avLst/>
          </a:prstGeom>
          <a:noFill/>
          <a:ln/>
        </p:spPr>
        <p:txBody>
          <a:bodyPr wrap="none" lIns="0" tIns="0" rIns="0" bIns="0" rtlCol="0" anchor="t"/>
          <a:lstStyle/>
          <a:p>
            <a:pPr algn="ctr" indent="0" marL="0">
              <a:lnSpc>
                <a:spcPts val="2650"/>
              </a:lnSpc>
              <a:buNone/>
            </a:pPr>
            <a:r>
              <a:rPr lang="en-US" sz="2650" dirty="0">
                <a:solidFill>
                  <a:srgbClr val="2C2821"/>
                </a:solidFill>
                <a:latin typeface="Alice" pitchFamily="34" charset="0"/>
                <a:ea typeface="Alice" pitchFamily="34" charset="-122"/>
                <a:cs typeface="Alice" pitchFamily="34" charset="-120"/>
              </a:rPr>
              <a:t>2</a:t>
            </a:r>
            <a:endParaRPr lang="en-US" sz="2650" dirty="0"/>
          </a:p>
        </p:txBody>
      </p:sp>
      <p:sp>
        <p:nvSpPr>
          <p:cNvPr id="8" name="Text 6"/>
          <p:cNvSpPr/>
          <p:nvPr/>
        </p:nvSpPr>
        <p:spPr>
          <a:xfrm>
            <a:off x="8194000" y="3406140"/>
            <a:ext cx="5642610" cy="708660"/>
          </a:xfrm>
          <a:prstGeom prst="rect">
            <a:avLst/>
          </a:prstGeom>
          <a:noFill/>
          <a:ln/>
        </p:spPr>
        <p:txBody>
          <a:bodyPr wrap="square" lIns="0" tIns="0" rIns="0" bIns="0" rtlCol="0" anchor="t"/>
          <a:lstStyle/>
          <a:p>
            <a:pPr algn="l" indent="0" marL="0">
              <a:lnSpc>
                <a:spcPts val="2750"/>
              </a:lnSpc>
              <a:buNone/>
            </a:pPr>
            <a:r>
              <a:rPr lang="en-US" sz="2200" dirty="0">
                <a:solidFill>
                  <a:srgbClr val="2C2821"/>
                </a:solidFill>
                <a:latin typeface="Alice" pitchFamily="34" charset="0"/>
                <a:ea typeface="Alice" pitchFamily="34" charset="-122"/>
                <a:cs typeface="Alice" pitchFamily="34" charset="-120"/>
              </a:rPr>
              <a:t>Develop dynamic reward weighting enabling context-appropriate objective prioritization</a:t>
            </a:r>
            <a:endParaRPr lang="en-US" sz="2200" dirty="0"/>
          </a:p>
        </p:txBody>
      </p:sp>
      <p:sp>
        <p:nvSpPr>
          <p:cNvPr id="9" name="Shape 7"/>
          <p:cNvSpPr/>
          <p:nvPr/>
        </p:nvSpPr>
        <p:spPr>
          <a:xfrm>
            <a:off x="793790" y="4922758"/>
            <a:ext cx="510302" cy="510302"/>
          </a:xfrm>
          <a:prstGeom prst="roundRect">
            <a:avLst>
              <a:gd name="adj" fmla="val 6667"/>
            </a:avLst>
          </a:prstGeom>
          <a:solidFill>
            <a:srgbClr val="F0EDE6"/>
          </a:solidFill>
          <a:ln/>
        </p:spPr>
      </p:sp>
      <p:sp>
        <p:nvSpPr>
          <p:cNvPr id="10" name="Text 8"/>
          <p:cNvSpPr/>
          <p:nvPr/>
        </p:nvSpPr>
        <p:spPr>
          <a:xfrm>
            <a:off x="878860" y="4965263"/>
            <a:ext cx="340162" cy="425291"/>
          </a:xfrm>
          <a:prstGeom prst="rect">
            <a:avLst/>
          </a:prstGeom>
          <a:noFill/>
          <a:ln/>
        </p:spPr>
        <p:txBody>
          <a:bodyPr wrap="none" lIns="0" tIns="0" rIns="0" bIns="0" rtlCol="0" anchor="t"/>
          <a:lstStyle/>
          <a:p>
            <a:pPr algn="ctr" indent="0" marL="0">
              <a:lnSpc>
                <a:spcPts val="2650"/>
              </a:lnSpc>
              <a:buNone/>
            </a:pPr>
            <a:r>
              <a:rPr lang="en-US" sz="2650" dirty="0">
                <a:solidFill>
                  <a:srgbClr val="2C2821"/>
                </a:solidFill>
                <a:latin typeface="Alice" pitchFamily="34" charset="0"/>
                <a:ea typeface="Alice" pitchFamily="34" charset="-122"/>
                <a:cs typeface="Alice" pitchFamily="34" charset="-120"/>
              </a:rPr>
              <a:t>3</a:t>
            </a:r>
            <a:endParaRPr lang="en-US" sz="2650" dirty="0"/>
          </a:p>
        </p:txBody>
      </p:sp>
      <p:sp>
        <p:nvSpPr>
          <p:cNvPr id="11" name="Text 9"/>
          <p:cNvSpPr/>
          <p:nvPr/>
        </p:nvSpPr>
        <p:spPr>
          <a:xfrm>
            <a:off x="1530906" y="5000625"/>
            <a:ext cx="5642491" cy="1062990"/>
          </a:xfrm>
          <a:prstGeom prst="rect">
            <a:avLst/>
          </a:prstGeom>
          <a:noFill/>
          <a:ln/>
        </p:spPr>
        <p:txBody>
          <a:bodyPr wrap="square" lIns="0" tIns="0" rIns="0" bIns="0" rtlCol="0" anchor="t"/>
          <a:lstStyle/>
          <a:p>
            <a:pPr algn="l" indent="0" marL="0">
              <a:lnSpc>
                <a:spcPts val="2750"/>
              </a:lnSpc>
              <a:buNone/>
            </a:pPr>
            <a:r>
              <a:rPr lang="en-US" sz="2200" dirty="0">
                <a:solidFill>
                  <a:srgbClr val="2C2821"/>
                </a:solidFill>
                <a:latin typeface="Alice" pitchFamily="34" charset="0"/>
                <a:ea typeface="Alice" pitchFamily="34" charset="-122"/>
                <a:cs typeface="Alice" pitchFamily="34" charset="-120"/>
              </a:rPr>
              <a:t>Validate that supervised baselines exhibit systematic quality limitations addressable through multi-critic optimization</a:t>
            </a:r>
            <a:endParaRPr lang="en-US" sz="2200" dirty="0"/>
          </a:p>
        </p:txBody>
      </p:sp>
      <p:sp>
        <p:nvSpPr>
          <p:cNvPr id="12" name="Shape 10"/>
          <p:cNvSpPr/>
          <p:nvPr/>
        </p:nvSpPr>
        <p:spPr>
          <a:xfrm>
            <a:off x="7456884" y="4922758"/>
            <a:ext cx="510302" cy="510302"/>
          </a:xfrm>
          <a:prstGeom prst="roundRect">
            <a:avLst>
              <a:gd name="adj" fmla="val 6667"/>
            </a:avLst>
          </a:prstGeom>
          <a:solidFill>
            <a:srgbClr val="F0EDE6"/>
          </a:solidFill>
          <a:ln/>
        </p:spPr>
      </p:sp>
      <p:sp>
        <p:nvSpPr>
          <p:cNvPr id="13" name="Text 11"/>
          <p:cNvSpPr/>
          <p:nvPr/>
        </p:nvSpPr>
        <p:spPr>
          <a:xfrm>
            <a:off x="7541955" y="4965263"/>
            <a:ext cx="340162" cy="425291"/>
          </a:xfrm>
          <a:prstGeom prst="rect">
            <a:avLst/>
          </a:prstGeom>
          <a:noFill/>
          <a:ln/>
        </p:spPr>
        <p:txBody>
          <a:bodyPr wrap="none" lIns="0" tIns="0" rIns="0" bIns="0" rtlCol="0" anchor="t"/>
          <a:lstStyle/>
          <a:p>
            <a:pPr algn="ctr" indent="0" marL="0">
              <a:lnSpc>
                <a:spcPts val="2650"/>
              </a:lnSpc>
              <a:buNone/>
            </a:pPr>
            <a:r>
              <a:rPr lang="en-US" sz="2650" dirty="0">
                <a:solidFill>
                  <a:srgbClr val="2C2821"/>
                </a:solidFill>
                <a:latin typeface="Alice" pitchFamily="34" charset="0"/>
                <a:ea typeface="Alice" pitchFamily="34" charset="-122"/>
                <a:cs typeface="Alice" pitchFamily="34" charset="-120"/>
              </a:rPr>
              <a:t>4</a:t>
            </a:r>
            <a:endParaRPr lang="en-US" sz="2650" dirty="0"/>
          </a:p>
        </p:txBody>
      </p:sp>
      <p:sp>
        <p:nvSpPr>
          <p:cNvPr id="14" name="Text 12"/>
          <p:cNvSpPr/>
          <p:nvPr/>
        </p:nvSpPr>
        <p:spPr>
          <a:xfrm>
            <a:off x="8194000" y="5000625"/>
            <a:ext cx="5642610" cy="1062990"/>
          </a:xfrm>
          <a:prstGeom prst="rect">
            <a:avLst/>
          </a:prstGeom>
          <a:noFill/>
          <a:ln/>
        </p:spPr>
        <p:txBody>
          <a:bodyPr wrap="square" lIns="0" tIns="0" rIns="0" bIns="0" rtlCol="0" anchor="t"/>
          <a:lstStyle/>
          <a:p>
            <a:pPr algn="l" indent="0" marL="0">
              <a:lnSpc>
                <a:spcPts val="2750"/>
              </a:lnSpc>
              <a:buNone/>
            </a:pPr>
            <a:r>
              <a:rPr lang="en-US" sz="2200" dirty="0">
                <a:solidFill>
                  <a:srgbClr val="2C2821"/>
                </a:solidFill>
                <a:latin typeface="Alice" pitchFamily="34" charset="0"/>
                <a:ea typeface="Alice" pitchFamily="34" charset="-122"/>
                <a:cs typeface="Alice" pitchFamily="34" charset="-120"/>
              </a:rPr>
              <a:t>Establish generalizable framework for principled multi-constraint generation beyond interactive storytelling</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675918"/>
            <a:ext cx="7065169" cy="708779"/>
          </a:xfrm>
          <a:prstGeom prst="rect">
            <a:avLst/>
          </a:prstGeom>
          <a:noFill/>
          <a:ln/>
        </p:spPr>
        <p:txBody>
          <a:bodyPr wrap="none" lIns="0" tIns="0" rIns="0" bIns="0" rtlCol="0" anchor="t"/>
          <a:lstStyle/>
          <a:p>
            <a:pPr algn="l" indent="0" marL="0">
              <a:lnSpc>
                <a:spcPts val="5550"/>
              </a:lnSpc>
              <a:buNone/>
            </a:pPr>
            <a:r>
              <a:rPr lang="en-US" sz="4450" dirty="0">
                <a:solidFill>
                  <a:srgbClr val="233E32"/>
                </a:solidFill>
                <a:latin typeface="Alice" pitchFamily="34" charset="0"/>
                <a:ea typeface="Alice" pitchFamily="34" charset="-122"/>
                <a:cs typeface="Alice" pitchFamily="34" charset="-120"/>
              </a:rPr>
              <a:t>The Director LLM Approach</a:t>
            </a:r>
            <a:endParaRPr lang="en-US" sz="4450" dirty="0"/>
          </a:p>
        </p:txBody>
      </p:sp>
      <p:sp>
        <p:nvSpPr>
          <p:cNvPr id="4" name="Text 1"/>
          <p:cNvSpPr/>
          <p:nvPr/>
        </p:nvSpPr>
        <p:spPr>
          <a:xfrm>
            <a:off x="793790" y="1724858"/>
            <a:ext cx="7556421" cy="1451610"/>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Multi-Critic Reinforcement Learning with dynamic reward weighting for context-aware multi-objective optimization. Specialized neural critics evaluate distinct quality dimensions, combining signals via intent-conditioned weights.</a:t>
            </a:r>
            <a:endParaRPr lang="en-US" sz="1750" dirty="0"/>
          </a:p>
        </p:txBody>
      </p:sp>
      <p:sp>
        <p:nvSpPr>
          <p:cNvPr id="5" name="Text 2"/>
          <p:cNvSpPr/>
          <p:nvPr/>
        </p:nvSpPr>
        <p:spPr>
          <a:xfrm>
            <a:off x="793790" y="3431619"/>
            <a:ext cx="7556421" cy="362903"/>
          </a:xfrm>
          <a:prstGeom prst="rect">
            <a:avLst/>
          </a:prstGeom>
          <a:noFill/>
          <a:ln/>
        </p:spPr>
        <p:txBody>
          <a:bodyPr wrap="none" lIns="0" tIns="0" rIns="0" bIns="0" rtlCol="0" anchor="t"/>
          <a:lstStyle/>
          <a:p>
            <a:pPr algn="l" indent="0" marL="0">
              <a:lnSpc>
                <a:spcPts val="2850"/>
              </a:lnSpc>
              <a:buNone/>
            </a:pPr>
            <a:r>
              <a:rPr lang="en-US" sz="1750" b="1" dirty="0">
                <a:solidFill>
                  <a:srgbClr val="2C2821"/>
                </a:solidFill>
                <a:latin typeface="Lora" pitchFamily="34" charset="0"/>
                <a:ea typeface="Lora" pitchFamily="34" charset="-122"/>
                <a:cs typeface="Lora" pitchFamily="34" charset="-120"/>
              </a:rPr>
              <a:t>Dynamic Weighting Strategy:</a:t>
            </a:r>
            <a:endParaRPr lang="en-US" sz="1750" dirty="0"/>
          </a:p>
        </p:txBody>
      </p:sp>
      <p:sp>
        <p:nvSpPr>
          <p:cNvPr id="6" name="Text 3"/>
          <p:cNvSpPr/>
          <p:nvPr/>
        </p:nvSpPr>
        <p:spPr>
          <a:xfrm>
            <a:off x="793790" y="4049673"/>
            <a:ext cx="7556421" cy="725805"/>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2C2821"/>
                </a:solidFill>
                <a:latin typeface="Lora" pitchFamily="34" charset="0"/>
                <a:ea typeface="Lora" pitchFamily="34" charset="-122"/>
                <a:cs typeface="Lora" pitchFamily="34" charset="-120"/>
              </a:rPr>
              <a:t>EXPLORE scenarios:</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Narrative 0.40, Causal 0.20, World 0.30, Character 0.10 (prioritize atmosphere)</a:t>
            </a:r>
            <a:endParaRPr lang="en-US" sz="1750" dirty="0"/>
          </a:p>
        </p:txBody>
      </p:sp>
      <p:sp>
        <p:nvSpPr>
          <p:cNvPr id="7" name="Text 4"/>
          <p:cNvSpPr/>
          <p:nvPr/>
        </p:nvSpPr>
        <p:spPr>
          <a:xfrm>
            <a:off x="793790" y="4854773"/>
            <a:ext cx="7556421" cy="725805"/>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2C2821"/>
                </a:solidFill>
                <a:latin typeface="Lora" pitchFamily="34" charset="0"/>
                <a:ea typeface="Lora" pitchFamily="34" charset="-122"/>
                <a:cs typeface="Lora" pitchFamily="34" charset="-120"/>
              </a:rPr>
              <a:t>ACTION scenarios:</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Narrative 0.20, Causal 0.40, World 0.30, Character 0.10 (prioritize consequences)</a:t>
            </a:r>
            <a:endParaRPr lang="en-US" sz="1750" dirty="0"/>
          </a:p>
        </p:txBody>
      </p:sp>
      <p:sp>
        <p:nvSpPr>
          <p:cNvPr id="8" name="Text 5"/>
          <p:cNvSpPr/>
          <p:nvPr/>
        </p:nvSpPr>
        <p:spPr>
          <a:xfrm>
            <a:off x="793790" y="5659874"/>
            <a:ext cx="7556421" cy="725805"/>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2C2821"/>
                </a:solidFill>
                <a:latin typeface="Lora" pitchFamily="34" charset="0"/>
                <a:ea typeface="Lora" pitchFamily="34" charset="-122"/>
                <a:cs typeface="Lora" pitchFamily="34" charset="-120"/>
              </a:rPr>
              <a:t>DIALOGUE scenarios:</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Narrative 0.20, Causal 0.20, World 0.20, Character 0.40 (prioritize character consistency)</a:t>
            </a:r>
            <a:endParaRPr lang="en-US" sz="1750" dirty="0"/>
          </a:p>
        </p:txBody>
      </p:sp>
      <p:sp>
        <p:nvSpPr>
          <p:cNvPr id="9" name="Text 6"/>
          <p:cNvSpPr/>
          <p:nvPr/>
        </p:nvSpPr>
        <p:spPr>
          <a:xfrm>
            <a:off x="793790" y="6464975"/>
            <a:ext cx="7556421" cy="108870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2C2821"/>
                </a:solidFill>
                <a:latin typeface="Lora" pitchFamily="34" charset="0"/>
                <a:ea typeface="Lora" pitchFamily="34" charset="-122"/>
                <a:cs typeface="Lora" pitchFamily="34" charset="-120"/>
              </a:rPr>
              <a:t>Training via Proximal Policy Optimization with hybrid player system generating realistic prompts and classifying intent for weight selection.</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695563"/>
            <a:ext cx="7556421" cy="1417558"/>
          </a:xfrm>
          <a:prstGeom prst="rect">
            <a:avLst/>
          </a:prstGeom>
          <a:noFill/>
          <a:ln/>
        </p:spPr>
        <p:txBody>
          <a:bodyPr wrap="square" lIns="0" tIns="0" rIns="0" bIns="0" rtlCol="0" anchor="t"/>
          <a:lstStyle/>
          <a:p>
            <a:pPr algn="l" indent="0" marL="0">
              <a:lnSpc>
                <a:spcPts val="5550"/>
              </a:lnSpc>
              <a:buNone/>
            </a:pPr>
            <a:r>
              <a:rPr lang="en-US" sz="4450" dirty="0">
                <a:solidFill>
                  <a:srgbClr val="233E32"/>
                </a:solidFill>
                <a:latin typeface="Alice" pitchFamily="34" charset="0"/>
                <a:ea typeface="Alice" pitchFamily="34" charset="-122"/>
                <a:cs typeface="Alice" pitchFamily="34" charset="-120"/>
              </a:rPr>
              <a:t>Related Work: Multi-Objective RL</a:t>
            </a:r>
            <a:endParaRPr lang="en-US" sz="4450" dirty="0"/>
          </a:p>
        </p:txBody>
      </p:sp>
      <p:sp>
        <p:nvSpPr>
          <p:cNvPr id="4" name="Text 1"/>
          <p:cNvSpPr/>
          <p:nvPr/>
        </p:nvSpPr>
        <p:spPr>
          <a:xfrm>
            <a:off x="6280190" y="2453283"/>
            <a:ext cx="7556421" cy="5080635"/>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Reinforcement Learning from Human Feedback (RLHF) aligns models with preferences through reward models and PPO optimization. Recent advances introduce Reinforcement Learning from AI Feedback (RLAIF), where models generate preference labels, reducing annotation bottlenecks. Key Innovation: Existing multi-objective approaches employ static reward weighting—objective importance remains fixed across contexts. Our framework introduces dynamic weighting that adapts critic importance based on classified interaction context, enabling learning when each objective matters most. Williams et al. demonstrate multi-objective RL from AI feedback trains separate reward models for helpfulness, harmlessness, and honesty, achieving better Pareto frontiers than monolithic baselines. Li et al. extend this with multi-objective GRPO treating alignment dimensions as distinct optimization targets with explicit trade-off control.</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323618"/>
            <a:ext cx="6563916" cy="708779"/>
          </a:xfrm>
          <a:prstGeom prst="rect">
            <a:avLst/>
          </a:prstGeom>
          <a:noFill/>
          <a:ln/>
        </p:spPr>
        <p:txBody>
          <a:bodyPr wrap="none" lIns="0" tIns="0" rIns="0" bIns="0" rtlCol="0" anchor="t"/>
          <a:lstStyle/>
          <a:p>
            <a:pPr algn="l" indent="0" marL="0">
              <a:lnSpc>
                <a:spcPts val="5550"/>
              </a:lnSpc>
              <a:buNone/>
            </a:pPr>
            <a:r>
              <a:rPr lang="en-US" sz="4450" dirty="0">
                <a:solidFill>
                  <a:srgbClr val="233E32"/>
                </a:solidFill>
                <a:latin typeface="Alice" pitchFamily="34" charset="0"/>
                <a:ea typeface="Alice" pitchFamily="34" charset="-122"/>
                <a:cs typeface="Alice" pitchFamily="34" charset="-120"/>
              </a:rPr>
              <a:t>Datasets: Training Corpus</a:t>
            </a:r>
            <a:endParaRPr lang="en-US" sz="4450" dirty="0"/>
          </a:p>
        </p:txBody>
      </p:sp>
      <p:sp>
        <p:nvSpPr>
          <p:cNvPr id="3" name="Text 1"/>
          <p:cNvSpPr/>
          <p:nvPr/>
        </p:nvSpPr>
        <p:spPr>
          <a:xfrm>
            <a:off x="793790" y="2599373"/>
            <a:ext cx="3133011" cy="354330"/>
          </a:xfrm>
          <a:prstGeom prst="rect">
            <a:avLst/>
          </a:prstGeom>
          <a:noFill/>
          <a:ln/>
        </p:spPr>
        <p:txBody>
          <a:bodyPr wrap="none" lIns="0" tIns="0" rIns="0" bIns="0" rtlCol="0" anchor="t"/>
          <a:lstStyle/>
          <a:p>
            <a:pPr algn="l" indent="0" marL="0">
              <a:lnSpc>
                <a:spcPts val="2750"/>
              </a:lnSpc>
              <a:buNone/>
            </a:pPr>
            <a:r>
              <a:rPr lang="en-US" sz="2200" dirty="0">
                <a:solidFill>
                  <a:srgbClr val="233E32"/>
                </a:solidFill>
                <a:latin typeface="Alice" pitchFamily="34" charset="0"/>
                <a:ea typeface="Alice" pitchFamily="34" charset="-122"/>
                <a:cs typeface="Alice" pitchFamily="34" charset="-120"/>
              </a:rPr>
              <a:t>CRD3: Critical Role D&amp;D</a:t>
            </a:r>
            <a:endParaRPr lang="en-US" sz="2200" dirty="0"/>
          </a:p>
        </p:txBody>
      </p:sp>
      <p:sp>
        <p:nvSpPr>
          <p:cNvPr id="4" name="Text 2"/>
          <p:cNvSpPr/>
          <p:nvPr/>
        </p:nvSpPr>
        <p:spPr>
          <a:xfrm>
            <a:off x="793790" y="3180517"/>
            <a:ext cx="3978116" cy="2540318"/>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159 episodes of unscripted D&amp;D gameplay from professional voice actors. 200,950 DM utterances providing authentic narrative patterns and extended multi-turn interactions demonstrating world state maintenance.</a:t>
            </a:r>
            <a:endParaRPr lang="en-US" sz="1750" dirty="0"/>
          </a:p>
        </p:txBody>
      </p:sp>
      <p:sp>
        <p:nvSpPr>
          <p:cNvPr id="5" name="Text 3"/>
          <p:cNvSpPr/>
          <p:nvPr/>
        </p:nvSpPr>
        <p:spPr>
          <a:xfrm>
            <a:off x="5332928" y="2599373"/>
            <a:ext cx="3397091" cy="354330"/>
          </a:xfrm>
          <a:prstGeom prst="rect">
            <a:avLst/>
          </a:prstGeom>
          <a:noFill/>
          <a:ln/>
        </p:spPr>
        <p:txBody>
          <a:bodyPr wrap="none" lIns="0" tIns="0" rIns="0" bIns="0" rtlCol="0" anchor="t"/>
          <a:lstStyle/>
          <a:p>
            <a:pPr algn="l" indent="0" marL="0">
              <a:lnSpc>
                <a:spcPts val="2750"/>
              </a:lnSpc>
              <a:buNone/>
            </a:pPr>
            <a:r>
              <a:rPr lang="en-US" sz="2200" dirty="0">
                <a:solidFill>
                  <a:srgbClr val="233E32"/>
                </a:solidFill>
                <a:latin typeface="Alice" pitchFamily="34" charset="0"/>
                <a:ea typeface="Alice" pitchFamily="34" charset="-122"/>
                <a:cs typeface="Alice" pitchFamily="34" charset="-120"/>
              </a:rPr>
              <a:t>LIGHT: Interactive Fantasy</a:t>
            </a:r>
            <a:endParaRPr lang="en-US" sz="2200" dirty="0"/>
          </a:p>
        </p:txBody>
      </p:sp>
      <p:sp>
        <p:nvSpPr>
          <p:cNvPr id="6" name="Text 4"/>
          <p:cNvSpPr/>
          <p:nvPr/>
        </p:nvSpPr>
        <p:spPr>
          <a:xfrm>
            <a:off x="5332928" y="3180517"/>
            <a:ext cx="3978116" cy="2540318"/>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Crowdsourced fantasy text adventure gameplay with explicit environmental and character grounding. 108,800 responses with action categorizations enabling intent classification (EXPLORE, ACTION, DIALOGUE).</a:t>
            </a:r>
            <a:endParaRPr lang="en-US" sz="1750" dirty="0"/>
          </a:p>
        </p:txBody>
      </p:sp>
      <p:sp>
        <p:nvSpPr>
          <p:cNvPr id="7" name="Text 5"/>
          <p:cNvSpPr/>
          <p:nvPr/>
        </p:nvSpPr>
        <p:spPr>
          <a:xfrm>
            <a:off x="9872067" y="2599373"/>
            <a:ext cx="3978116" cy="708660"/>
          </a:xfrm>
          <a:prstGeom prst="rect">
            <a:avLst/>
          </a:prstGeom>
          <a:noFill/>
          <a:ln/>
        </p:spPr>
        <p:txBody>
          <a:bodyPr wrap="square" lIns="0" tIns="0" rIns="0" bIns="0" rtlCol="0" anchor="t"/>
          <a:lstStyle/>
          <a:p>
            <a:pPr algn="l" indent="0" marL="0">
              <a:lnSpc>
                <a:spcPts val="2750"/>
              </a:lnSpc>
              <a:buNone/>
            </a:pPr>
            <a:r>
              <a:rPr lang="en-US" sz="2200" dirty="0">
                <a:solidFill>
                  <a:srgbClr val="233E32"/>
                </a:solidFill>
                <a:latin typeface="Alice" pitchFamily="34" charset="0"/>
                <a:ea typeface="Alice" pitchFamily="34" charset="-122"/>
                <a:cs typeface="Alice" pitchFamily="34" charset="-120"/>
              </a:rPr>
              <a:t>ROCStories: Narrative Coherence</a:t>
            </a:r>
            <a:endParaRPr lang="en-US" sz="2200" dirty="0"/>
          </a:p>
        </p:txBody>
      </p:sp>
      <p:sp>
        <p:nvSpPr>
          <p:cNvPr id="8" name="Text 6"/>
          <p:cNvSpPr/>
          <p:nvPr/>
        </p:nvSpPr>
        <p:spPr>
          <a:xfrm>
            <a:off x="9872067" y="3534847"/>
            <a:ext cx="3978116" cy="2177415"/>
          </a:xfrm>
          <a:prstGeom prst="rect">
            <a:avLst/>
          </a:prstGeom>
          <a:noFill/>
          <a:ln/>
        </p:spPr>
        <p:txBody>
          <a:bodyPr wrap="square" lIns="0" tIns="0" rIns="0" bIns="0" rtlCol="0" anchor="t"/>
          <a:lstStyle/>
          <a:p>
            <a:pPr algn="l" indent="0" marL="0">
              <a:lnSpc>
                <a:spcPts val="2850"/>
              </a:lnSpc>
              <a:buNone/>
            </a:pPr>
            <a:r>
              <a:rPr lang="en-US" sz="1750" dirty="0">
                <a:solidFill>
                  <a:srgbClr val="2C2821"/>
                </a:solidFill>
                <a:latin typeface="Lora" pitchFamily="34" charset="0"/>
                <a:ea typeface="Lora" pitchFamily="34" charset="-122"/>
                <a:cs typeface="Lora" pitchFamily="34" charset="-120"/>
              </a:rPr>
              <a:t>Five-sentence narratives about everyday events. 40,906 examples establishing general coherence patterns (temporal consistency, causal flow) transferable to fantasy narrative evaluation.</a:t>
            </a:r>
            <a:endParaRPr lang="en-US" sz="1750" dirty="0"/>
          </a:p>
        </p:txBody>
      </p:sp>
      <p:sp>
        <p:nvSpPr>
          <p:cNvPr id="9" name="Text 7"/>
          <p:cNvSpPr/>
          <p:nvPr/>
        </p:nvSpPr>
        <p:spPr>
          <a:xfrm>
            <a:off x="793790" y="6180058"/>
            <a:ext cx="13042821" cy="725805"/>
          </a:xfrm>
          <a:prstGeom prst="rect">
            <a:avLst/>
          </a:prstGeom>
          <a:noFill/>
          <a:ln/>
        </p:spPr>
        <p:txBody>
          <a:bodyPr wrap="square" lIns="0" tIns="0" rIns="0" bIns="0" rtlCol="0" anchor="t"/>
          <a:lstStyle/>
          <a:p>
            <a:pPr algn="l" indent="0" marL="0">
              <a:lnSpc>
                <a:spcPts val="2850"/>
              </a:lnSpc>
              <a:buNone/>
            </a:pPr>
            <a:r>
              <a:rPr lang="en-US" sz="1750" b="1" dirty="0">
                <a:solidFill>
                  <a:srgbClr val="2C2821"/>
                </a:solidFill>
                <a:latin typeface="Lora" pitchFamily="34" charset="0"/>
                <a:ea typeface="Lora" pitchFamily="34" charset="-122"/>
                <a:cs typeface="Lora" pitchFamily="34" charset="-120"/>
              </a:rPr>
              <a:t>Combined Training Corpus:</a:t>
            </a:r>
            <a:pPr algn="l" indent="0" marL="0">
              <a:lnSpc>
                <a:spcPts val="2850"/>
              </a:lnSpc>
              <a:buNone/>
            </a:pPr>
            <a:r>
              <a:rPr lang="en-US" sz="1750" dirty="0">
                <a:solidFill>
                  <a:srgbClr val="2C2821"/>
                </a:solidFill>
                <a:latin typeface="Lora" pitchFamily="34" charset="0"/>
                <a:ea typeface="Lora" pitchFamily="34" charset="-122"/>
                <a:cs typeface="Lora" pitchFamily="34" charset="-120"/>
              </a:rPr>
              <a:t> 309,750 total examples (64.9% CRD3, 35.1% LIGHT). Split: 263,287 training, 30,975 validation, 15,488 test.</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48784" y="929997"/>
            <a:ext cx="7646432" cy="1337072"/>
          </a:xfrm>
          <a:prstGeom prst="rect">
            <a:avLst/>
          </a:prstGeom>
          <a:noFill/>
          <a:ln/>
        </p:spPr>
        <p:txBody>
          <a:bodyPr wrap="square" lIns="0" tIns="0" rIns="0" bIns="0" rtlCol="0" anchor="t"/>
          <a:lstStyle/>
          <a:p>
            <a:pPr algn="l" indent="0" marL="0">
              <a:lnSpc>
                <a:spcPts val="5250"/>
              </a:lnSpc>
              <a:buNone/>
            </a:pPr>
            <a:r>
              <a:rPr lang="en-US" sz="4200" dirty="0">
                <a:solidFill>
                  <a:srgbClr val="233E32"/>
                </a:solidFill>
                <a:latin typeface="Alice" pitchFamily="34" charset="0"/>
                <a:ea typeface="Alice" pitchFamily="34" charset="-122"/>
                <a:cs typeface="Alice" pitchFamily="34" charset="-120"/>
              </a:rPr>
              <a:t>Framework Architecture: Three Layers</a:t>
            </a:r>
            <a:endParaRPr lang="en-US" sz="4200" dirty="0"/>
          </a:p>
        </p:txBody>
      </p:sp>
      <p:sp>
        <p:nvSpPr>
          <p:cNvPr id="4" name="Text 1"/>
          <p:cNvSpPr/>
          <p:nvPr/>
        </p:nvSpPr>
        <p:spPr>
          <a:xfrm>
            <a:off x="748784" y="2587943"/>
            <a:ext cx="7646432" cy="684609"/>
          </a:xfrm>
          <a:prstGeom prst="rect">
            <a:avLst/>
          </a:prstGeom>
          <a:noFill/>
          <a:ln/>
        </p:spPr>
        <p:txBody>
          <a:bodyPr wrap="square" lIns="0" tIns="0" rIns="0" bIns="0" rtlCol="0" anchor="t"/>
          <a:lstStyle/>
          <a:p>
            <a:pPr algn="l" indent="0" marL="0">
              <a:lnSpc>
                <a:spcPts val="2650"/>
              </a:lnSpc>
              <a:buNone/>
            </a:pPr>
            <a:r>
              <a:rPr lang="en-US" sz="1650" b="1" dirty="0">
                <a:solidFill>
                  <a:srgbClr val="2C2821"/>
                </a:solidFill>
                <a:latin typeface="Lora" pitchFamily="34" charset="0"/>
                <a:ea typeface="Lora" pitchFamily="34" charset="-122"/>
                <a:cs typeface="Lora" pitchFamily="34" charset="-120"/>
              </a:rPr>
              <a:t>Generation Layer:</a:t>
            </a:r>
            <a:pPr algn="l" indent="0" marL="0">
              <a:lnSpc>
                <a:spcPts val="2650"/>
              </a:lnSpc>
              <a:buNone/>
            </a:pPr>
            <a:r>
              <a:rPr lang="en-US" sz="1650" dirty="0">
                <a:solidFill>
                  <a:srgbClr val="2C2821"/>
                </a:solidFill>
                <a:latin typeface="Lora" pitchFamily="34" charset="0"/>
                <a:ea typeface="Lora" pitchFamily="34" charset="-122"/>
                <a:cs typeface="Lora" pitchFamily="34" charset="-120"/>
              </a:rPr>
              <a:t> The Director Agent (policy model) produces DM responses conditioned on player prompts and conversation history.</a:t>
            </a:r>
            <a:endParaRPr lang="en-US" sz="1650" dirty="0"/>
          </a:p>
        </p:txBody>
      </p:sp>
      <p:sp>
        <p:nvSpPr>
          <p:cNvPr id="5" name="Text 2"/>
          <p:cNvSpPr/>
          <p:nvPr/>
        </p:nvSpPr>
        <p:spPr>
          <a:xfrm>
            <a:off x="748784" y="3513177"/>
            <a:ext cx="7646432" cy="342305"/>
          </a:xfrm>
          <a:prstGeom prst="rect">
            <a:avLst/>
          </a:prstGeom>
          <a:noFill/>
          <a:ln/>
        </p:spPr>
        <p:txBody>
          <a:bodyPr wrap="none" lIns="0" tIns="0" rIns="0" bIns="0" rtlCol="0" anchor="t"/>
          <a:lstStyle/>
          <a:p>
            <a:pPr algn="l" indent="0" marL="0">
              <a:lnSpc>
                <a:spcPts val="2650"/>
              </a:lnSpc>
              <a:buNone/>
            </a:pPr>
            <a:r>
              <a:rPr lang="en-US" sz="1650" b="1" dirty="0">
                <a:solidFill>
                  <a:srgbClr val="2C2821"/>
                </a:solidFill>
                <a:latin typeface="Lora" pitchFamily="34" charset="0"/>
                <a:ea typeface="Lora" pitchFamily="34" charset="-122"/>
                <a:cs typeface="Lora" pitchFamily="34" charset="-120"/>
              </a:rPr>
              <a:t>Evaluation Layer:</a:t>
            </a:r>
            <a:pPr algn="l" indent="0" marL="0">
              <a:lnSpc>
                <a:spcPts val="2650"/>
              </a:lnSpc>
              <a:buNone/>
            </a:pPr>
            <a:r>
              <a:rPr lang="en-US" sz="1650" dirty="0">
                <a:solidFill>
                  <a:srgbClr val="2C2821"/>
                </a:solidFill>
                <a:latin typeface="Lora" pitchFamily="34" charset="0"/>
                <a:ea typeface="Lora" pitchFamily="34" charset="-122"/>
                <a:cs typeface="Lora" pitchFamily="34" charset="-120"/>
              </a:rPr>
              <a:t> Four specialized critics assess distinct quality dimensions:</a:t>
            </a:r>
            <a:endParaRPr lang="en-US" sz="1650" dirty="0"/>
          </a:p>
        </p:txBody>
      </p:sp>
      <p:sp>
        <p:nvSpPr>
          <p:cNvPr id="6" name="Text 3"/>
          <p:cNvSpPr/>
          <p:nvPr/>
        </p:nvSpPr>
        <p:spPr>
          <a:xfrm>
            <a:off x="748784" y="4096107"/>
            <a:ext cx="7646432" cy="342305"/>
          </a:xfrm>
          <a:prstGeom prst="rect">
            <a:avLst/>
          </a:prstGeom>
          <a:noFill/>
          <a:ln/>
        </p:spPr>
        <p:txBody>
          <a:bodyPr wrap="none" lIns="0" tIns="0" rIns="0" bIns="0" rtlCol="0" anchor="t"/>
          <a:lstStyle/>
          <a:p>
            <a:pPr algn="l" marL="342900" indent="-342900">
              <a:lnSpc>
                <a:spcPts val="2650"/>
              </a:lnSpc>
              <a:buSzPct val="100000"/>
              <a:buChar char="•"/>
            </a:pPr>
            <a:r>
              <a:rPr lang="en-US" sz="1650" dirty="0">
                <a:solidFill>
                  <a:srgbClr val="2C2821"/>
                </a:solidFill>
                <a:latin typeface="Lora" pitchFamily="34" charset="0"/>
                <a:ea typeface="Lora" pitchFamily="34" charset="-122"/>
                <a:cs typeface="Lora" pitchFamily="34" charset="-120"/>
              </a:rPr>
              <a:t>Narrative Critic: Evaluates descriptive richness and coherence</a:t>
            </a:r>
            <a:endParaRPr lang="en-US" sz="1650" dirty="0"/>
          </a:p>
        </p:txBody>
      </p:sp>
      <p:sp>
        <p:nvSpPr>
          <p:cNvPr id="7" name="Text 4"/>
          <p:cNvSpPr/>
          <p:nvPr/>
        </p:nvSpPr>
        <p:spPr>
          <a:xfrm>
            <a:off x="748784" y="4513183"/>
            <a:ext cx="7646432" cy="684609"/>
          </a:xfrm>
          <a:prstGeom prst="rect">
            <a:avLst/>
          </a:prstGeom>
          <a:noFill/>
          <a:ln/>
        </p:spPr>
        <p:txBody>
          <a:bodyPr wrap="square" lIns="0" tIns="0" rIns="0" bIns="0" rtlCol="0" anchor="t"/>
          <a:lstStyle/>
          <a:p>
            <a:pPr algn="l" marL="342900" indent="-342900">
              <a:lnSpc>
                <a:spcPts val="2650"/>
              </a:lnSpc>
              <a:buSzPct val="100000"/>
              <a:buChar char="•"/>
            </a:pPr>
            <a:r>
              <a:rPr lang="en-US" sz="1650" dirty="0">
                <a:solidFill>
                  <a:srgbClr val="2C2821"/>
                </a:solidFill>
                <a:latin typeface="Lora" pitchFamily="34" charset="0"/>
                <a:ea typeface="Lora" pitchFamily="34" charset="-122"/>
                <a:cs typeface="Lora" pitchFamily="34" charset="-120"/>
              </a:rPr>
              <a:t>Causal Critic: Verifies logical consistency and action-outcome relationships</a:t>
            </a:r>
            <a:endParaRPr lang="en-US" sz="1650" dirty="0"/>
          </a:p>
        </p:txBody>
      </p:sp>
      <p:sp>
        <p:nvSpPr>
          <p:cNvPr id="8" name="Text 5"/>
          <p:cNvSpPr/>
          <p:nvPr/>
        </p:nvSpPr>
        <p:spPr>
          <a:xfrm>
            <a:off x="748784" y="5272564"/>
            <a:ext cx="7646432" cy="342305"/>
          </a:xfrm>
          <a:prstGeom prst="rect">
            <a:avLst/>
          </a:prstGeom>
          <a:noFill/>
          <a:ln/>
        </p:spPr>
        <p:txBody>
          <a:bodyPr wrap="none" lIns="0" tIns="0" rIns="0" bIns="0" rtlCol="0" anchor="t"/>
          <a:lstStyle/>
          <a:p>
            <a:pPr algn="l" marL="342900" indent="-342900">
              <a:lnSpc>
                <a:spcPts val="2650"/>
              </a:lnSpc>
              <a:buSzPct val="100000"/>
              <a:buChar char="•"/>
            </a:pPr>
            <a:r>
              <a:rPr lang="en-US" sz="1650" dirty="0">
                <a:solidFill>
                  <a:srgbClr val="2C2821"/>
                </a:solidFill>
                <a:latin typeface="Lora" pitchFamily="34" charset="0"/>
                <a:ea typeface="Lora" pitchFamily="34" charset="-122"/>
                <a:cs typeface="Lora" pitchFamily="34" charset="-120"/>
              </a:rPr>
              <a:t>World Consistency Critic: Tracks state coherence across interactions</a:t>
            </a:r>
            <a:endParaRPr lang="en-US" sz="1650" dirty="0"/>
          </a:p>
        </p:txBody>
      </p:sp>
      <p:sp>
        <p:nvSpPr>
          <p:cNvPr id="9" name="Text 6"/>
          <p:cNvSpPr/>
          <p:nvPr/>
        </p:nvSpPr>
        <p:spPr>
          <a:xfrm>
            <a:off x="748784" y="5689640"/>
            <a:ext cx="7646432" cy="342305"/>
          </a:xfrm>
          <a:prstGeom prst="rect">
            <a:avLst/>
          </a:prstGeom>
          <a:noFill/>
          <a:ln/>
        </p:spPr>
        <p:txBody>
          <a:bodyPr wrap="none" lIns="0" tIns="0" rIns="0" bIns="0" rtlCol="0" anchor="t"/>
          <a:lstStyle/>
          <a:p>
            <a:pPr algn="l" marL="342900" indent="-342900">
              <a:lnSpc>
                <a:spcPts val="2650"/>
              </a:lnSpc>
              <a:buSzPct val="100000"/>
              <a:buChar char="•"/>
            </a:pPr>
            <a:r>
              <a:rPr lang="en-US" sz="1650" dirty="0">
                <a:solidFill>
                  <a:srgbClr val="2C2821"/>
                </a:solidFill>
                <a:latin typeface="Lora" pitchFamily="34" charset="0"/>
                <a:ea typeface="Lora" pitchFamily="34" charset="-122"/>
                <a:cs typeface="Lora" pitchFamily="34" charset="-120"/>
              </a:rPr>
              <a:t>Character Voice Critic: Ensures NPC personality consistency</a:t>
            </a:r>
            <a:endParaRPr lang="en-US" sz="1650" dirty="0"/>
          </a:p>
        </p:txBody>
      </p:sp>
      <p:sp>
        <p:nvSpPr>
          <p:cNvPr id="10" name="Text 7"/>
          <p:cNvSpPr/>
          <p:nvPr/>
        </p:nvSpPr>
        <p:spPr>
          <a:xfrm>
            <a:off x="748784" y="6272570"/>
            <a:ext cx="7646432" cy="1026914"/>
          </a:xfrm>
          <a:prstGeom prst="rect">
            <a:avLst/>
          </a:prstGeom>
          <a:noFill/>
          <a:ln/>
        </p:spPr>
        <p:txBody>
          <a:bodyPr wrap="square" lIns="0" tIns="0" rIns="0" bIns="0" rtlCol="0" anchor="t"/>
          <a:lstStyle/>
          <a:p>
            <a:pPr algn="l" indent="0" marL="0">
              <a:lnSpc>
                <a:spcPts val="2650"/>
              </a:lnSpc>
              <a:buNone/>
            </a:pPr>
            <a:r>
              <a:rPr lang="en-US" sz="1650" b="1" dirty="0">
                <a:solidFill>
                  <a:srgbClr val="2C2821"/>
                </a:solidFill>
                <a:latin typeface="Lora" pitchFamily="34" charset="0"/>
                <a:ea typeface="Lora" pitchFamily="34" charset="-122"/>
                <a:cs typeface="Lora" pitchFamily="34" charset="-120"/>
              </a:rPr>
              <a:t>Optimization Layer:</a:t>
            </a:r>
            <a:pPr algn="l" indent="0" marL="0">
              <a:lnSpc>
                <a:spcPts val="2650"/>
              </a:lnSpc>
              <a:buNone/>
            </a:pPr>
            <a:r>
              <a:rPr lang="en-US" sz="1650" dirty="0">
                <a:solidFill>
                  <a:srgbClr val="2C2821"/>
                </a:solidFill>
                <a:latin typeface="Lora" pitchFamily="34" charset="0"/>
                <a:ea typeface="Lora" pitchFamily="34" charset="-122"/>
                <a:cs typeface="Lora" pitchFamily="34" charset="-120"/>
              </a:rPr>
              <a:t> MCRL training system combines critic signals through dynamic weighting based on player intent classification, enabling context-appropriate multi-objective balance.</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439472"/>
          </a:xfrm>
          <a:prstGeom prst="rect">
            <a:avLst/>
          </a:prstGeom>
        </p:spPr>
      </p:pic>
      <p:sp>
        <p:nvSpPr>
          <p:cNvPr id="3" name="Text 0"/>
          <p:cNvSpPr/>
          <p:nvPr/>
        </p:nvSpPr>
        <p:spPr>
          <a:xfrm>
            <a:off x="683062" y="2977277"/>
            <a:ext cx="9875996" cy="609838"/>
          </a:xfrm>
          <a:prstGeom prst="rect">
            <a:avLst/>
          </a:prstGeom>
          <a:noFill/>
          <a:ln/>
        </p:spPr>
        <p:txBody>
          <a:bodyPr wrap="none" lIns="0" tIns="0" rIns="0" bIns="0" rtlCol="0" anchor="t"/>
          <a:lstStyle/>
          <a:p>
            <a:pPr algn="l" indent="0" marL="0">
              <a:lnSpc>
                <a:spcPts val="4800"/>
              </a:lnSpc>
              <a:buNone/>
            </a:pPr>
            <a:r>
              <a:rPr lang="en-US" sz="3800" dirty="0">
                <a:solidFill>
                  <a:srgbClr val="233E32"/>
                </a:solidFill>
                <a:latin typeface="Alice" pitchFamily="34" charset="0"/>
                <a:ea typeface="Alice" pitchFamily="34" charset="-122"/>
                <a:cs typeface="Alice" pitchFamily="34" charset="-120"/>
              </a:rPr>
              <a:t>Stage 1: Supervised Component Development</a:t>
            </a:r>
            <a:endParaRPr lang="en-US" sz="3800" dirty="0"/>
          </a:p>
        </p:txBody>
      </p:sp>
      <p:sp>
        <p:nvSpPr>
          <p:cNvPr id="4" name="Text 1"/>
          <p:cNvSpPr/>
          <p:nvPr/>
        </p:nvSpPr>
        <p:spPr>
          <a:xfrm>
            <a:off x="683062" y="3665101"/>
            <a:ext cx="3188256" cy="304919"/>
          </a:xfrm>
          <a:prstGeom prst="rect">
            <a:avLst/>
          </a:prstGeom>
          <a:noFill/>
          <a:ln/>
        </p:spPr>
        <p:txBody>
          <a:bodyPr wrap="none" lIns="0" tIns="0" rIns="0" bIns="0" rtlCol="0" anchor="t"/>
          <a:lstStyle/>
          <a:p>
            <a:pPr algn="l" indent="0" marL="0">
              <a:lnSpc>
                <a:spcPts val="2400"/>
              </a:lnSpc>
              <a:buNone/>
            </a:pPr>
            <a:r>
              <a:rPr lang="en-US" sz="1900" dirty="0">
                <a:solidFill>
                  <a:srgbClr val="233E32"/>
                </a:solidFill>
                <a:latin typeface="Alice" pitchFamily="34" charset="0"/>
                <a:ea typeface="Alice" pitchFamily="34" charset="-122"/>
                <a:cs typeface="Alice" pitchFamily="34" charset="-120"/>
              </a:rPr>
              <a:t>Director Agent (Policy Model)</a:t>
            </a:r>
            <a:endParaRPr lang="en-US" sz="1900" dirty="0"/>
          </a:p>
        </p:txBody>
      </p:sp>
      <p:sp>
        <p:nvSpPr>
          <p:cNvPr id="5" name="Text 2"/>
          <p:cNvSpPr/>
          <p:nvPr/>
        </p:nvSpPr>
        <p:spPr>
          <a:xfrm>
            <a:off x="683062" y="4262676"/>
            <a:ext cx="13264277" cy="312182"/>
          </a:xfrm>
          <a:prstGeom prst="rect">
            <a:avLst/>
          </a:prstGeom>
          <a:noFill/>
          <a:ln/>
        </p:spPr>
        <p:txBody>
          <a:bodyPr wrap="none" lIns="0" tIns="0" rIns="0" bIns="0" rtlCol="0" anchor="t"/>
          <a:lstStyle/>
          <a:p>
            <a:pPr algn="l" indent="0" marL="0">
              <a:lnSpc>
                <a:spcPts val="2450"/>
              </a:lnSpc>
              <a:buNone/>
            </a:pPr>
            <a:r>
              <a:rPr lang="en-US" sz="1500" b="1" dirty="0">
                <a:solidFill>
                  <a:srgbClr val="2C2821"/>
                </a:solidFill>
                <a:latin typeface="Lora" pitchFamily="34" charset="0"/>
                <a:ea typeface="Lora" pitchFamily="34" charset="-122"/>
                <a:cs typeface="Lora" pitchFamily="34" charset="-120"/>
              </a:rPr>
              <a:t>Model Setup:</a:t>
            </a:r>
            <a:endParaRPr lang="en-US" sz="1500" dirty="0"/>
          </a:p>
        </p:txBody>
      </p:sp>
      <p:sp>
        <p:nvSpPr>
          <p:cNvPr id="6" name="Text 3"/>
          <p:cNvSpPr/>
          <p:nvPr/>
        </p:nvSpPr>
        <p:spPr>
          <a:xfrm>
            <a:off x="683062" y="4794409"/>
            <a:ext cx="13264277" cy="312182"/>
          </a:xfrm>
          <a:prstGeom prst="rect">
            <a:avLst/>
          </a:prstGeom>
          <a:noFill/>
          <a:ln/>
        </p:spPr>
        <p:txBody>
          <a:bodyPr wrap="none" lIns="0" tIns="0" rIns="0" bIns="0" rtlCol="0" anchor="t"/>
          <a:lstStyle/>
          <a:p>
            <a:pPr algn="l" marL="342900" indent="-342900">
              <a:lnSpc>
                <a:spcPts val="2450"/>
              </a:lnSpc>
              <a:buSzPct val="100000"/>
              <a:buChar char="•"/>
            </a:pPr>
            <a:r>
              <a:rPr lang="en-US" sz="1500" dirty="0">
                <a:solidFill>
                  <a:srgbClr val="2C2821"/>
                </a:solidFill>
                <a:latin typeface="Lora" pitchFamily="34" charset="0"/>
                <a:ea typeface="Lora" pitchFamily="34" charset="-122"/>
                <a:cs typeface="Lora" pitchFamily="34" charset="-120"/>
              </a:rPr>
              <a:t>Base model: Phi-2 (2.7 billion parameters)</a:t>
            </a:r>
            <a:endParaRPr lang="en-US" sz="1500" dirty="0"/>
          </a:p>
        </p:txBody>
      </p:sp>
      <p:sp>
        <p:nvSpPr>
          <p:cNvPr id="7" name="Text 4"/>
          <p:cNvSpPr/>
          <p:nvPr/>
        </p:nvSpPr>
        <p:spPr>
          <a:xfrm>
            <a:off x="683062" y="5174813"/>
            <a:ext cx="13264277" cy="312182"/>
          </a:xfrm>
          <a:prstGeom prst="rect">
            <a:avLst/>
          </a:prstGeom>
          <a:noFill/>
          <a:ln/>
        </p:spPr>
        <p:txBody>
          <a:bodyPr wrap="none" lIns="0" tIns="0" rIns="0" bIns="0" rtlCol="0" anchor="t"/>
          <a:lstStyle/>
          <a:p>
            <a:pPr algn="l" marL="342900" indent="-342900">
              <a:lnSpc>
                <a:spcPts val="2450"/>
              </a:lnSpc>
              <a:buSzPct val="100000"/>
              <a:buChar char="•"/>
            </a:pPr>
            <a:r>
              <a:rPr lang="en-US" sz="1500" dirty="0">
                <a:solidFill>
                  <a:srgbClr val="2C2821"/>
                </a:solidFill>
                <a:latin typeface="Lora" pitchFamily="34" charset="0"/>
                <a:ea typeface="Lora" pitchFamily="34" charset="-122"/>
                <a:cs typeface="Lora" pitchFamily="34" charset="-120"/>
              </a:rPr>
              <a:t>Memory optimization: Compressed from 11GB to 3.5GB using 4-bit quantization</a:t>
            </a:r>
            <a:endParaRPr lang="en-US" sz="1500" dirty="0"/>
          </a:p>
        </p:txBody>
      </p:sp>
      <p:sp>
        <p:nvSpPr>
          <p:cNvPr id="8" name="Text 5"/>
          <p:cNvSpPr/>
          <p:nvPr/>
        </p:nvSpPr>
        <p:spPr>
          <a:xfrm>
            <a:off x="683062" y="5555218"/>
            <a:ext cx="13264277" cy="312182"/>
          </a:xfrm>
          <a:prstGeom prst="rect">
            <a:avLst/>
          </a:prstGeom>
          <a:noFill/>
          <a:ln/>
        </p:spPr>
        <p:txBody>
          <a:bodyPr wrap="none" lIns="0" tIns="0" rIns="0" bIns="0" rtlCol="0" anchor="t"/>
          <a:lstStyle/>
          <a:p>
            <a:pPr algn="l" marL="342900" indent="-342900">
              <a:lnSpc>
                <a:spcPts val="2450"/>
              </a:lnSpc>
              <a:buSzPct val="100000"/>
              <a:buChar char="•"/>
            </a:pPr>
            <a:r>
              <a:rPr lang="en-US" sz="1500" dirty="0">
                <a:solidFill>
                  <a:srgbClr val="2C2821"/>
                </a:solidFill>
                <a:latin typeface="Lora" pitchFamily="34" charset="0"/>
                <a:ea typeface="Lora" pitchFamily="34" charset="-122"/>
                <a:cs typeface="Lora" pitchFamily="34" charset="-120"/>
              </a:rPr>
              <a:t>Training method: QLoRA - updates small adapter layers while keeping main model frozen</a:t>
            </a:r>
            <a:endParaRPr lang="en-US" sz="1500" dirty="0"/>
          </a:p>
        </p:txBody>
      </p:sp>
      <p:sp>
        <p:nvSpPr>
          <p:cNvPr id="9" name="Text 6"/>
          <p:cNvSpPr/>
          <p:nvPr/>
        </p:nvSpPr>
        <p:spPr>
          <a:xfrm>
            <a:off x="683062" y="6086951"/>
            <a:ext cx="13264277" cy="312182"/>
          </a:xfrm>
          <a:prstGeom prst="rect">
            <a:avLst/>
          </a:prstGeom>
          <a:noFill/>
          <a:ln/>
        </p:spPr>
        <p:txBody>
          <a:bodyPr wrap="none" lIns="0" tIns="0" rIns="0" bIns="0" rtlCol="0" anchor="t"/>
          <a:lstStyle/>
          <a:p>
            <a:pPr algn="l" indent="0" marL="0">
              <a:lnSpc>
                <a:spcPts val="2450"/>
              </a:lnSpc>
              <a:buNone/>
            </a:pPr>
            <a:r>
              <a:rPr lang="en-US" sz="1500" b="1" dirty="0">
                <a:solidFill>
                  <a:srgbClr val="2C2821"/>
                </a:solidFill>
                <a:latin typeface="Lora" pitchFamily="34" charset="0"/>
                <a:ea typeface="Lora" pitchFamily="34" charset="-122"/>
                <a:cs typeface="Lora" pitchFamily="34" charset="-120"/>
              </a:rPr>
              <a:t>Training Data:</a:t>
            </a:r>
            <a:endParaRPr lang="en-US" sz="1500" dirty="0"/>
          </a:p>
        </p:txBody>
      </p:sp>
      <p:sp>
        <p:nvSpPr>
          <p:cNvPr id="10" name="Text 7"/>
          <p:cNvSpPr/>
          <p:nvPr/>
        </p:nvSpPr>
        <p:spPr>
          <a:xfrm>
            <a:off x="683062" y="6618684"/>
            <a:ext cx="13264277" cy="312182"/>
          </a:xfrm>
          <a:prstGeom prst="rect">
            <a:avLst/>
          </a:prstGeom>
          <a:noFill/>
          <a:ln/>
        </p:spPr>
        <p:txBody>
          <a:bodyPr wrap="none" lIns="0" tIns="0" rIns="0" bIns="0" rtlCol="0" anchor="t"/>
          <a:lstStyle/>
          <a:p>
            <a:pPr algn="l" marL="342900" indent="-342900">
              <a:lnSpc>
                <a:spcPts val="2450"/>
              </a:lnSpc>
              <a:buSzPct val="100000"/>
              <a:buChar char="•"/>
            </a:pPr>
            <a:r>
              <a:rPr lang="en-US" sz="1500" dirty="0">
                <a:solidFill>
                  <a:srgbClr val="2C2821"/>
                </a:solidFill>
                <a:latin typeface="Lora" pitchFamily="34" charset="0"/>
                <a:ea typeface="Lora" pitchFamily="34" charset="-122"/>
                <a:cs typeface="Lora" pitchFamily="34" charset="-120"/>
              </a:rPr>
              <a:t>310,000 examples from D&amp;D transcripts (CRD3) and fantasy dialogues (LIGHT)</a:t>
            </a:r>
            <a:endParaRPr lang="en-US" sz="1500" dirty="0"/>
          </a:p>
        </p:txBody>
      </p:sp>
      <p:sp>
        <p:nvSpPr>
          <p:cNvPr id="11" name="Text 8"/>
          <p:cNvSpPr/>
          <p:nvPr/>
        </p:nvSpPr>
        <p:spPr>
          <a:xfrm>
            <a:off x="683062" y="6999089"/>
            <a:ext cx="13264277" cy="312182"/>
          </a:xfrm>
          <a:prstGeom prst="rect">
            <a:avLst/>
          </a:prstGeom>
          <a:noFill/>
          <a:ln/>
        </p:spPr>
        <p:txBody>
          <a:bodyPr wrap="none" lIns="0" tIns="0" rIns="0" bIns="0" rtlCol="0" anchor="t"/>
          <a:lstStyle/>
          <a:p>
            <a:pPr algn="l" marL="342900" indent="-342900">
              <a:lnSpc>
                <a:spcPts val="2450"/>
              </a:lnSpc>
              <a:buSzPct val="100000"/>
              <a:buChar char="•"/>
            </a:pPr>
            <a:r>
              <a:rPr lang="en-US" sz="1500" dirty="0">
                <a:solidFill>
                  <a:srgbClr val="2C2821"/>
                </a:solidFill>
                <a:latin typeface="Lora" pitchFamily="34" charset="0"/>
                <a:ea typeface="Lora" pitchFamily="34" charset="-122"/>
                <a:cs typeface="Lora" pitchFamily="34" charset="-120"/>
              </a:rPr>
              <a:t>Format: Player action → DM response pairs</a:t>
            </a:r>
            <a:endParaRPr lang="en-US" sz="1500" dirty="0"/>
          </a:p>
        </p:txBody>
      </p:sp>
      <p:sp>
        <p:nvSpPr>
          <p:cNvPr id="12" name="Text 9"/>
          <p:cNvSpPr/>
          <p:nvPr/>
        </p:nvSpPr>
        <p:spPr>
          <a:xfrm>
            <a:off x="683062" y="7379494"/>
            <a:ext cx="13264277" cy="312182"/>
          </a:xfrm>
          <a:prstGeom prst="rect">
            <a:avLst/>
          </a:prstGeom>
          <a:noFill/>
          <a:ln/>
        </p:spPr>
        <p:txBody>
          <a:bodyPr wrap="none" lIns="0" tIns="0" rIns="0" bIns="0" rtlCol="0" anchor="t"/>
          <a:lstStyle/>
          <a:p>
            <a:pPr algn="l" marL="342900" indent="-342900">
              <a:lnSpc>
                <a:spcPts val="2450"/>
              </a:lnSpc>
              <a:buSzPct val="100000"/>
              <a:buChar char="•"/>
            </a:pPr>
            <a:r>
              <a:rPr lang="en-US" sz="1500" dirty="0">
                <a:solidFill>
                  <a:srgbClr val="2C2821"/>
                </a:solidFill>
                <a:latin typeface="Lora" pitchFamily="34" charset="0"/>
                <a:ea typeface="Lora" pitchFamily="34" charset="-122"/>
                <a:cs typeface="Lora" pitchFamily="34" charset="-120"/>
              </a:rPr>
              <a:t>Teaches the model to: describe scenes vividly, handle consequences logically, maintain world consistency, portray NPCs authentically</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24840" y="491014"/>
            <a:ext cx="9452253" cy="557927"/>
          </a:xfrm>
          <a:prstGeom prst="rect">
            <a:avLst/>
          </a:prstGeom>
          <a:noFill/>
          <a:ln/>
        </p:spPr>
        <p:txBody>
          <a:bodyPr wrap="none" lIns="0" tIns="0" rIns="0" bIns="0" rtlCol="0" anchor="t"/>
          <a:lstStyle/>
          <a:p>
            <a:pPr algn="l" indent="0" marL="0">
              <a:lnSpc>
                <a:spcPts val="4350"/>
              </a:lnSpc>
              <a:buNone/>
            </a:pPr>
            <a:r>
              <a:rPr lang="en-US" sz="3500" dirty="0">
                <a:solidFill>
                  <a:srgbClr val="233E32"/>
                </a:solidFill>
                <a:latin typeface="Alice" pitchFamily="34" charset="0"/>
                <a:ea typeface="Alice" pitchFamily="34" charset="-122"/>
                <a:cs typeface="Alice" pitchFamily="34" charset="-120"/>
              </a:rPr>
              <a:t>Specialized Critics: Design and Implementation</a:t>
            </a:r>
            <a:endParaRPr lang="en-US" sz="3500" dirty="0"/>
          </a:p>
        </p:txBody>
      </p:sp>
      <p:sp>
        <p:nvSpPr>
          <p:cNvPr id="3" name="Text 1"/>
          <p:cNvSpPr/>
          <p:nvPr/>
        </p:nvSpPr>
        <p:spPr>
          <a:xfrm>
            <a:off x="624840" y="1120259"/>
            <a:ext cx="2346127" cy="278963"/>
          </a:xfrm>
          <a:prstGeom prst="rect">
            <a:avLst/>
          </a:prstGeom>
          <a:noFill/>
          <a:ln/>
        </p:spPr>
        <p:txBody>
          <a:bodyPr wrap="none" lIns="0" tIns="0" rIns="0" bIns="0" rtlCol="0" anchor="t"/>
          <a:lstStyle/>
          <a:p>
            <a:pPr algn="l" indent="0" marL="0">
              <a:lnSpc>
                <a:spcPts val="2150"/>
              </a:lnSpc>
              <a:buNone/>
            </a:pPr>
            <a:r>
              <a:rPr lang="en-US" sz="1750" dirty="0">
                <a:solidFill>
                  <a:srgbClr val="233E32"/>
                </a:solidFill>
                <a:latin typeface="Alice" pitchFamily="34" charset="0"/>
                <a:ea typeface="Alice" pitchFamily="34" charset="-122"/>
                <a:cs typeface="Alice" pitchFamily="34" charset="-120"/>
              </a:rPr>
              <a:t>Narrative Quality Critic</a:t>
            </a:r>
            <a:endParaRPr lang="en-US" sz="1750" dirty="0"/>
          </a:p>
        </p:txBody>
      </p:sp>
      <p:sp>
        <p:nvSpPr>
          <p:cNvPr id="4" name="Text 2"/>
          <p:cNvSpPr/>
          <p:nvPr/>
        </p:nvSpPr>
        <p:spPr>
          <a:xfrm>
            <a:off x="624840" y="1666994"/>
            <a:ext cx="13380720" cy="571500"/>
          </a:xfrm>
          <a:prstGeom prst="rect">
            <a:avLst/>
          </a:prstGeom>
          <a:noFill/>
          <a:ln/>
        </p:spPr>
        <p:txBody>
          <a:bodyPr wrap="square" lIns="0" tIns="0" rIns="0" bIns="0" rtlCol="0" anchor="t"/>
          <a:lstStyle/>
          <a:p>
            <a:pPr algn="l" indent="0" marL="0">
              <a:lnSpc>
                <a:spcPts val="2200"/>
              </a:lnSpc>
              <a:buNone/>
            </a:pPr>
            <a:r>
              <a:rPr lang="en-US" sz="1400" dirty="0">
                <a:solidFill>
                  <a:srgbClr val="2C2821"/>
                </a:solidFill>
                <a:latin typeface="Lora" pitchFamily="34" charset="0"/>
                <a:ea typeface="Lora" pitchFamily="34" charset="-122"/>
                <a:cs typeface="Lora" pitchFamily="34" charset="-120"/>
              </a:rPr>
              <a:t>DeBERTa-v3-base (184M parameters) configured for regression with single output neuron. Evaluates descriptive richness, atmospheric detail, vocabulary diversity, narrative coherence. Produces continuous quality scores (0-1 range).</a:t>
            </a:r>
            <a:endParaRPr lang="en-US" sz="1400" dirty="0"/>
          </a:p>
        </p:txBody>
      </p:sp>
      <p:sp>
        <p:nvSpPr>
          <p:cNvPr id="5" name="Text 3"/>
          <p:cNvSpPr/>
          <p:nvPr/>
        </p:nvSpPr>
        <p:spPr>
          <a:xfrm>
            <a:off x="624840" y="2439352"/>
            <a:ext cx="13380720" cy="571500"/>
          </a:xfrm>
          <a:prstGeom prst="rect">
            <a:avLst/>
          </a:prstGeom>
          <a:noFill/>
          <a:ln/>
        </p:spPr>
        <p:txBody>
          <a:bodyPr wrap="square" lIns="0" tIns="0" rIns="0" bIns="0" rtlCol="0" anchor="t"/>
          <a:lstStyle/>
          <a:p>
            <a:pPr algn="l" indent="0" marL="0">
              <a:lnSpc>
                <a:spcPts val="2200"/>
              </a:lnSpc>
              <a:buNone/>
            </a:pPr>
            <a:r>
              <a:rPr lang="en-US" sz="1400" dirty="0">
                <a:solidFill>
                  <a:srgbClr val="2C2821"/>
                </a:solidFill>
                <a:latin typeface="Lora" pitchFamily="34" charset="0"/>
                <a:ea typeface="Lora" pitchFamily="34" charset="-122"/>
                <a:cs typeface="Lora" pitchFamily="34" charset="-120"/>
              </a:rPr>
              <a:t>Training data created through systematic corruption: coherent examples (label 1.0), shuffled sentences (label 0.0), repetitive text (label 0.2), truncated narratives (label 0.4). Generates 40,906 balanced examples without manual annotation.</a:t>
            </a:r>
            <a:endParaRPr lang="en-US" sz="1400" dirty="0"/>
          </a:p>
        </p:txBody>
      </p:sp>
      <p:sp>
        <p:nvSpPr>
          <p:cNvPr id="6" name="Text 4"/>
          <p:cNvSpPr/>
          <p:nvPr/>
        </p:nvSpPr>
        <p:spPr>
          <a:xfrm>
            <a:off x="624840" y="3278624"/>
            <a:ext cx="2891909" cy="278963"/>
          </a:xfrm>
          <a:prstGeom prst="rect">
            <a:avLst/>
          </a:prstGeom>
          <a:noFill/>
          <a:ln/>
        </p:spPr>
        <p:txBody>
          <a:bodyPr wrap="none" lIns="0" tIns="0" rIns="0" bIns="0" rtlCol="0" anchor="t"/>
          <a:lstStyle/>
          <a:p>
            <a:pPr algn="l" indent="0" marL="0">
              <a:lnSpc>
                <a:spcPts val="2150"/>
              </a:lnSpc>
              <a:buNone/>
            </a:pPr>
            <a:r>
              <a:rPr lang="en-US" sz="1750" dirty="0">
                <a:solidFill>
                  <a:srgbClr val="233E32"/>
                </a:solidFill>
                <a:latin typeface="Alice" pitchFamily="34" charset="0"/>
                <a:ea typeface="Alice" pitchFamily="34" charset="-122"/>
                <a:cs typeface="Alice" pitchFamily="34" charset="-120"/>
              </a:rPr>
              <a:t>Causal Responsiveness Critic</a:t>
            </a:r>
            <a:endParaRPr lang="en-US" sz="1750" dirty="0"/>
          </a:p>
        </p:txBody>
      </p:sp>
      <p:sp>
        <p:nvSpPr>
          <p:cNvPr id="7" name="Text 5"/>
          <p:cNvSpPr/>
          <p:nvPr/>
        </p:nvSpPr>
        <p:spPr>
          <a:xfrm>
            <a:off x="624840" y="3825359"/>
            <a:ext cx="13380720" cy="857250"/>
          </a:xfrm>
          <a:prstGeom prst="rect">
            <a:avLst/>
          </a:prstGeom>
          <a:noFill/>
          <a:ln/>
        </p:spPr>
        <p:txBody>
          <a:bodyPr wrap="square" lIns="0" tIns="0" rIns="0" bIns="0" rtlCol="0" anchor="t"/>
          <a:lstStyle/>
          <a:p>
            <a:pPr algn="l" indent="0" marL="0">
              <a:lnSpc>
                <a:spcPts val="2200"/>
              </a:lnSpc>
              <a:buNone/>
            </a:pPr>
            <a:r>
              <a:rPr lang="en-US" sz="1400" dirty="0">
                <a:solidFill>
                  <a:srgbClr val="2C2821"/>
                </a:solidFill>
                <a:latin typeface="Lora" pitchFamily="34" charset="0"/>
                <a:ea typeface="Lora" pitchFamily="34" charset="-122"/>
                <a:cs typeface="Lora" pitchFamily="34" charset="-120"/>
              </a:rPr>
              <a:t>Pre-trained DeBERTa-v3-base-mnli-fever-anli trained on Natural Language Inference datasets. Zero-shot application: player action serves as premise, DM response as hypothesis. Three-way NLI classification (entailment, neutral, contradiction) produces probability distribution; entailment probability serves as causal consistency score.</a:t>
            </a:r>
            <a:endParaRPr lang="en-US" sz="1400" dirty="0"/>
          </a:p>
        </p:txBody>
      </p:sp>
      <p:sp>
        <p:nvSpPr>
          <p:cNvPr id="8" name="Text 6"/>
          <p:cNvSpPr/>
          <p:nvPr/>
        </p:nvSpPr>
        <p:spPr>
          <a:xfrm>
            <a:off x="624840" y="4950381"/>
            <a:ext cx="2475548" cy="278963"/>
          </a:xfrm>
          <a:prstGeom prst="rect">
            <a:avLst/>
          </a:prstGeom>
          <a:noFill/>
          <a:ln/>
        </p:spPr>
        <p:txBody>
          <a:bodyPr wrap="none" lIns="0" tIns="0" rIns="0" bIns="0" rtlCol="0" anchor="t"/>
          <a:lstStyle/>
          <a:p>
            <a:pPr algn="l" indent="0" marL="0">
              <a:lnSpc>
                <a:spcPts val="2150"/>
              </a:lnSpc>
              <a:buNone/>
            </a:pPr>
            <a:r>
              <a:rPr lang="en-US" sz="1750" dirty="0">
                <a:solidFill>
                  <a:srgbClr val="233E32"/>
                </a:solidFill>
                <a:latin typeface="Alice" pitchFamily="34" charset="0"/>
                <a:ea typeface="Alice" pitchFamily="34" charset="-122"/>
                <a:cs typeface="Alice" pitchFamily="34" charset="-120"/>
              </a:rPr>
              <a:t>World Consistency Critic</a:t>
            </a:r>
            <a:endParaRPr lang="en-US" sz="1750" dirty="0"/>
          </a:p>
        </p:txBody>
      </p:sp>
      <p:sp>
        <p:nvSpPr>
          <p:cNvPr id="9" name="Text 7"/>
          <p:cNvSpPr/>
          <p:nvPr/>
        </p:nvSpPr>
        <p:spPr>
          <a:xfrm>
            <a:off x="624840" y="5497116"/>
            <a:ext cx="13380720" cy="857250"/>
          </a:xfrm>
          <a:prstGeom prst="rect">
            <a:avLst/>
          </a:prstGeom>
          <a:noFill/>
          <a:ln/>
        </p:spPr>
        <p:txBody>
          <a:bodyPr wrap="square" lIns="0" tIns="0" rIns="0" bIns="0" rtlCol="0" anchor="t"/>
          <a:lstStyle/>
          <a:p>
            <a:pPr algn="l" indent="0" marL="0">
              <a:lnSpc>
                <a:spcPts val="2200"/>
              </a:lnSpc>
              <a:buNone/>
            </a:pPr>
            <a:r>
              <a:rPr lang="en-US" sz="1400" dirty="0">
                <a:solidFill>
                  <a:srgbClr val="2C2821"/>
                </a:solidFill>
                <a:latin typeface="Lora" pitchFamily="34" charset="0"/>
                <a:ea typeface="Lora" pitchFamily="34" charset="-122"/>
                <a:cs typeface="Lora" pitchFamily="34" charset="-120"/>
              </a:rPr>
              <a:t>Hybrid approach combining symbolic tracking and neural understanding. Python class maintains explicit representations of entity locations, object states, environmental conditions, narrative facts. DeBERTa-v3-base fine tuned on CRD3 NPC dialogue extracts world state updates. Detects contradiction (0.0), hallucination (0.3), amnesia (0.5), consistency (1.0).</a:t>
            </a:r>
            <a:endParaRPr lang="en-US" sz="1400" dirty="0"/>
          </a:p>
        </p:txBody>
      </p:sp>
      <p:sp>
        <p:nvSpPr>
          <p:cNvPr id="10" name="Text 8"/>
          <p:cNvSpPr/>
          <p:nvPr/>
        </p:nvSpPr>
        <p:spPr>
          <a:xfrm>
            <a:off x="624840" y="6622137"/>
            <a:ext cx="2231827" cy="278963"/>
          </a:xfrm>
          <a:prstGeom prst="rect">
            <a:avLst/>
          </a:prstGeom>
          <a:noFill/>
          <a:ln/>
        </p:spPr>
        <p:txBody>
          <a:bodyPr wrap="none" lIns="0" tIns="0" rIns="0" bIns="0" rtlCol="0" anchor="t"/>
          <a:lstStyle/>
          <a:p>
            <a:pPr algn="l" indent="0" marL="0">
              <a:lnSpc>
                <a:spcPts val="2150"/>
              </a:lnSpc>
              <a:buNone/>
            </a:pPr>
            <a:r>
              <a:rPr lang="en-US" sz="1750" dirty="0">
                <a:solidFill>
                  <a:srgbClr val="233E32"/>
                </a:solidFill>
                <a:latin typeface="Alice" pitchFamily="34" charset="0"/>
                <a:ea typeface="Alice" pitchFamily="34" charset="-122"/>
                <a:cs typeface="Alice" pitchFamily="34" charset="-120"/>
              </a:rPr>
              <a:t>Character Voice Critic</a:t>
            </a:r>
            <a:endParaRPr lang="en-US" sz="1750" dirty="0"/>
          </a:p>
        </p:txBody>
      </p:sp>
      <p:sp>
        <p:nvSpPr>
          <p:cNvPr id="11" name="Text 9"/>
          <p:cNvSpPr/>
          <p:nvPr/>
        </p:nvSpPr>
        <p:spPr>
          <a:xfrm>
            <a:off x="624840" y="7168872"/>
            <a:ext cx="13380720" cy="571500"/>
          </a:xfrm>
          <a:prstGeom prst="rect">
            <a:avLst/>
          </a:prstGeom>
          <a:noFill/>
          <a:ln/>
        </p:spPr>
        <p:txBody>
          <a:bodyPr wrap="square" lIns="0" tIns="0" rIns="0" bIns="0" rtlCol="0" anchor="t"/>
          <a:lstStyle/>
          <a:p>
            <a:pPr algn="l" indent="0" marL="0">
              <a:lnSpc>
                <a:spcPts val="2200"/>
              </a:lnSpc>
              <a:buNone/>
            </a:pPr>
            <a:r>
              <a:rPr lang="en-US" sz="1400" dirty="0">
                <a:solidFill>
                  <a:srgbClr val="2C2821"/>
                </a:solidFill>
                <a:latin typeface="Lora" pitchFamily="34" charset="0"/>
                <a:ea typeface="Lora" pitchFamily="34" charset="-122"/>
                <a:cs typeface="Lora" pitchFamily="34" charset="-120"/>
              </a:rPr>
              <a:t>DeBERTa-v3-base fine-tuned on CRD3 NPC dialogue sequences. Learns character-specific embeddings capturing linguistic markers, topic preferences, interaction styles. Given character identity and context, predicts whether dialogue matches established voice.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85443" y="961668"/>
            <a:ext cx="11970901" cy="612100"/>
          </a:xfrm>
          <a:prstGeom prst="rect">
            <a:avLst/>
          </a:prstGeom>
          <a:noFill/>
          <a:ln/>
        </p:spPr>
        <p:txBody>
          <a:bodyPr wrap="none" lIns="0" tIns="0" rIns="0" bIns="0" rtlCol="0" anchor="t"/>
          <a:lstStyle/>
          <a:p>
            <a:pPr algn="l" indent="0" marL="0">
              <a:lnSpc>
                <a:spcPts val="4800"/>
              </a:lnSpc>
              <a:buNone/>
            </a:pPr>
            <a:r>
              <a:rPr lang="en-US" sz="3850" dirty="0">
                <a:solidFill>
                  <a:srgbClr val="233E32"/>
                </a:solidFill>
                <a:latin typeface="Alice" pitchFamily="34" charset="0"/>
                <a:ea typeface="Alice" pitchFamily="34" charset="-122"/>
                <a:cs typeface="Alice" pitchFamily="34" charset="-120"/>
              </a:rPr>
              <a:t>Stage 2: Multi-Critic Reinforcement Learning with PPO</a:t>
            </a:r>
            <a:endParaRPr lang="en-US" sz="3850" dirty="0"/>
          </a:p>
        </p:txBody>
      </p:sp>
      <p:sp>
        <p:nvSpPr>
          <p:cNvPr id="3" name="Text 1"/>
          <p:cNvSpPr/>
          <p:nvPr/>
        </p:nvSpPr>
        <p:spPr>
          <a:xfrm>
            <a:off x="685443" y="1965484"/>
            <a:ext cx="13259514" cy="313373"/>
          </a:xfrm>
          <a:prstGeom prst="rect">
            <a:avLst/>
          </a:prstGeom>
          <a:noFill/>
          <a:ln/>
        </p:spPr>
        <p:txBody>
          <a:bodyPr wrap="none" lIns="0" tIns="0" rIns="0" bIns="0" rtlCol="0" anchor="t"/>
          <a:lstStyle/>
          <a:p>
            <a:pPr algn="l" indent="0" marL="0">
              <a:lnSpc>
                <a:spcPts val="2450"/>
              </a:lnSpc>
              <a:buNone/>
            </a:pPr>
            <a:r>
              <a:rPr lang="en-US" sz="1500" b="1" dirty="0">
                <a:solidFill>
                  <a:srgbClr val="2C2821"/>
                </a:solidFill>
                <a:latin typeface="Lora" pitchFamily="34" charset="0"/>
                <a:ea typeface="Lora" pitchFamily="34" charset="-122"/>
                <a:cs typeface="Lora" pitchFamily="34" charset="-120"/>
              </a:rPr>
              <a:t>Training Loop Architecture:</a:t>
            </a:r>
            <a:pPr algn="l" indent="0" marL="0">
              <a:lnSpc>
                <a:spcPts val="2450"/>
              </a:lnSpc>
              <a:buNone/>
            </a:pPr>
            <a:r>
              <a:rPr lang="en-US" sz="1500" dirty="0">
                <a:solidFill>
                  <a:srgbClr val="2C2821"/>
                </a:solidFill>
                <a:latin typeface="Lora" pitchFamily="34" charset="0"/>
                <a:ea typeface="Lora" pitchFamily="34" charset="-122"/>
                <a:cs typeface="Lora" pitchFamily="34" charset="-120"/>
              </a:rPr>
              <a:t> Seven integrated stages per iteration execute the MCRL pipeline.</a:t>
            </a:r>
            <a:endParaRPr lang="en-US" sz="1500" dirty="0"/>
          </a:p>
        </p:txBody>
      </p:sp>
      <p:sp>
        <p:nvSpPr>
          <p:cNvPr id="4" name="Text 2"/>
          <p:cNvSpPr/>
          <p:nvPr/>
        </p:nvSpPr>
        <p:spPr>
          <a:xfrm>
            <a:off x="685443" y="2499122"/>
            <a:ext cx="13259514" cy="626745"/>
          </a:xfrm>
          <a:prstGeom prst="rect">
            <a:avLst/>
          </a:prstGeom>
          <a:noFill/>
          <a:ln/>
        </p:spPr>
        <p:txBody>
          <a:bodyPr wrap="square" lIns="0" tIns="0" rIns="0" bIns="0" rtlCol="0" anchor="t"/>
          <a:lstStyle/>
          <a:p>
            <a:pPr algn="l" indent="0" marL="0">
              <a:lnSpc>
                <a:spcPts val="2450"/>
              </a:lnSpc>
              <a:buNone/>
            </a:pPr>
            <a:r>
              <a:rPr lang="en-US" sz="1500" b="1" dirty="0">
                <a:solidFill>
                  <a:srgbClr val="2C2821"/>
                </a:solidFill>
                <a:latin typeface="Lora" pitchFamily="34" charset="0"/>
                <a:ea typeface="Lora" pitchFamily="34" charset="-122"/>
                <a:cs typeface="Lora" pitchFamily="34" charset="-120"/>
              </a:rPr>
              <a:t>1. Prompt Generation:</a:t>
            </a:r>
            <a:pPr algn="l" indent="0" marL="0">
              <a:lnSpc>
                <a:spcPts val="2450"/>
              </a:lnSpc>
              <a:buNone/>
            </a:pPr>
            <a:r>
              <a:rPr lang="en-US" sz="1500" dirty="0">
                <a:solidFill>
                  <a:srgbClr val="2C2821"/>
                </a:solidFill>
                <a:latin typeface="Lora" pitchFamily="34" charset="0"/>
                <a:ea typeface="Lora" pitchFamily="34" charset="-122"/>
                <a:cs typeface="Lora" pitchFamily="34" charset="-120"/>
              </a:rPr>
              <a:t> Hybrid Player generator produces player utterances across three categories: EXPLORE (investigation, movement), ACTION (combat, skill checks), DIALOGUE (conversation, roleplay).</a:t>
            </a:r>
            <a:endParaRPr lang="en-US" sz="1500" dirty="0"/>
          </a:p>
        </p:txBody>
      </p:sp>
      <p:sp>
        <p:nvSpPr>
          <p:cNvPr id="5" name="Text 3"/>
          <p:cNvSpPr/>
          <p:nvPr/>
        </p:nvSpPr>
        <p:spPr>
          <a:xfrm>
            <a:off x="685443" y="3346133"/>
            <a:ext cx="13259514" cy="626745"/>
          </a:xfrm>
          <a:prstGeom prst="rect">
            <a:avLst/>
          </a:prstGeom>
          <a:noFill/>
          <a:ln/>
        </p:spPr>
        <p:txBody>
          <a:bodyPr wrap="square" lIns="0" tIns="0" rIns="0" bIns="0" rtlCol="0" anchor="t"/>
          <a:lstStyle/>
          <a:p>
            <a:pPr algn="l" indent="0" marL="0">
              <a:lnSpc>
                <a:spcPts val="2450"/>
              </a:lnSpc>
              <a:buNone/>
            </a:pPr>
            <a:r>
              <a:rPr lang="en-US" sz="1500" b="1" dirty="0">
                <a:solidFill>
                  <a:srgbClr val="2C2821"/>
                </a:solidFill>
                <a:latin typeface="Lora" pitchFamily="34" charset="0"/>
                <a:ea typeface="Lora" pitchFamily="34" charset="-122"/>
                <a:cs typeface="Lora" pitchFamily="34" charset="-120"/>
              </a:rPr>
              <a:t>2. Response Generation:</a:t>
            </a:r>
            <a:pPr algn="l" indent="0" marL="0">
              <a:lnSpc>
                <a:spcPts val="2450"/>
              </a:lnSpc>
              <a:buNone/>
            </a:pPr>
            <a:r>
              <a:rPr lang="en-US" sz="1500" dirty="0">
                <a:solidFill>
                  <a:srgbClr val="2C2821"/>
                </a:solidFill>
                <a:latin typeface="Lora" pitchFamily="34" charset="0"/>
                <a:ea typeface="Lora" pitchFamily="34" charset="-122"/>
                <a:cs typeface="Lora" pitchFamily="34" charset="-120"/>
              </a:rPr>
              <a:t> Policy model generates DM responses using nucleus sampling (p=0.95) and temperature 0.9 balancing creativity and coherence.</a:t>
            </a:r>
            <a:endParaRPr lang="en-US" sz="1500" dirty="0"/>
          </a:p>
        </p:txBody>
      </p:sp>
      <p:sp>
        <p:nvSpPr>
          <p:cNvPr id="6" name="Text 4"/>
          <p:cNvSpPr/>
          <p:nvPr/>
        </p:nvSpPr>
        <p:spPr>
          <a:xfrm>
            <a:off x="685443" y="4193143"/>
            <a:ext cx="13259514" cy="626745"/>
          </a:xfrm>
          <a:prstGeom prst="rect">
            <a:avLst/>
          </a:prstGeom>
          <a:noFill/>
          <a:ln/>
        </p:spPr>
        <p:txBody>
          <a:bodyPr wrap="square" lIns="0" tIns="0" rIns="0" bIns="0" rtlCol="0" anchor="t"/>
          <a:lstStyle/>
          <a:p>
            <a:pPr algn="l" indent="0" marL="0">
              <a:lnSpc>
                <a:spcPts val="2450"/>
              </a:lnSpc>
              <a:buNone/>
            </a:pPr>
            <a:r>
              <a:rPr lang="en-US" sz="1500" b="1" dirty="0">
                <a:solidFill>
                  <a:srgbClr val="2C2821"/>
                </a:solidFill>
                <a:latin typeface="Lora" pitchFamily="34" charset="0"/>
                <a:ea typeface="Lora" pitchFamily="34" charset="-122"/>
                <a:cs typeface="Lora" pitchFamily="34" charset="-120"/>
              </a:rPr>
              <a:t>3. Intent Classification:</a:t>
            </a:r>
            <a:pPr algn="l" indent="0" marL="0">
              <a:lnSpc>
                <a:spcPts val="2450"/>
              </a:lnSpc>
              <a:buNone/>
            </a:pPr>
            <a:r>
              <a:rPr lang="en-US" sz="1500" dirty="0">
                <a:solidFill>
                  <a:srgbClr val="2C2821"/>
                </a:solidFill>
                <a:latin typeface="Lora" pitchFamily="34" charset="0"/>
                <a:ea typeface="Lora" pitchFamily="34" charset="-122"/>
                <a:cs typeface="Lora" pitchFamily="34" charset="-120"/>
              </a:rPr>
              <a:t> DistilBERT classifier analyzes player prompt, predicting intent with mean confidence &gt;0.82, enabling reliable weight selection.</a:t>
            </a:r>
            <a:endParaRPr lang="en-US" sz="1500" dirty="0"/>
          </a:p>
        </p:txBody>
      </p:sp>
      <p:sp>
        <p:nvSpPr>
          <p:cNvPr id="7" name="Text 5"/>
          <p:cNvSpPr/>
          <p:nvPr/>
        </p:nvSpPr>
        <p:spPr>
          <a:xfrm>
            <a:off x="685443" y="5040154"/>
            <a:ext cx="13259514" cy="313373"/>
          </a:xfrm>
          <a:prstGeom prst="rect">
            <a:avLst/>
          </a:prstGeom>
          <a:noFill/>
          <a:ln/>
        </p:spPr>
        <p:txBody>
          <a:bodyPr wrap="none" lIns="0" tIns="0" rIns="0" bIns="0" rtlCol="0" anchor="t"/>
          <a:lstStyle/>
          <a:p>
            <a:pPr algn="l" indent="0" marL="0">
              <a:lnSpc>
                <a:spcPts val="2450"/>
              </a:lnSpc>
              <a:buNone/>
            </a:pPr>
            <a:r>
              <a:rPr lang="en-US" sz="1500" b="1" dirty="0">
                <a:solidFill>
                  <a:srgbClr val="2C2821"/>
                </a:solidFill>
                <a:latin typeface="Lora" pitchFamily="34" charset="0"/>
                <a:ea typeface="Lora" pitchFamily="34" charset="-122"/>
                <a:cs typeface="Lora" pitchFamily="34" charset="-120"/>
              </a:rPr>
              <a:t>4. Multi-Critic Evaluation:</a:t>
            </a:r>
            <a:pPr algn="l" indent="0" marL="0">
              <a:lnSpc>
                <a:spcPts val="2450"/>
              </a:lnSpc>
              <a:buNone/>
            </a:pPr>
            <a:r>
              <a:rPr lang="en-US" sz="1500" dirty="0">
                <a:solidFill>
                  <a:srgbClr val="2C2821"/>
                </a:solidFill>
                <a:latin typeface="Lora" pitchFamily="34" charset="0"/>
                <a:ea typeface="Lora" pitchFamily="34" charset="-122"/>
                <a:cs typeface="Lora" pitchFamily="34" charset="-120"/>
              </a:rPr>
              <a:t> All four critics independently score generated response producing continuous rewards (0-1 range) or discrete values.</a:t>
            </a:r>
            <a:endParaRPr lang="en-US" sz="1500" dirty="0"/>
          </a:p>
        </p:txBody>
      </p:sp>
      <p:sp>
        <p:nvSpPr>
          <p:cNvPr id="8" name="Text 6"/>
          <p:cNvSpPr/>
          <p:nvPr/>
        </p:nvSpPr>
        <p:spPr>
          <a:xfrm>
            <a:off x="685443" y="5573792"/>
            <a:ext cx="13259514" cy="313373"/>
          </a:xfrm>
          <a:prstGeom prst="rect">
            <a:avLst/>
          </a:prstGeom>
          <a:noFill/>
          <a:ln/>
        </p:spPr>
        <p:txBody>
          <a:bodyPr wrap="none" lIns="0" tIns="0" rIns="0" bIns="0" rtlCol="0" anchor="t"/>
          <a:lstStyle/>
          <a:p>
            <a:pPr algn="l" indent="0" marL="0">
              <a:lnSpc>
                <a:spcPts val="2450"/>
              </a:lnSpc>
              <a:buNone/>
            </a:pPr>
            <a:r>
              <a:rPr lang="en-US" sz="1500" b="1" dirty="0">
                <a:solidFill>
                  <a:srgbClr val="2C2821"/>
                </a:solidFill>
                <a:latin typeface="Lora" pitchFamily="34" charset="0"/>
                <a:ea typeface="Lora" pitchFamily="34" charset="-122"/>
                <a:cs typeface="Lora" pitchFamily="34" charset="-120"/>
              </a:rPr>
              <a:t>5. Dynamic Weighting:</a:t>
            </a:r>
            <a:pPr algn="l" indent="0" marL="0">
              <a:lnSpc>
                <a:spcPts val="2450"/>
              </a:lnSpc>
              <a:buNone/>
            </a:pPr>
            <a:r>
              <a:rPr lang="en-US" sz="1500" dirty="0">
                <a:solidFill>
                  <a:srgbClr val="2C2821"/>
                </a:solidFill>
                <a:latin typeface="Lora" pitchFamily="34" charset="0"/>
                <a:ea typeface="Lora" pitchFamily="34" charset="-122"/>
                <a:cs typeface="Lora" pitchFamily="34" charset="-120"/>
              </a:rPr>
              <a:t> Intent classification maps to weight vector W(I) selecting appropriate objective priorities for context.</a:t>
            </a:r>
            <a:endParaRPr lang="en-US" sz="1500" dirty="0"/>
          </a:p>
        </p:txBody>
      </p:sp>
      <p:sp>
        <p:nvSpPr>
          <p:cNvPr id="9" name="Text 7"/>
          <p:cNvSpPr/>
          <p:nvPr/>
        </p:nvSpPr>
        <p:spPr>
          <a:xfrm>
            <a:off x="685443" y="6107430"/>
            <a:ext cx="13259514" cy="313373"/>
          </a:xfrm>
          <a:prstGeom prst="rect">
            <a:avLst/>
          </a:prstGeom>
          <a:noFill/>
          <a:ln/>
        </p:spPr>
        <p:txBody>
          <a:bodyPr wrap="none" lIns="0" tIns="0" rIns="0" bIns="0" rtlCol="0" anchor="t"/>
          <a:lstStyle/>
          <a:p>
            <a:pPr algn="l" indent="0" marL="0">
              <a:lnSpc>
                <a:spcPts val="2450"/>
              </a:lnSpc>
              <a:buNone/>
            </a:pPr>
            <a:r>
              <a:rPr lang="en-US" sz="1500" b="1" dirty="0">
                <a:solidFill>
                  <a:srgbClr val="2C2821"/>
                </a:solidFill>
                <a:latin typeface="Lora" pitchFamily="34" charset="0"/>
                <a:ea typeface="Lora" pitchFamily="34" charset="-122"/>
                <a:cs typeface="Lora" pitchFamily="34" charset="-120"/>
              </a:rPr>
              <a:t>6. Reward Aggregation:</a:t>
            </a:r>
            <a:pPr algn="l" indent="0" marL="0">
              <a:lnSpc>
                <a:spcPts val="2450"/>
              </a:lnSpc>
              <a:buNone/>
            </a:pPr>
            <a:r>
              <a:rPr lang="en-US" sz="1500" dirty="0">
                <a:solidFill>
                  <a:srgbClr val="2C2821"/>
                </a:solidFill>
                <a:latin typeface="Lora" pitchFamily="34" charset="0"/>
                <a:ea typeface="Lora" pitchFamily="34" charset="-122"/>
                <a:cs typeface="Lora" pitchFamily="34" charset="-120"/>
              </a:rPr>
              <a:t> Scalar reward computed via weighted sum with Z-score normalization and clipping to prevent extreme values.</a:t>
            </a:r>
            <a:endParaRPr lang="en-US" sz="1500" dirty="0"/>
          </a:p>
        </p:txBody>
      </p:sp>
      <p:sp>
        <p:nvSpPr>
          <p:cNvPr id="10" name="Text 8"/>
          <p:cNvSpPr/>
          <p:nvPr/>
        </p:nvSpPr>
        <p:spPr>
          <a:xfrm>
            <a:off x="685443" y="6641068"/>
            <a:ext cx="13259514" cy="626745"/>
          </a:xfrm>
          <a:prstGeom prst="rect">
            <a:avLst/>
          </a:prstGeom>
          <a:noFill/>
          <a:ln/>
        </p:spPr>
        <p:txBody>
          <a:bodyPr wrap="square" lIns="0" tIns="0" rIns="0" bIns="0" rtlCol="0" anchor="t"/>
          <a:lstStyle/>
          <a:p>
            <a:pPr algn="l" indent="0" marL="0">
              <a:lnSpc>
                <a:spcPts val="2450"/>
              </a:lnSpc>
              <a:buNone/>
            </a:pPr>
            <a:r>
              <a:rPr lang="en-US" sz="1500" b="1" dirty="0">
                <a:solidFill>
                  <a:srgbClr val="2C2821"/>
                </a:solidFill>
                <a:latin typeface="Lora" pitchFamily="34" charset="0"/>
                <a:ea typeface="Lora" pitchFamily="34" charset="-122"/>
                <a:cs typeface="Lora" pitchFamily="34" charset="-120"/>
              </a:rPr>
              <a:t>7. Policy Update:</a:t>
            </a:r>
            <a:pPr algn="l" indent="0" marL="0">
              <a:lnSpc>
                <a:spcPts val="2450"/>
              </a:lnSpc>
              <a:buNone/>
            </a:pPr>
            <a:r>
              <a:rPr lang="en-US" sz="1500" dirty="0">
                <a:solidFill>
                  <a:srgbClr val="2C2821"/>
                </a:solidFill>
                <a:latin typeface="Lora" pitchFamily="34" charset="0"/>
                <a:ea typeface="Lora" pitchFamily="34" charset="-122"/>
                <a:cs typeface="Lora" pitchFamily="34" charset="-120"/>
              </a:rPr>
              <a:t> PPO samples experiences to compute advantages using Generalized Advantage Estimation (GAE) with λ=0.95, updating policy via clipped surrogate objective with KL-divergence penalty.</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396835" y="311825"/>
            <a:ext cx="4539853" cy="354330"/>
          </a:xfrm>
          <a:prstGeom prst="rect">
            <a:avLst/>
          </a:prstGeom>
          <a:noFill/>
          <a:ln/>
        </p:spPr>
        <p:txBody>
          <a:bodyPr wrap="none" lIns="0" tIns="0" rIns="0" bIns="0" rtlCol="0" anchor="t"/>
          <a:lstStyle/>
          <a:p>
            <a:pPr algn="l" indent="0" marL="0">
              <a:lnSpc>
                <a:spcPts val="2750"/>
              </a:lnSpc>
              <a:buNone/>
            </a:pPr>
            <a:r>
              <a:rPr lang="en-US" sz="2200" dirty="0">
                <a:solidFill>
                  <a:srgbClr val="233E32"/>
                </a:solidFill>
                <a:latin typeface="Alice" pitchFamily="34" charset="0"/>
                <a:ea typeface="Alice" pitchFamily="34" charset="-122"/>
                <a:cs typeface="Alice" pitchFamily="34" charset="-120"/>
              </a:rPr>
              <a:t>Narrative Critics Results &amp; Analysis</a:t>
            </a:r>
            <a:endParaRPr lang="en-US" sz="2200" dirty="0"/>
          </a:p>
        </p:txBody>
      </p:sp>
      <p:pic>
        <p:nvPicPr>
          <p:cNvPr id="3" name="Image 0" descr="preencoded.png">    </p:cNvPr>
          <p:cNvPicPr>
            <a:picLocks noChangeAspect="1"/>
          </p:cNvPicPr>
          <p:nvPr/>
        </p:nvPicPr>
        <p:blipFill>
          <a:blip r:embed="rId1"/>
          <a:stretch>
            <a:fillRect/>
          </a:stretch>
        </p:blipFill>
        <p:spPr>
          <a:xfrm>
            <a:off x="396835" y="963692"/>
            <a:ext cx="4481870" cy="3104555"/>
          </a:xfrm>
          <a:prstGeom prst="rect">
            <a:avLst/>
          </a:prstGeom>
        </p:spPr>
      </p:pic>
      <p:sp>
        <p:nvSpPr>
          <p:cNvPr id="4" name="Text 1"/>
          <p:cNvSpPr/>
          <p:nvPr/>
        </p:nvSpPr>
        <p:spPr>
          <a:xfrm>
            <a:off x="9013627" y="938213"/>
            <a:ext cx="5227439" cy="181451"/>
          </a:xfrm>
          <a:prstGeom prst="rect">
            <a:avLst/>
          </a:prstGeom>
          <a:noFill/>
          <a:ln/>
        </p:spPr>
        <p:txBody>
          <a:bodyPr wrap="none" lIns="0" tIns="0" rIns="0" bIns="0" rtlCol="0" anchor="t"/>
          <a:lstStyle/>
          <a:p>
            <a:pPr algn="l" indent="0" marL="0">
              <a:lnSpc>
                <a:spcPts val="1400"/>
              </a:lnSpc>
              <a:buNone/>
            </a:pPr>
            <a:endParaRPr lang="en-US" sz="850" dirty="0"/>
          </a:p>
        </p:txBody>
      </p:sp>
      <p:sp>
        <p:nvSpPr>
          <p:cNvPr id="5" name="Text 2"/>
          <p:cNvSpPr/>
          <p:nvPr/>
        </p:nvSpPr>
        <p:spPr>
          <a:xfrm>
            <a:off x="396835" y="4323278"/>
            <a:ext cx="13836729" cy="181451"/>
          </a:xfrm>
          <a:prstGeom prst="rect">
            <a:avLst/>
          </a:prstGeom>
          <a:noFill/>
          <a:ln/>
        </p:spPr>
        <p:txBody>
          <a:bodyPr wrap="none" lIns="0" tIns="0" rIns="0" bIns="0" rtlCol="0" anchor="t"/>
          <a:lstStyle/>
          <a:p>
            <a:pPr algn="l" indent="0" marL="0">
              <a:lnSpc>
                <a:spcPts val="1400"/>
              </a:lnSpc>
              <a:buNone/>
            </a:pPr>
            <a:r>
              <a:rPr lang="en-US" sz="850" b="1" dirty="0">
                <a:solidFill>
                  <a:srgbClr val="2C2821"/>
                </a:solidFill>
                <a:latin typeface="Lora" pitchFamily="34" charset="0"/>
                <a:ea typeface="Lora" pitchFamily="34" charset="-122"/>
                <a:cs typeface="Lora" pitchFamily="34" charset="-120"/>
              </a:rPr>
              <a:t>Model Performance Metrics:</a:t>
            </a:r>
            <a:endParaRPr lang="en-US" sz="850" dirty="0"/>
          </a:p>
        </p:txBody>
      </p:sp>
      <p:sp>
        <p:nvSpPr>
          <p:cNvPr id="6" name="Text 3"/>
          <p:cNvSpPr/>
          <p:nvPr/>
        </p:nvSpPr>
        <p:spPr>
          <a:xfrm>
            <a:off x="396835" y="4632246"/>
            <a:ext cx="13836729" cy="181451"/>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2C2821"/>
                </a:solidFill>
                <a:latin typeface="Lora" pitchFamily="34" charset="0"/>
                <a:ea typeface="Lora" pitchFamily="34" charset="-122"/>
                <a:cs typeface="Lora" pitchFamily="34" charset="-120"/>
              </a:rPr>
              <a:t>Pearson Correlation: 0.9589 (strong alignment with quality labels)</a:t>
            </a:r>
            <a:endParaRPr lang="en-US" sz="850" dirty="0"/>
          </a:p>
        </p:txBody>
      </p:sp>
      <p:sp>
        <p:nvSpPr>
          <p:cNvPr id="7" name="Text 4"/>
          <p:cNvSpPr/>
          <p:nvPr/>
        </p:nvSpPr>
        <p:spPr>
          <a:xfrm>
            <a:off x="396835" y="4853345"/>
            <a:ext cx="13836729" cy="181451"/>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2C2821"/>
                </a:solidFill>
                <a:latin typeface="Lora" pitchFamily="34" charset="0"/>
                <a:ea typeface="Lora" pitchFamily="34" charset="-122"/>
                <a:cs typeface="Lora" pitchFamily="34" charset="-120"/>
              </a:rPr>
              <a:t>Mean Absolute Error (MAE): 0.3882 (average prediction error)</a:t>
            </a:r>
            <a:endParaRPr lang="en-US" sz="850" dirty="0"/>
          </a:p>
        </p:txBody>
      </p:sp>
      <p:sp>
        <p:nvSpPr>
          <p:cNvPr id="8" name="Text 5"/>
          <p:cNvSpPr/>
          <p:nvPr/>
        </p:nvSpPr>
        <p:spPr>
          <a:xfrm>
            <a:off x="396835" y="5074444"/>
            <a:ext cx="13836729" cy="181451"/>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2C2821"/>
                </a:solidFill>
                <a:latin typeface="Lora" pitchFamily="34" charset="0"/>
                <a:ea typeface="Lora" pitchFamily="34" charset="-122"/>
                <a:cs typeface="Lora" pitchFamily="34" charset="-120"/>
              </a:rPr>
              <a:t>Root Mean Square Error (RMSE): 0.4069 (prediction accuracy)</a:t>
            </a:r>
            <a:endParaRPr lang="en-US" sz="850" dirty="0"/>
          </a:p>
        </p:txBody>
      </p:sp>
      <p:sp>
        <p:nvSpPr>
          <p:cNvPr id="9" name="Text 6"/>
          <p:cNvSpPr/>
          <p:nvPr/>
        </p:nvSpPr>
        <p:spPr>
          <a:xfrm>
            <a:off x="396835" y="5295543"/>
            <a:ext cx="13836729" cy="181451"/>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2C2821"/>
                </a:solidFill>
                <a:latin typeface="Lora" pitchFamily="34" charset="0"/>
                <a:ea typeface="Lora" pitchFamily="34" charset="-122"/>
                <a:cs typeface="Lora" pitchFamily="34" charset="-120"/>
              </a:rPr>
              <a:t>Mean Squared Error (MSE): 0.1656 (squared error measure)</a:t>
            </a:r>
            <a:endParaRPr lang="en-US" sz="850" dirty="0"/>
          </a:p>
        </p:txBody>
      </p:sp>
      <p:sp>
        <p:nvSpPr>
          <p:cNvPr id="10" name="Text 7"/>
          <p:cNvSpPr/>
          <p:nvPr/>
        </p:nvSpPr>
        <p:spPr>
          <a:xfrm>
            <a:off x="396835" y="5516642"/>
            <a:ext cx="13836729" cy="181451"/>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2C2821"/>
                </a:solidFill>
                <a:latin typeface="Lora" pitchFamily="34" charset="0"/>
                <a:ea typeface="Lora" pitchFamily="34" charset="-122"/>
                <a:cs typeface="Lora" pitchFamily="34" charset="-120"/>
              </a:rPr>
              <a:t>Accuracy: 0.8222 (82.22% correct classification)</a:t>
            </a:r>
            <a:endParaRPr lang="en-US" sz="850" dirty="0"/>
          </a:p>
        </p:txBody>
      </p:sp>
      <p:sp>
        <p:nvSpPr>
          <p:cNvPr id="11" name="Text 8"/>
          <p:cNvSpPr/>
          <p:nvPr/>
        </p:nvSpPr>
        <p:spPr>
          <a:xfrm>
            <a:off x="396835" y="5737741"/>
            <a:ext cx="13836729" cy="181451"/>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2C2821"/>
                </a:solidFill>
                <a:latin typeface="Lora" pitchFamily="34" charset="0"/>
                <a:ea typeface="Lora" pitchFamily="34" charset="-122"/>
                <a:cs typeface="Lora" pitchFamily="34" charset="-120"/>
              </a:rPr>
              <a:t>Precision: 0.7376 (quality prediction reliability)</a:t>
            </a:r>
            <a:endParaRPr lang="en-US" sz="850" dirty="0"/>
          </a:p>
        </p:txBody>
      </p:sp>
      <p:sp>
        <p:nvSpPr>
          <p:cNvPr id="12" name="Text 9"/>
          <p:cNvSpPr/>
          <p:nvPr/>
        </p:nvSpPr>
        <p:spPr>
          <a:xfrm>
            <a:off x="396835" y="5958840"/>
            <a:ext cx="13836729" cy="181451"/>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2C2821"/>
                </a:solidFill>
                <a:latin typeface="Lora" pitchFamily="34" charset="0"/>
                <a:ea typeface="Lora" pitchFamily="34" charset="-122"/>
                <a:cs typeface="Lora" pitchFamily="34" charset="-120"/>
              </a:rPr>
              <a:t>Recall: 1.0000 (perfect detection of quality examples)</a:t>
            </a:r>
            <a:endParaRPr lang="en-US" sz="850" dirty="0"/>
          </a:p>
        </p:txBody>
      </p:sp>
      <p:sp>
        <p:nvSpPr>
          <p:cNvPr id="13" name="Text 10"/>
          <p:cNvSpPr/>
          <p:nvPr/>
        </p:nvSpPr>
        <p:spPr>
          <a:xfrm>
            <a:off x="396835" y="6179939"/>
            <a:ext cx="13836729" cy="181451"/>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2C2821"/>
                </a:solidFill>
                <a:latin typeface="Lora" pitchFamily="34" charset="0"/>
                <a:ea typeface="Lora" pitchFamily="34" charset="-122"/>
                <a:cs typeface="Lora" pitchFamily="34" charset="-120"/>
              </a:rPr>
              <a:t>F1 Score: 0.8490 (balanced precision-recall)</a:t>
            </a:r>
            <a:endParaRPr lang="en-US" sz="850" dirty="0"/>
          </a:p>
        </p:txBody>
      </p:sp>
      <p:sp>
        <p:nvSpPr>
          <p:cNvPr id="14" name="Text 11"/>
          <p:cNvSpPr/>
          <p:nvPr/>
        </p:nvSpPr>
        <p:spPr>
          <a:xfrm>
            <a:off x="396835" y="6401038"/>
            <a:ext cx="13836729" cy="181451"/>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2C2821"/>
                </a:solidFill>
                <a:latin typeface="Lora" pitchFamily="34" charset="0"/>
                <a:ea typeface="Lora" pitchFamily="34" charset="-122"/>
                <a:cs typeface="Lora" pitchFamily="34" charset="-120"/>
              </a:rPr>
              <a:t>AUC: 0.9945 (excellent discrimination ability)</a:t>
            </a:r>
            <a:endParaRPr lang="en-US" sz="850" dirty="0"/>
          </a:p>
        </p:txBody>
      </p:sp>
      <p:sp>
        <p:nvSpPr>
          <p:cNvPr id="15" name="Text 12"/>
          <p:cNvSpPr/>
          <p:nvPr/>
        </p:nvSpPr>
        <p:spPr>
          <a:xfrm>
            <a:off x="396835" y="6622137"/>
            <a:ext cx="13836729" cy="181451"/>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2C2821"/>
                </a:solidFill>
                <a:latin typeface="Lora" pitchFamily="34" charset="0"/>
                <a:ea typeface="Lora" pitchFamily="34" charset="-122"/>
                <a:cs typeface="Lora" pitchFamily="34" charset="-120"/>
              </a:rPr>
              <a:t>Calibration Error: 0.3562 (confidence calibration)</a:t>
            </a:r>
            <a:endParaRPr lang="en-US" sz="850" dirty="0"/>
          </a:p>
        </p:txBody>
      </p:sp>
      <p:sp>
        <p:nvSpPr>
          <p:cNvPr id="16" name="Text 13"/>
          <p:cNvSpPr/>
          <p:nvPr/>
        </p:nvSpPr>
        <p:spPr>
          <a:xfrm>
            <a:off x="396835" y="6931104"/>
            <a:ext cx="13836729" cy="181451"/>
          </a:xfrm>
          <a:prstGeom prst="rect">
            <a:avLst/>
          </a:prstGeom>
          <a:noFill/>
          <a:ln/>
        </p:spPr>
        <p:txBody>
          <a:bodyPr wrap="none" lIns="0" tIns="0" rIns="0" bIns="0" rtlCol="0" anchor="t"/>
          <a:lstStyle/>
          <a:p>
            <a:pPr algn="l" indent="0" marL="0">
              <a:lnSpc>
                <a:spcPts val="1400"/>
              </a:lnSpc>
              <a:buNone/>
            </a:pPr>
            <a:r>
              <a:rPr lang="en-US" sz="850" b="1" dirty="0">
                <a:solidFill>
                  <a:srgbClr val="2C2821"/>
                </a:solidFill>
                <a:latin typeface="Lora" pitchFamily="34" charset="0"/>
                <a:ea typeface="Lora" pitchFamily="34" charset="-122"/>
                <a:cs typeface="Lora" pitchFamily="34" charset="-120"/>
              </a:rPr>
              <a:t>Comprehensive Model Testing Examples:</a:t>
            </a:r>
            <a:endParaRPr lang="en-US" sz="850" dirty="0"/>
          </a:p>
        </p:txBody>
      </p:sp>
      <p:sp>
        <p:nvSpPr>
          <p:cNvPr id="17" name="Text 14"/>
          <p:cNvSpPr/>
          <p:nvPr/>
        </p:nvSpPr>
        <p:spPr>
          <a:xfrm>
            <a:off x="396835" y="7240072"/>
            <a:ext cx="13836729" cy="181451"/>
          </a:xfrm>
          <a:prstGeom prst="rect">
            <a:avLst/>
          </a:prstGeom>
          <a:noFill/>
          <a:ln/>
        </p:spPr>
        <p:txBody>
          <a:bodyPr wrap="none" lIns="0" tIns="0" rIns="0" bIns="0" rtlCol="0" anchor="t"/>
          <a:lstStyle/>
          <a:p>
            <a:pPr algn="l" indent="0" marL="0">
              <a:lnSpc>
                <a:spcPts val="1400"/>
              </a:lnSpc>
              <a:buNone/>
            </a:pPr>
            <a:r>
              <a:rPr lang="en-US" sz="850" i="1" dirty="0">
                <a:solidFill>
                  <a:srgbClr val="2C2821"/>
                </a:solidFill>
                <a:latin typeface="Lora" pitchFamily="34" charset="0"/>
                <a:ea typeface="Lora" pitchFamily="34" charset="-122"/>
                <a:cs typeface="Lora" pitchFamily="34" charset="-120"/>
              </a:rPr>
              <a:t>High Quality - Descriptive (Correctly Classified):</a:t>
            </a:r>
            <a:endParaRPr lang="en-US" sz="850" dirty="0"/>
          </a:p>
        </p:txBody>
      </p:sp>
      <p:sp>
        <p:nvSpPr>
          <p:cNvPr id="18" name="Shape 15"/>
          <p:cNvSpPr/>
          <p:nvPr/>
        </p:nvSpPr>
        <p:spPr>
          <a:xfrm>
            <a:off x="396835" y="7549039"/>
            <a:ext cx="13836729" cy="895826"/>
          </a:xfrm>
          <a:prstGeom prst="roundRect">
            <a:avLst>
              <a:gd name="adj" fmla="val 1899"/>
            </a:avLst>
          </a:prstGeom>
          <a:solidFill>
            <a:srgbClr val="EFEEEB"/>
          </a:solidFill>
          <a:ln/>
        </p:spPr>
      </p:sp>
      <p:sp>
        <p:nvSpPr>
          <p:cNvPr id="19" name="Shape 16"/>
          <p:cNvSpPr/>
          <p:nvPr/>
        </p:nvSpPr>
        <p:spPr>
          <a:xfrm>
            <a:off x="391239" y="7549039"/>
            <a:ext cx="13847921" cy="895826"/>
          </a:xfrm>
          <a:prstGeom prst="roundRect">
            <a:avLst>
              <a:gd name="adj" fmla="val 1899"/>
            </a:avLst>
          </a:prstGeom>
          <a:solidFill>
            <a:srgbClr val="EFEEEB"/>
          </a:solidFill>
          <a:ln/>
        </p:spPr>
      </p:sp>
      <p:sp>
        <p:nvSpPr>
          <p:cNvPr id="20" name="Text 17"/>
          <p:cNvSpPr/>
          <p:nvPr/>
        </p:nvSpPr>
        <p:spPr>
          <a:xfrm>
            <a:off x="504587" y="7634049"/>
            <a:ext cx="13621226" cy="725805"/>
          </a:xfrm>
          <a:prstGeom prst="rect">
            <a:avLst/>
          </a:prstGeom>
          <a:noFill/>
          <a:ln/>
        </p:spPr>
        <p:txBody>
          <a:bodyPr wrap="square" lIns="0" tIns="0" rIns="0" bIns="0" rtlCol="0" anchor="t"/>
          <a:lstStyle/>
          <a:p>
            <a:pPr algn="l" indent="0" marL="0">
              <a:lnSpc>
                <a:spcPts val="1400"/>
              </a:lnSpc>
              <a:buNone/>
            </a:pPr>
            <a:r>
              <a:rPr lang="en-US" sz="850" dirty="0">
                <a:solidFill>
                  <a:srgbClr val="2C2821"/>
                </a:solidFill>
                <a:highlight>
                  <a:srgbClr val="EFEEEB"/>
                </a:highlight>
                <a:latin typeface="Consolas" pitchFamily="34" charset="0"/>
                <a:ea typeface="Consolas" pitchFamily="34" charset="-122"/>
                <a:cs typeface="Consolas" pitchFamily="34" charset="-120"/>
              </a:rPr>
              <a:t>Text: "The ancient library stretched endlessly before you, its towering shelves groaning..."Predicted: 0.505 | Expected: 0.850 | Difference: 0.345Binary Classification: HIGH (True: HIGH) | Correct: ✓</a:t>
            </a:r>
            <a:endParaRPr lang="en-US" sz="850" dirty="0"/>
          </a:p>
        </p:txBody>
      </p:sp>
      <p:sp>
        <p:nvSpPr>
          <p:cNvPr id="21" name="Text 18"/>
          <p:cNvSpPr/>
          <p:nvPr/>
        </p:nvSpPr>
        <p:spPr>
          <a:xfrm>
            <a:off x="396835" y="8572381"/>
            <a:ext cx="13836729" cy="181451"/>
          </a:xfrm>
          <a:prstGeom prst="rect">
            <a:avLst/>
          </a:prstGeom>
          <a:noFill/>
          <a:ln/>
        </p:spPr>
        <p:txBody>
          <a:bodyPr wrap="none" lIns="0" tIns="0" rIns="0" bIns="0" rtlCol="0" anchor="t"/>
          <a:lstStyle/>
          <a:p>
            <a:pPr algn="l" indent="0" marL="0">
              <a:lnSpc>
                <a:spcPts val="1400"/>
              </a:lnSpc>
              <a:buNone/>
            </a:pPr>
            <a:r>
              <a:rPr lang="en-US" sz="850" i="1" dirty="0">
                <a:solidFill>
                  <a:srgbClr val="2C2821"/>
                </a:solidFill>
                <a:latin typeface="Lora" pitchFamily="34" charset="0"/>
                <a:ea typeface="Lora" pitchFamily="34" charset="-122"/>
                <a:cs typeface="Lora" pitchFamily="34" charset="-120"/>
              </a:rPr>
              <a:t>High Quality - Action (Correctly Classified):</a:t>
            </a:r>
            <a:endParaRPr lang="en-US" sz="850" dirty="0"/>
          </a:p>
        </p:txBody>
      </p:sp>
      <p:sp>
        <p:nvSpPr>
          <p:cNvPr id="22" name="Shape 19"/>
          <p:cNvSpPr/>
          <p:nvPr/>
        </p:nvSpPr>
        <p:spPr>
          <a:xfrm>
            <a:off x="396835" y="8881348"/>
            <a:ext cx="13836729" cy="895826"/>
          </a:xfrm>
          <a:prstGeom prst="roundRect">
            <a:avLst>
              <a:gd name="adj" fmla="val 1899"/>
            </a:avLst>
          </a:prstGeom>
          <a:solidFill>
            <a:srgbClr val="EFEEEB"/>
          </a:solidFill>
          <a:ln/>
        </p:spPr>
      </p:sp>
      <p:sp>
        <p:nvSpPr>
          <p:cNvPr id="23" name="Shape 20"/>
          <p:cNvSpPr/>
          <p:nvPr/>
        </p:nvSpPr>
        <p:spPr>
          <a:xfrm>
            <a:off x="391239" y="8881348"/>
            <a:ext cx="13847921" cy="895826"/>
          </a:xfrm>
          <a:prstGeom prst="roundRect">
            <a:avLst>
              <a:gd name="adj" fmla="val 1899"/>
            </a:avLst>
          </a:prstGeom>
          <a:solidFill>
            <a:srgbClr val="EFEEEB"/>
          </a:solidFill>
          <a:ln/>
        </p:spPr>
      </p:sp>
      <p:sp>
        <p:nvSpPr>
          <p:cNvPr id="24" name="Text 21"/>
          <p:cNvSpPr/>
          <p:nvPr/>
        </p:nvSpPr>
        <p:spPr>
          <a:xfrm>
            <a:off x="504587" y="8966359"/>
            <a:ext cx="13621226" cy="725805"/>
          </a:xfrm>
          <a:prstGeom prst="rect">
            <a:avLst/>
          </a:prstGeom>
          <a:noFill/>
          <a:ln/>
        </p:spPr>
        <p:txBody>
          <a:bodyPr wrap="square" lIns="0" tIns="0" rIns="0" bIns="0" rtlCol="0" anchor="t"/>
          <a:lstStyle/>
          <a:p>
            <a:pPr algn="l" indent="0" marL="0">
              <a:lnSpc>
                <a:spcPts val="1400"/>
              </a:lnSpc>
              <a:buNone/>
            </a:pPr>
            <a:r>
              <a:rPr lang="en-US" sz="850" dirty="0">
                <a:solidFill>
                  <a:srgbClr val="2C2821"/>
                </a:solidFill>
                <a:highlight>
                  <a:srgbClr val="EFEEEB"/>
                </a:highlight>
                <a:latin typeface="Consolas" pitchFamily="34" charset="0"/>
                <a:ea typeface="Consolas" pitchFamily="34" charset="-122"/>
                <a:cs typeface="Consolas" pitchFamily="34" charset="-120"/>
              </a:rPr>
              <a:t>Text: "Your blade finds its mark with a satisfying thud, cutting deep across the orc's..."Predicted: 0.504 | Expected: 0.800 | Difference: 0.296Binary Classification: HIGH (True: HIGH) | Correct: ✓</a:t>
            </a:r>
            <a:endParaRPr lang="en-US" sz="850" dirty="0"/>
          </a:p>
        </p:txBody>
      </p:sp>
      <p:sp>
        <p:nvSpPr>
          <p:cNvPr id="25" name="Text 22"/>
          <p:cNvSpPr/>
          <p:nvPr/>
        </p:nvSpPr>
        <p:spPr>
          <a:xfrm>
            <a:off x="396835" y="9904690"/>
            <a:ext cx="13836729" cy="181451"/>
          </a:xfrm>
          <a:prstGeom prst="rect">
            <a:avLst/>
          </a:prstGeom>
          <a:noFill/>
          <a:ln/>
        </p:spPr>
        <p:txBody>
          <a:bodyPr wrap="none" lIns="0" tIns="0" rIns="0" bIns="0" rtlCol="0" anchor="t"/>
          <a:lstStyle/>
          <a:p>
            <a:pPr algn="l" indent="0" marL="0">
              <a:lnSpc>
                <a:spcPts val="1400"/>
              </a:lnSpc>
              <a:buNone/>
            </a:pPr>
            <a:r>
              <a:rPr lang="en-US" sz="850" i="1" dirty="0">
                <a:solidFill>
                  <a:srgbClr val="2C2821"/>
                </a:solidFill>
                <a:latin typeface="Lora" pitchFamily="34" charset="0"/>
                <a:ea typeface="Lora" pitchFamily="34" charset="-122"/>
                <a:cs typeface="Lora" pitchFamily="34" charset="-120"/>
              </a:rPr>
              <a:t>Low Quality - Vague (Correctly Classified):</a:t>
            </a:r>
            <a:endParaRPr lang="en-US" sz="850" dirty="0"/>
          </a:p>
        </p:txBody>
      </p:sp>
      <p:sp>
        <p:nvSpPr>
          <p:cNvPr id="26" name="Shape 23"/>
          <p:cNvSpPr/>
          <p:nvPr/>
        </p:nvSpPr>
        <p:spPr>
          <a:xfrm>
            <a:off x="396835" y="10213658"/>
            <a:ext cx="13836729" cy="714375"/>
          </a:xfrm>
          <a:prstGeom prst="roundRect">
            <a:avLst>
              <a:gd name="adj" fmla="val 2381"/>
            </a:avLst>
          </a:prstGeom>
          <a:solidFill>
            <a:srgbClr val="EFEEEB"/>
          </a:solidFill>
          <a:ln/>
        </p:spPr>
      </p:sp>
      <p:sp>
        <p:nvSpPr>
          <p:cNvPr id="27" name="Shape 24"/>
          <p:cNvSpPr/>
          <p:nvPr/>
        </p:nvSpPr>
        <p:spPr>
          <a:xfrm>
            <a:off x="391239" y="10213658"/>
            <a:ext cx="13847921" cy="714375"/>
          </a:xfrm>
          <a:prstGeom prst="roundRect">
            <a:avLst>
              <a:gd name="adj" fmla="val 2381"/>
            </a:avLst>
          </a:prstGeom>
          <a:solidFill>
            <a:srgbClr val="EFEEEB"/>
          </a:solidFill>
          <a:ln/>
        </p:spPr>
      </p:sp>
      <p:sp>
        <p:nvSpPr>
          <p:cNvPr id="28" name="Text 25"/>
          <p:cNvSpPr/>
          <p:nvPr/>
        </p:nvSpPr>
        <p:spPr>
          <a:xfrm>
            <a:off x="504587" y="10298668"/>
            <a:ext cx="13621226" cy="544354"/>
          </a:xfrm>
          <a:prstGeom prst="rect">
            <a:avLst/>
          </a:prstGeom>
          <a:noFill/>
          <a:ln/>
        </p:spPr>
        <p:txBody>
          <a:bodyPr wrap="square" lIns="0" tIns="0" rIns="0" bIns="0" rtlCol="0" anchor="t"/>
          <a:lstStyle/>
          <a:p>
            <a:pPr algn="l" indent="0" marL="0">
              <a:lnSpc>
                <a:spcPts val="1400"/>
              </a:lnSpc>
              <a:buNone/>
            </a:pPr>
            <a:r>
              <a:rPr lang="en-US" sz="850" dirty="0">
                <a:solidFill>
                  <a:srgbClr val="2C2821"/>
                </a:solidFill>
                <a:highlight>
                  <a:srgbClr val="EFEEEB"/>
                </a:highlight>
                <a:latin typeface="Consolas" pitchFamily="34" charset="0"/>
                <a:ea typeface="Consolas" pitchFamily="34" charset="-122"/>
                <a:cs typeface="Consolas" pitchFamily="34" charset="-120"/>
              </a:rPr>
              <a:t>Text: "The thing happens and then the other thing happens too. Stuff occurs..."Predicted: 0.497 | Expected: 0.100 | Difference: 0.397Binary Classification: LOW (True: LOW) | Correct: ✓</a:t>
            </a:r>
            <a:endParaRPr lang="en-US" sz="850" dirty="0"/>
          </a:p>
        </p:txBody>
      </p:sp>
      <p:sp>
        <p:nvSpPr>
          <p:cNvPr id="29" name="Text 26"/>
          <p:cNvSpPr/>
          <p:nvPr/>
        </p:nvSpPr>
        <p:spPr>
          <a:xfrm>
            <a:off x="396835" y="11055548"/>
            <a:ext cx="13836729" cy="181451"/>
          </a:xfrm>
          <a:prstGeom prst="rect">
            <a:avLst/>
          </a:prstGeom>
          <a:noFill/>
          <a:ln/>
        </p:spPr>
        <p:txBody>
          <a:bodyPr wrap="none" lIns="0" tIns="0" rIns="0" bIns="0" rtlCol="0" anchor="t"/>
          <a:lstStyle/>
          <a:p>
            <a:pPr algn="l" indent="0" marL="0">
              <a:lnSpc>
                <a:spcPts val="1400"/>
              </a:lnSpc>
              <a:buNone/>
            </a:pPr>
            <a:r>
              <a:rPr lang="en-US" sz="850" i="1" dirty="0">
                <a:solidFill>
                  <a:srgbClr val="2C2821"/>
                </a:solidFill>
                <a:latin typeface="Lora" pitchFamily="34" charset="0"/>
                <a:ea typeface="Lora" pitchFamily="34" charset="-122"/>
                <a:cs typeface="Lora" pitchFamily="34" charset="-120"/>
              </a:rPr>
              <a:t>Low Quality - Generic (Correctly Classified):</a:t>
            </a:r>
            <a:endParaRPr lang="en-US" sz="850" dirty="0"/>
          </a:p>
        </p:txBody>
      </p:sp>
      <p:sp>
        <p:nvSpPr>
          <p:cNvPr id="30" name="Shape 27"/>
          <p:cNvSpPr/>
          <p:nvPr/>
        </p:nvSpPr>
        <p:spPr>
          <a:xfrm>
            <a:off x="396835" y="11364516"/>
            <a:ext cx="13836729" cy="714375"/>
          </a:xfrm>
          <a:prstGeom prst="roundRect">
            <a:avLst>
              <a:gd name="adj" fmla="val 2381"/>
            </a:avLst>
          </a:prstGeom>
          <a:solidFill>
            <a:srgbClr val="EFEEEB"/>
          </a:solidFill>
          <a:ln/>
        </p:spPr>
      </p:sp>
      <p:sp>
        <p:nvSpPr>
          <p:cNvPr id="31" name="Shape 28"/>
          <p:cNvSpPr/>
          <p:nvPr/>
        </p:nvSpPr>
        <p:spPr>
          <a:xfrm>
            <a:off x="391239" y="11364516"/>
            <a:ext cx="13847921" cy="714375"/>
          </a:xfrm>
          <a:prstGeom prst="roundRect">
            <a:avLst>
              <a:gd name="adj" fmla="val 2381"/>
            </a:avLst>
          </a:prstGeom>
          <a:solidFill>
            <a:srgbClr val="EFEEEB"/>
          </a:solidFill>
          <a:ln/>
        </p:spPr>
      </p:sp>
      <p:sp>
        <p:nvSpPr>
          <p:cNvPr id="32" name="Text 29"/>
          <p:cNvSpPr/>
          <p:nvPr/>
        </p:nvSpPr>
        <p:spPr>
          <a:xfrm>
            <a:off x="504587" y="11449526"/>
            <a:ext cx="13621226" cy="544354"/>
          </a:xfrm>
          <a:prstGeom prst="rect">
            <a:avLst/>
          </a:prstGeom>
          <a:noFill/>
          <a:ln/>
        </p:spPr>
        <p:txBody>
          <a:bodyPr wrap="square" lIns="0" tIns="0" rIns="0" bIns="0" rtlCol="0" anchor="t"/>
          <a:lstStyle/>
          <a:p>
            <a:pPr algn="l" indent="0" marL="0">
              <a:lnSpc>
                <a:spcPts val="1400"/>
              </a:lnSpc>
              <a:buNone/>
            </a:pPr>
            <a:r>
              <a:rPr lang="en-US" sz="850" dirty="0">
                <a:solidFill>
                  <a:srgbClr val="2C2821"/>
                </a:solidFill>
                <a:highlight>
                  <a:srgbClr val="EFEEEB"/>
                </a:highlight>
                <a:latin typeface="Consolas" pitchFamily="34" charset="0"/>
                <a:ea typeface="Consolas" pitchFamily="34" charset="-122"/>
                <a:cs typeface="Consolas" pitchFamily="34" charset="-120"/>
              </a:rPr>
              <a:t>Text: "You walk into the room and look around. There are some things there..."Predicted: 0.492 | Expected: 0.250 | Difference: 0.242Binary Classification: LOW (True: LOW) | Correct: ✓</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08052" y="477679"/>
            <a:ext cx="6404015" cy="542925"/>
          </a:xfrm>
          <a:prstGeom prst="rect">
            <a:avLst/>
          </a:prstGeom>
          <a:noFill/>
          <a:ln/>
        </p:spPr>
        <p:txBody>
          <a:bodyPr wrap="none" lIns="0" tIns="0" rIns="0" bIns="0" rtlCol="0" anchor="t"/>
          <a:lstStyle/>
          <a:p>
            <a:pPr algn="l" indent="0" marL="0">
              <a:lnSpc>
                <a:spcPts val="4250"/>
              </a:lnSpc>
              <a:buNone/>
            </a:pPr>
            <a:r>
              <a:rPr lang="en-US" sz="3400" dirty="0">
                <a:solidFill>
                  <a:srgbClr val="233E32"/>
                </a:solidFill>
                <a:latin typeface="Alice" pitchFamily="34" charset="0"/>
                <a:ea typeface="Alice" pitchFamily="34" charset="-122"/>
                <a:cs typeface="Alice" pitchFamily="34" charset="-120"/>
              </a:rPr>
              <a:t>Causal Critics Results &amp; Analysis</a:t>
            </a:r>
            <a:endParaRPr lang="en-US" sz="3400" dirty="0"/>
          </a:p>
        </p:txBody>
      </p:sp>
      <p:sp>
        <p:nvSpPr>
          <p:cNvPr id="3" name="Text 1"/>
          <p:cNvSpPr/>
          <p:nvPr/>
        </p:nvSpPr>
        <p:spPr>
          <a:xfrm>
            <a:off x="608052" y="1090017"/>
            <a:ext cx="6430447" cy="325755"/>
          </a:xfrm>
          <a:prstGeom prst="rect">
            <a:avLst/>
          </a:prstGeom>
          <a:noFill/>
          <a:ln/>
        </p:spPr>
        <p:txBody>
          <a:bodyPr wrap="none" lIns="0" tIns="0" rIns="0" bIns="0" rtlCol="0" anchor="t"/>
          <a:lstStyle/>
          <a:p>
            <a:pPr algn="l" indent="0" marL="0">
              <a:lnSpc>
                <a:spcPts val="2550"/>
              </a:lnSpc>
              <a:buNone/>
            </a:pPr>
            <a:r>
              <a:rPr lang="en-US" sz="2050" b="1" dirty="0">
                <a:solidFill>
                  <a:srgbClr val="233E32"/>
                </a:solidFill>
                <a:latin typeface="Alice" pitchFamily="34" charset="0"/>
                <a:ea typeface="Alice" pitchFamily="34" charset="-122"/>
                <a:cs typeface="Alice" pitchFamily="34" charset="-120"/>
              </a:rPr>
              <a:t>Causal Critic: NLI-Based Causal Consistency Evaluation</a:t>
            </a:r>
            <a:endParaRPr lang="en-US" sz="2050" dirty="0"/>
          </a:p>
        </p:txBody>
      </p:sp>
      <p:sp>
        <p:nvSpPr>
          <p:cNvPr id="4" name="Text 2"/>
          <p:cNvSpPr/>
          <p:nvPr/>
        </p:nvSpPr>
        <p:spPr>
          <a:xfrm>
            <a:off x="608052" y="1676281"/>
            <a:ext cx="13414296" cy="277892"/>
          </a:xfrm>
          <a:prstGeom prst="rect">
            <a:avLst/>
          </a:prstGeom>
          <a:noFill/>
          <a:ln/>
        </p:spPr>
        <p:txBody>
          <a:bodyPr wrap="none" lIns="0" tIns="0" rIns="0" bIns="0" rtlCol="0" anchor="t"/>
          <a:lstStyle/>
          <a:p>
            <a:pPr algn="l" indent="0" marL="0">
              <a:lnSpc>
                <a:spcPts val="2150"/>
              </a:lnSpc>
              <a:buNone/>
            </a:pPr>
            <a:r>
              <a:rPr lang="en-US" sz="1350" b="1" dirty="0">
                <a:solidFill>
                  <a:srgbClr val="2C2821"/>
                </a:solidFill>
                <a:latin typeface="Lora" pitchFamily="34" charset="0"/>
                <a:ea typeface="Lora" pitchFamily="34" charset="-122"/>
                <a:cs typeface="Lora" pitchFamily="34" charset="-120"/>
              </a:rPr>
              <a:t>Model Architecture:</a:t>
            </a:r>
            <a:endParaRPr lang="en-US" sz="1350" dirty="0"/>
          </a:p>
        </p:txBody>
      </p:sp>
      <p:sp>
        <p:nvSpPr>
          <p:cNvPr id="5" name="Text 3"/>
          <p:cNvSpPr/>
          <p:nvPr/>
        </p:nvSpPr>
        <p:spPr>
          <a:xfrm>
            <a:off x="608052" y="2149554"/>
            <a:ext cx="13414296" cy="277892"/>
          </a:xfrm>
          <a:prstGeom prst="rect">
            <a:avLst/>
          </a:prstGeom>
          <a:noFill/>
          <a:ln/>
        </p:spPr>
        <p:txBody>
          <a:bodyPr wrap="none" lIns="0" tIns="0" rIns="0" bIns="0" rtlCol="0" anchor="t"/>
          <a:lstStyle/>
          <a:p>
            <a:pPr algn="l" marL="342900" indent="-342900">
              <a:lnSpc>
                <a:spcPts val="2150"/>
              </a:lnSpc>
              <a:buSzPct val="100000"/>
              <a:buChar char="•"/>
            </a:pPr>
            <a:r>
              <a:rPr lang="en-US" sz="1350" dirty="0">
                <a:solidFill>
                  <a:srgbClr val="2C2821"/>
                </a:solidFill>
                <a:latin typeface="Lora" pitchFamily="34" charset="0"/>
                <a:ea typeface="Lora" pitchFamily="34" charset="-122"/>
                <a:cs typeface="Lora" pitchFamily="34" charset="-120"/>
              </a:rPr>
              <a:t>Pre-trained DeBERTa-v3-base-mnli-fever-anli (NLI model)</a:t>
            </a:r>
            <a:endParaRPr lang="en-US" sz="1350" dirty="0"/>
          </a:p>
        </p:txBody>
      </p:sp>
      <p:sp>
        <p:nvSpPr>
          <p:cNvPr id="6" name="Text 4"/>
          <p:cNvSpPr/>
          <p:nvPr/>
        </p:nvSpPr>
        <p:spPr>
          <a:xfrm>
            <a:off x="608052" y="2488168"/>
            <a:ext cx="13414296" cy="277892"/>
          </a:xfrm>
          <a:prstGeom prst="rect">
            <a:avLst/>
          </a:prstGeom>
          <a:noFill/>
          <a:ln/>
        </p:spPr>
        <p:txBody>
          <a:bodyPr wrap="none" lIns="0" tIns="0" rIns="0" bIns="0" rtlCol="0" anchor="t"/>
          <a:lstStyle/>
          <a:p>
            <a:pPr algn="l" marL="342900" indent="-342900">
              <a:lnSpc>
                <a:spcPts val="2150"/>
              </a:lnSpc>
              <a:buSzPct val="100000"/>
              <a:buChar char="•"/>
            </a:pPr>
            <a:r>
              <a:rPr lang="en-US" sz="1350" dirty="0">
                <a:solidFill>
                  <a:srgbClr val="2C2821"/>
                </a:solidFill>
                <a:latin typeface="Lora" pitchFamily="34" charset="0"/>
                <a:ea typeface="Lora" pitchFamily="34" charset="-122"/>
                <a:cs typeface="Lora" pitchFamily="34" charset="-120"/>
              </a:rPr>
              <a:t>Zero-shot evaluation (no domain-specific training required)</a:t>
            </a:r>
            <a:endParaRPr lang="en-US" sz="1350" dirty="0"/>
          </a:p>
        </p:txBody>
      </p:sp>
      <p:sp>
        <p:nvSpPr>
          <p:cNvPr id="7" name="Text 5"/>
          <p:cNvSpPr/>
          <p:nvPr/>
        </p:nvSpPr>
        <p:spPr>
          <a:xfrm>
            <a:off x="608052" y="2826782"/>
            <a:ext cx="13414296" cy="277892"/>
          </a:xfrm>
          <a:prstGeom prst="rect">
            <a:avLst/>
          </a:prstGeom>
          <a:noFill/>
          <a:ln/>
        </p:spPr>
        <p:txBody>
          <a:bodyPr wrap="none" lIns="0" tIns="0" rIns="0" bIns="0" rtlCol="0" anchor="t"/>
          <a:lstStyle/>
          <a:p>
            <a:pPr algn="l" marL="342900" indent="-342900">
              <a:lnSpc>
                <a:spcPts val="2150"/>
              </a:lnSpc>
              <a:buSzPct val="100000"/>
              <a:buChar char="•"/>
            </a:pPr>
            <a:r>
              <a:rPr lang="en-US" sz="1350" dirty="0">
                <a:solidFill>
                  <a:srgbClr val="2C2821"/>
                </a:solidFill>
                <a:latin typeface="Lora" pitchFamily="34" charset="0"/>
                <a:ea typeface="Lora" pitchFamily="34" charset="-122"/>
                <a:cs typeface="Lora" pitchFamily="34" charset="-120"/>
              </a:rPr>
              <a:t>Converts NLI probabilities → causal consistency scores (0.0-1.0)</a:t>
            </a:r>
            <a:endParaRPr lang="en-US" sz="1350" dirty="0"/>
          </a:p>
        </p:txBody>
      </p:sp>
      <p:sp>
        <p:nvSpPr>
          <p:cNvPr id="8" name="Text 6"/>
          <p:cNvSpPr/>
          <p:nvPr/>
        </p:nvSpPr>
        <p:spPr>
          <a:xfrm>
            <a:off x="608052" y="3300055"/>
            <a:ext cx="13414296" cy="277892"/>
          </a:xfrm>
          <a:prstGeom prst="rect">
            <a:avLst/>
          </a:prstGeom>
          <a:noFill/>
          <a:ln/>
        </p:spPr>
        <p:txBody>
          <a:bodyPr wrap="none" lIns="0" tIns="0" rIns="0" bIns="0" rtlCol="0" anchor="t"/>
          <a:lstStyle/>
          <a:p>
            <a:pPr algn="l" indent="0" marL="0">
              <a:lnSpc>
                <a:spcPts val="2150"/>
              </a:lnSpc>
              <a:buNone/>
            </a:pPr>
            <a:r>
              <a:rPr lang="en-US" sz="1350" b="1" dirty="0">
                <a:solidFill>
                  <a:srgbClr val="2C2821"/>
                </a:solidFill>
                <a:latin typeface="Lora" pitchFamily="34" charset="0"/>
                <a:ea typeface="Lora" pitchFamily="34" charset="-122"/>
                <a:cs typeface="Lora" pitchFamily="34" charset="-120"/>
              </a:rPr>
              <a:t>Overall Performance:</a:t>
            </a:r>
            <a:endParaRPr lang="en-US" sz="1350" dirty="0"/>
          </a:p>
        </p:txBody>
      </p:sp>
      <p:sp>
        <p:nvSpPr>
          <p:cNvPr id="9" name="Text 7"/>
          <p:cNvSpPr/>
          <p:nvPr/>
        </p:nvSpPr>
        <p:spPr>
          <a:xfrm>
            <a:off x="608052" y="3773329"/>
            <a:ext cx="13414296" cy="277892"/>
          </a:xfrm>
          <a:prstGeom prst="rect">
            <a:avLst/>
          </a:prstGeom>
          <a:noFill/>
          <a:ln/>
        </p:spPr>
        <p:txBody>
          <a:bodyPr wrap="none" lIns="0" tIns="0" rIns="0" bIns="0" rtlCol="0" anchor="t"/>
          <a:lstStyle/>
          <a:p>
            <a:pPr algn="l" marL="342900" indent="-342900">
              <a:lnSpc>
                <a:spcPts val="2150"/>
              </a:lnSpc>
              <a:buSzPct val="100000"/>
              <a:buChar char="•"/>
            </a:pPr>
            <a:r>
              <a:rPr lang="en-US" sz="1350" dirty="0">
                <a:solidFill>
                  <a:srgbClr val="2C2821"/>
                </a:solidFill>
                <a:latin typeface="Lora" pitchFamily="34" charset="0"/>
                <a:ea typeface="Lora" pitchFamily="34" charset="-122"/>
                <a:cs typeface="Lora" pitchFamily="34" charset="-120"/>
              </a:rPr>
              <a:t>Test Accuracy: 88.09%</a:t>
            </a:r>
            <a:endParaRPr lang="en-US" sz="1350" dirty="0"/>
          </a:p>
        </p:txBody>
      </p:sp>
      <p:sp>
        <p:nvSpPr>
          <p:cNvPr id="10" name="Text 8"/>
          <p:cNvSpPr/>
          <p:nvPr/>
        </p:nvSpPr>
        <p:spPr>
          <a:xfrm>
            <a:off x="608052" y="4111943"/>
            <a:ext cx="13414296" cy="277892"/>
          </a:xfrm>
          <a:prstGeom prst="rect">
            <a:avLst/>
          </a:prstGeom>
          <a:noFill/>
          <a:ln/>
        </p:spPr>
        <p:txBody>
          <a:bodyPr wrap="none" lIns="0" tIns="0" rIns="0" bIns="0" rtlCol="0" anchor="t"/>
          <a:lstStyle/>
          <a:p>
            <a:pPr algn="l" marL="342900" indent="-342900">
              <a:lnSpc>
                <a:spcPts val="2150"/>
              </a:lnSpc>
              <a:buSzPct val="100000"/>
              <a:buChar char="•"/>
            </a:pPr>
            <a:r>
              <a:rPr lang="en-US" sz="1350" dirty="0">
                <a:solidFill>
                  <a:srgbClr val="2C2821"/>
                </a:solidFill>
                <a:latin typeface="Lora" pitchFamily="34" charset="0"/>
                <a:ea typeface="Lora" pitchFamily="34" charset="-122"/>
                <a:cs typeface="Lora" pitchFamily="34" charset="-120"/>
              </a:rPr>
              <a:t>Macro F1: 88.15%</a:t>
            </a:r>
            <a:endParaRPr lang="en-US" sz="1350" dirty="0"/>
          </a:p>
        </p:txBody>
      </p:sp>
      <p:sp>
        <p:nvSpPr>
          <p:cNvPr id="11" name="Text 9"/>
          <p:cNvSpPr/>
          <p:nvPr/>
        </p:nvSpPr>
        <p:spPr>
          <a:xfrm>
            <a:off x="608052" y="4450556"/>
            <a:ext cx="13414296" cy="277892"/>
          </a:xfrm>
          <a:prstGeom prst="rect">
            <a:avLst/>
          </a:prstGeom>
          <a:noFill/>
          <a:ln/>
        </p:spPr>
        <p:txBody>
          <a:bodyPr wrap="none" lIns="0" tIns="0" rIns="0" bIns="0" rtlCol="0" anchor="t"/>
          <a:lstStyle/>
          <a:p>
            <a:pPr algn="l" marL="342900" indent="-342900">
              <a:lnSpc>
                <a:spcPts val="2150"/>
              </a:lnSpc>
              <a:buSzPct val="100000"/>
              <a:buChar char="•"/>
            </a:pPr>
            <a:r>
              <a:rPr lang="en-US" sz="1350" dirty="0">
                <a:solidFill>
                  <a:srgbClr val="2C2821"/>
                </a:solidFill>
                <a:latin typeface="Lora" pitchFamily="34" charset="0"/>
                <a:ea typeface="Lora" pitchFamily="34" charset="-122"/>
                <a:cs typeface="Lora" pitchFamily="34" charset="-120"/>
              </a:rPr>
              <a:t>Macro Precision: 88.23%</a:t>
            </a:r>
            <a:endParaRPr lang="en-US" sz="1350" dirty="0"/>
          </a:p>
        </p:txBody>
      </p:sp>
      <p:sp>
        <p:nvSpPr>
          <p:cNvPr id="12" name="Text 10"/>
          <p:cNvSpPr/>
          <p:nvPr/>
        </p:nvSpPr>
        <p:spPr>
          <a:xfrm>
            <a:off x="608052" y="4789170"/>
            <a:ext cx="13414296" cy="277892"/>
          </a:xfrm>
          <a:prstGeom prst="rect">
            <a:avLst/>
          </a:prstGeom>
          <a:noFill/>
          <a:ln/>
        </p:spPr>
        <p:txBody>
          <a:bodyPr wrap="none" lIns="0" tIns="0" rIns="0" bIns="0" rtlCol="0" anchor="t"/>
          <a:lstStyle/>
          <a:p>
            <a:pPr algn="l" marL="342900" indent="-342900">
              <a:lnSpc>
                <a:spcPts val="2150"/>
              </a:lnSpc>
              <a:buSzPct val="100000"/>
              <a:buChar char="•"/>
            </a:pPr>
            <a:r>
              <a:rPr lang="en-US" sz="1350" dirty="0">
                <a:solidFill>
                  <a:srgbClr val="2C2821"/>
                </a:solidFill>
                <a:latin typeface="Lora" pitchFamily="34" charset="0"/>
                <a:ea typeface="Lora" pitchFamily="34" charset="-122"/>
                <a:cs typeface="Lora" pitchFamily="34" charset="-120"/>
              </a:rPr>
              <a:t>Macro Recall: 88.09%</a:t>
            </a:r>
            <a:endParaRPr lang="en-US" sz="1350" dirty="0"/>
          </a:p>
        </p:txBody>
      </p:sp>
      <p:sp>
        <p:nvSpPr>
          <p:cNvPr id="13" name="Text 11"/>
          <p:cNvSpPr/>
          <p:nvPr/>
        </p:nvSpPr>
        <p:spPr>
          <a:xfrm>
            <a:off x="608052" y="5262443"/>
            <a:ext cx="13414296" cy="277892"/>
          </a:xfrm>
          <a:prstGeom prst="rect">
            <a:avLst/>
          </a:prstGeom>
          <a:noFill/>
          <a:ln/>
        </p:spPr>
        <p:txBody>
          <a:bodyPr wrap="none" lIns="0" tIns="0" rIns="0" bIns="0" rtlCol="0" anchor="t"/>
          <a:lstStyle/>
          <a:p>
            <a:pPr algn="l" indent="0" marL="0">
              <a:lnSpc>
                <a:spcPts val="2150"/>
              </a:lnSpc>
              <a:buNone/>
            </a:pPr>
            <a:r>
              <a:rPr lang="en-US" sz="1350" b="1" dirty="0">
                <a:solidFill>
                  <a:srgbClr val="2C2821"/>
                </a:solidFill>
                <a:latin typeface="Lora" pitchFamily="34" charset="0"/>
                <a:ea typeface="Lora" pitchFamily="34" charset="-122"/>
                <a:cs typeface="Lora" pitchFamily="34" charset="-120"/>
              </a:rPr>
              <a:t>Per-Class Performance:</a:t>
            </a:r>
            <a:endParaRPr lang="en-US" sz="1350" dirty="0"/>
          </a:p>
        </p:txBody>
      </p:sp>
      <p:sp>
        <p:nvSpPr>
          <p:cNvPr id="14" name="Shape 12"/>
          <p:cNvSpPr/>
          <p:nvPr/>
        </p:nvSpPr>
        <p:spPr>
          <a:xfrm>
            <a:off x="608052" y="5735717"/>
            <a:ext cx="13414296" cy="2021205"/>
          </a:xfrm>
          <a:prstGeom prst="roundRect">
            <a:avLst>
              <a:gd name="adj" fmla="val 1289"/>
            </a:avLst>
          </a:prstGeom>
          <a:noFill/>
          <a:ln w="7620">
            <a:solidFill>
              <a:srgbClr val="000000">
                <a:alpha val="8000"/>
              </a:srgbClr>
            </a:solidFill>
            <a:prstDash val="solid"/>
          </a:ln>
        </p:spPr>
      </p:sp>
      <p:sp>
        <p:nvSpPr>
          <p:cNvPr id="15" name="Shape 13"/>
          <p:cNvSpPr/>
          <p:nvPr/>
        </p:nvSpPr>
        <p:spPr>
          <a:xfrm>
            <a:off x="615672" y="5743337"/>
            <a:ext cx="13399056" cy="501491"/>
          </a:xfrm>
          <a:prstGeom prst="rect">
            <a:avLst/>
          </a:prstGeom>
          <a:solidFill>
            <a:srgbClr val="FFFFFF">
              <a:alpha val="4000"/>
            </a:srgbClr>
          </a:solidFill>
          <a:ln/>
        </p:spPr>
      </p:sp>
      <p:sp>
        <p:nvSpPr>
          <p:cNvPr id="16" name="Text 14"/>
          <p:cNvSpPr/>
          <p:nvPr/>
        </p:nvSpPr>
        <p:spPr>
          <a:xfrm>
            <a:off x="789623" y="5855137"/>
            <a:ext cx="2998470" cy="277892"/>
          </a:xfrm>
          <a:prstGeom prst="rect">
            <a:avLst/>
          </a:prstGeom>
          <a:noFill/>
          <a:ln/>
        </p:spPr>
        <p:txBody>
          <a:bodyPr wrap="none" lIns="0" tIns="0" rIns="0" bIns="0" rtlCol="0" anchor="t"/>
          <a:lstStyle/>
          <a:p>
            <a:pPr algn="l" indent="0" marL="0">
              <a:lnSpc>
                <a:spcPts val="2150"/>
              </a:lnSpc>
              <a:buNone/>
            </a:pPr>
            <a:r>
              <a:rPr lang="en-US" sz="1350" b="1" dirty="0">
                <a:solidFill>
                  <a:srgbClr val="2C2821"/>
                </a:solidFill>
                <a:latin typeface="Lora" pitchFamily="34" charset="0"/>
                <a:ea typeface="Lora" pitchFamily="34" charset="-122"/>
                <a:cs typeface="Lora" pitchFamily="34" charset="-120"/>
              </a:rPr>
              <a:t>Class</a:t>
            </a:r>
            <a:endParaRPr lang="en-US" sz="1350" dirty="0"/>
          </a:p>
        </p:txBody>
      </p:sp>
      <p:sp>
        <p:nvSpPr>
          <p:cNvPr id="17" name="Text 15"/>
          <p:cNvSpPr/>
          <p:nvPr/>
        </p:nvSpPr>
        <p:spPr>
          <a:xfrm>
            <a:off x="4143137" y="5855137"/>
            <a:ext cx="2994660" cy="277892"/>
          </a:xfrm>
          <a:prstGeom prst="rect">
            <a:avLst/>
          </a:prstGeom>
          <a:noFill/>
          <a:ln/>
        </p:spPr>
        <p:txBody>
          <a:bodyPr wrap="none" lIns="0" tIns="0" rIns="0" bIns="0" rtlCol="0" anchor="t"/>
          <a:lstStyle/>
          <a:p>
            <a:pPr algn="l" indent="0" marL="0">
              <a:lnSpc>
                <a:spcPts val="2150"/>
              </a:lnSpc>
              <a:buNone/>
            </a:pPr>
            <a:r>
              <a:rPr lang="en-US" sz="1350" b="1" dirty="0">
                <a:solidFill>
                  <a:srgbClr val="2C2821"/>
                </a:solidFill>
                <a:latin typeface="Lora" pitchFamily="34" charset="0"/>
                <a:ea typeface="Lora" pitchFamily="34" charset="-122"/>
                <a:cs typeface="Lora" pitchFamily="34" charset="-120"/>
              </a:rPr>
              <a:t>Precision</a:t>
            </a:r>
            <a:endParaRPr lang="en-US" sz="1350" dirty="0"/>
          </a:p>
        </p:txBody>
      </p:sp>
      <p:sp>
        <p:nvSpPr>
          <p:cNvPr id="18" name="Text 16"/>
          <p:cNvSpPr/>
          <p:nvPr/>
        </p:nvSpPr>
        <p:spPr>
          <a:xfrm>
            <a:off x="7492841" y="5855137"/>
            <a:ext cx="2994660" cy="277892"/>
          </a:xfrm>
          <a:prstGeom prst="rect">
            <a:avLst/>
          </a:prstGeom>
          <a:noFill/>
          <a:ln/>
        </p:spPr>
        <p:txBody>
          <a:bodyPr wrap="none" lIns="0" tIns="0" rIns="0" bIns="0" rtlCol="0" anchor="t"/>
          <a:lstStyle/>
          <a:p>
            <a:pPr algn="l" indent="0" marL="0">
              <a:lnSpc>
                <a:spcPts val="2150"/>
              </a:lnSpc>
              <a:buNone/>
            </a:pPr>
            <a:r>
              <a:rPr lang="en-US" sz="1350" b="1" dirty="0">
                <a:solidFill>
                  <a:srgbClr val="2C2821"/>
                </a:solidFill>
                <a:latin typeface="Lora" pitchFamily="34" charset="0"/>
                <a:ea typeface="Lora" pitchFamily="34" charset="-122"/>
                <a:cs typeface="Lora" pitchFamily="34" charset="-120"/>
              </a:rPr>
              <a:t>Recall</a:t>
            </a:r>
            <a:endParaRPr lang="en-US" sz="1350" dirty="0"/>
          </a:p>
        </p:txBody>
      </p:sp>
      <p:sp>
        <p:nvSpPr>
          <p:cNvPr id="19" name="Text 17"/>
          <p:cNvSpPr/>
          <p:nvPr/>
        </p:nvSpPr>
        <p:spPr>
          <a:xfrm>
            <a:off x="10842546" y="5855137"/>
            <a:ext cx="2998470" cy="277892"/>
          </a:xfrm>
          <a:prstGeom prst="rect">
            <a:avLst/>
          </a:prstGeom>
          <a:noFill/>
          <a:ln/>
        </p:spPr>
        <p:txBody>
          <a:bodyPr wrap="none" lIns="0" tIns="0" rIns="0" bIns="0" rtlCol="0" anchor="t"/>
          <a:lstStyle/>
          <a:p>
            <a:pPr algn="l" indent="0" marL="0">
              <a:lnSpc>
                <a:spcPts val="2150"/>
              </a:lnSpc>
              <a:buNone/>
            </a:pPr>
            <a:r>
              <a:rPr lang="en-US" sz="1350" b="1" dirty="0">
                <a:solidFill>
                  <a:srgbClr val="2C2821"/>
                </a:solidFill>
                <a:latin typeface="Lora" pitchFamily="34" charset="0"/>
                <a:ea typeface="Lora" pitchFamily="34" charset="-122"/>
                <a:cs typeface="Lora" pitchFamily="34" charset="-120"/>
              </a:rPr>
              <a:t>F1-Score</a:t>
            </a:r>
            <a:endParaRPr lang="en-US" sz="1350" dirty="0"/>
          </a:p>
        </p:txBody>
      </p:sp>
      <p:sp>
        <p:nvSpPr>
          <p:cNvPr id="20" name="Shape 18"/>
          <p:cNvSpPr/>
          <p:nvPr/>
        </p:nvSpPr>
        <p:spPr>
          <a:xfrm>
            <a:off x="615672" y="6244828"/>
            <a:ext cx="13399056" cy="501491"/>
          </a:xfrm>
          <a:prstGeom prst="rect">
            <a:avLst/>
          </a:prstGeom>
          <a:solidFill>
            <a:srgbClr val="000000">
              <a:alpha val="4000"/>
            </a:srgbClr>
          </a:solidFill>
          <a:ln/>
        </p:spPr>
      </p:sp>
      <p:sp>
        <p:nvSpPr>
          <p:cNvPr id="21" name="Text 19"/>
          <p:cNvSpPr/>
          <p:nvPr/>
        </p:nvSpPr>
        <p:spPr>
          <a:xfrm>
            <a:off x="789623" y="6356628"/>
            <a:ext cx="2998470" cy="277892"/>
          </a:xfrm>
          <a:prstGeom prst="rect">
            <a:avLst/>
          </a:prstGeom>
          <a:noFill/>
          <a:ln/>
        </p:spPr>
        <p:txBody>
          <a:bodyPr wrap="none" lIns="0" tIns="0" rIns="0" bIns="0" rtlCol="0" anchor="t"/>
          <a:lstStyle/>
          <a:p>
            <a:pPr algn="l" indent="0" marL="0">
              <a:lnSpc>
                <a:spcPts val="2150"/>
              </a:lnSpc>
              <a:buNone/>
            </a:pPr>
            <a:r>
              <a:rPr lang="en-US" sz="1350" dirty="0">
                <a:solidFill>
                  <a:srgbClr val="2C2821"/>
                </a:solidFill>
                <a:latin typeface="Lora" pitchFamily="34" charset="0"/>
                <a:ea typeface="Lora" pitchFamily="34" charset="-122"/>
                <a:cs typeface="Lora" pitchFamily="34" charset="-120"/>
              </a:rPr>
              <a:t>Contradiction (0)</a:t>
            </a:r>
            <a:endParaRPr lang="en-US" sz="1350" dirty="0"/>
          </a:p>
        </p:txBody>
      </p:sp>
      <p:sp>
        <p:nvSpPr>
          <p:cNvPr id="22" name="Text 20"/>
          <p:cNvSpPr/>
          <p:nvPr/>
        </p:nvSpPr>
        <p:spPr>
          <a:xfrm>
            <a:off x="4143137" y="6356628"/>
            <a:ext cx="2994660" cy="277892"/>
          </a:xfrm>
          <a:prstGeom prst="rect">
            <a:avLst/>
          </a:prstGeom>
          <a:noFill/>
          <a:ln/>
        </p:spPr>
        <p:txBody>
          <a:bodyPr wrap="none" lIns="0" tIns="0" rIns="0" bIns="0" rtlCol="0" anchor="t"/>
          <a:lstStyle/>
          <a:p>
            <a:pPr algn="l" indent="0" marL="0">
              <a:lnSpc>
                <a:spcPts val="2150"/>
              </a:lnSpc>
              <a:buNone/>
            </a:pPr>
            <a:r>
              <a:rPr lang="en-US" sz="1350" dirty="0">
                <a:solidFill>
                  <a:srgbClr val="2C2821"/>
                </a:solidFill>
                <a:latin typeface="Lora" pitchFamily="34" charset="0"/>
                <a:ea typeface="Lora" pitchFamily="34" charset="-122"/>
                <a:cs typeface="Lora" pitchFamily="34" charset="-120"/>
              </a:rPr>
              <a:t>82.83%</a:t>
            </a:r>
            <a:endParaRPr lang="en-US" sz="1350" dirty="0"/>
          </a:p>
        </p:txBody>
      </p:sp>
      <p:sp>
        <p:nvSpPr>
          <p:cNvPr id="23" name="Text 21"/>
          <p:cNvSpPr/>
          <p:nvPr/>
        </p:nvSpPr>
        <p:spPr>
          <a:xfrm>
            <a:off x="7492841" y="6356628"/>
            <a:ext cx="2994660" cy="277892"/>
          </a:xfrm>
          <a:prstGeom prst="rect">
            <a:avLst/>
          </a:prstGeom>
          <a:noFill/>
          <a:ln/>
        </p:spPr>
        <p:txBody>
          <a:bodyPr wrap="none" lIns="0" tIns="0" rIns="0" bIns="0" rtlCol="0" anchor="t"/>
          <a:lstStyle/>
          <a:p>
            <a:pPr algn="l" indent="0" marL="0">
              <a:lnSpc>
                <a:spcPts val="2150"/>
              </a:lnSpc>
              <a:buNone/>
            </a:pPr>
            <a:r>
              <a:rPr lang="en-US" sz="1350" dirty="0">
                <a:solidFill>
                  <a:srgbClr val="2C2821"/>
                </a:solidFill>
                <a:latin typeface="Lora" pitchFamily="34" charset="0"/>
                <a:ea typeface="Lora" pitchFamily="34" charset="-122"/>
                <a:cs typeface="Lora" pitchFamily="34" charset="-120"/>
              </a:rPr>
              <a:t>83.49%</a:t>
            </a:r>
            <a:endParaRPr lang="en-US" sz="1350" dirty="0"/>
          </a:p>
        </p:txBody>
      </p:sp>
      <p:sp>
        <p:nvSpPr>
          <p:cNvPr id="24" name="Text 22"/>
          <p:cNvSpPr/>
          <p:nvPr/>
        </p:nvSpPr>
        <p:spPr>
          <a:xfrm>
            <a:off x="10842546" y="6356628"/>
            <a:ext cx="2998470" cy="277892"/>
          </a:xfrm>
          <a:prstGeom prst="rect">
            <a:avLst/>
          </a:prstGeom>
          <a:noFill/>
          <a:ln/>
        </p:spPr>
        <p:txBody>
          <a:bodyPr wrap="none" lIns="0" tIns="0" rIns="0" bIns="0" rtlCol="0" anchor="t"/>
          <a:lstStyle/>
          <a:p>
            <a:pPr algn="l" indent="0" marL="0">
              <a:lnSpc>
                <a:spcPts val="2150"/>
              </a:lnSpc>
              <a:buNone/>
            </a:pPr>
            <a:r>
              <a:rPr lang="en-US" sz="1350" dirty="0">
                <a:solidFill>
                  <a:srgbClr val="2C2821"/>
                </a:solidFill>
                <a:latin typeface="Lora" pitchFamily="34" charset="0"/>
                <a:ea typeface="Lora" pitchFamily="34" charset="-122"/>
                <a:cs typeface="Lora" pitchFamily="34" charset="-120"/>
              </a:rPr>
              <a:t>83.16%</a:t>
            </a:r>
            <a:endParaRPr lang="en-US" sz="1350" dirty="0"/>
          </a:p>
        </p:txBody>
      </p:sp>
      <p:sp>
        <p:nvSpPr>
          <p:cNvPr id="25" name="Shape 23"/>
          <p:cNvSpPr/>
          <p:nvPr/>
        </p:nvSpPr>
        <p:spPr>
          <a:xfrm>
            <a:off x="615672" y="6746319"/>
            <a:ext cx="13399056" cy="501491"/>
          </a:xfrm>
          <a:prstGeom prst="rect">
            <a:avLst/>
          </a:prstGeom>
          <a:solidFill>
            <a:srgbClr val="FFFFFF">
              <a:alpha val="4000"/>
            </a:srgbClr>
          </a:solidFill>
          <a:ln/>
        </p:spPr>
      </p:sp>
      <p:sp>
        <p:nvSpPr>
          <p:cNvPr id="26" name="Text 24"/>
          <p:cNvSpPr/>
          <p:nvPr/>
        </p:nvSpPr>
        <p:spPr>
          <a:xfrm>
            <a:off x="789623" y="6858119"/>
            <a:ext cx="2998470" cy="277892"/>
          </a:xfrm>
          <a:prstGeom prst="rect">
            <a:avLst/>
          </a:prstGeom>
          <a:noFill/>
          <a:ln/>
        </p:spPr>
        <p:txBody>
          <a:bodyPr wrap="none" lIns="0" tIns="0" rIns="0" bIns="0" rtlCol="0" anchor="t"/>
          <a:lstStyle/>
          <a:p>
            <a:pPr algn="l" indent="0" marL="0">
              <a:lnSpc>
                <a:spcPts val="2150"/>
              </a:lnSpc>
              <a:buNone/>
            </a:pPr>
            <a:r>
              <a:rPr lang="en-US" sz="1350" dirty="0">
                <a:solidFill>
                  <a:srgbClr val="2C2821"/>
                </a:solidFill>
                <a:latin typeface="Lora" pitchFamily="34" charset="0"/>
                <a:ea typeface="Lora" pitchFamily="34" charset="-122"/>
                <a:cs typeface="Lora" pitchFamily="34" charset="-120"/>
              </a:rPr>
              <a:t>Neutral (1)</a:t>
            </a:r>
            <a:endParaRPr lang="en-US" sz="1350" dirty="0"/>
          </a:p>
        </p:txBody>
      </p:sp>
      <p:sp>
        <p:nvSpPr>
          <p:cNvPr id="27" name="Text 25"/>
          <p:cNvSpPr/>
          <p:nvPr/>
        </p:nvSpPr>
        <p:spPr>
          <a:xfrm>
            <a:off x="4143137" y="6858119"/>
            <a:ext cx="2994660" cy="277892"/>
          </a:xfrm>
          <a:prstGeom prst="rect">
            <a:avLst/>
          </a:prstGeom>
          <a:noFill/>
          <a:ln/>
        </p:spPr>
        <p:txBody>
          <a:bodyPr wrap="none" lIns="0" tIns="0" rIns="0" bIns="0" rtlCol="0" anchor="t"/>
          <a:lstStyle/>
          <a:p>
            <a:pPr algn="l" indent="0" marL="0">
              <a:lnSpc>
                <a:spcPts val="2150"/>
              </a:lnSpc>
              <a:buNone/>
            </a:pPr>
            <a:r>
              <a:rPr lang="en-US" sz="1350" dirty="0">
                <a:solidFill>
                  <a:srgbClr val="2C2821"/>
                </a:solidFill>
                <a:latin typeface="Lora" pitchFamily="34" charset="0"/>
                <a:ea typeface="Lora" pitchFamily="34" charset="-122"/>
                <a:cs typeface="Lora" pitchFamily="34" charset="-120"/>
              </a:rPr>
              <a:t>96.11%</a:t>
            </a:r>
            <a:endParaRPr lang="en-US" sz="1350" dirty="0"/>
          </a:p>
        </p:txBody>
      </p:sp>
      <p:sp>
        <p:nvSpPr>
          <p:cNvPr id="28" name="Text 26"/>
          <p:cNvSpPr/>
          <p:nvPr/>
        </p:nvSpPr>
        <p:spPr>
          <a:xfrm>
            <a:off x="7492841" y="6858119"/>
            <a:ext cx="2994660" cy="277892"/>
          </a:xfrm>
          <a:prstGeom prst="rect">
            <a:avLst/>
          </a:prstGeom>
          <a:noFill/>
          <a:ln/>
        </p:spPr>
        <p:txBody>
          <a:bodyPr wrap="none" lIns="0" tIns="0" rIns="0" bIns="0" rtlCol="0" anchor="t"/>
          <a:lstStyle/>
          <a:p>
            <a:pPr algn="l" indent="0" marL="0">
              <a:lnSpc>
                <a:spcPts val="2150"/>
              </a:lnSpc>
              <a:buNone/>
            </a:pPr>
            <a:r>
              <a:rPr lang="en-US" sz="1350" dirty="0">
                <a:solidFill>
                  <a:srgbClr val="2C2821"/>
                </a:solidFill>
                <a:latin typeface="Lora" pitchFamily="34" charset="0"/>
                <a:ea typeface="Lora" pitchFamily="34" charset="-122"/>
                <a:cs typeface="Lora" pitchFamily="34" charset="-120"/>
              </a:rPr>
              <a:t>92.54%</a:t>
            </a:r>
            <a:endParaRPr lang="en-US" sz="1350" dirty="0"/>
          </a:p>
        </p:txBody>
      </p:sp>
      <p:sp>
        <p:nvSpPr>
          <p:cNvPr id="29" name="Text 27"/>
          <p:cNvSpPr/>
          <p:nvPr/>
        </p:nvSpPr>
        <p:spPr>
          <a:xfrm>
            <a:off x="10842546" y="6858119"/>
            <a:ext cx="2998470" cy="277892"/>
          </a:xfrm>
          <a:prstGeom prst="rect">
            <a:avLst/>
          </a:prstGeom>
          <a:noFill/>
          <a:ln/>
        </p:spPr>
        <p:txBody>
          <a:bodyPr wrap="none" lIns="0" tIns="0" rIns="0" bIns="0" rtlCol="0" anchor="t"/>
          <a:lstStyle/>
          <a:p>
            <a:pPr algn="l" indent="0" marL="0">
              <a:lnSpc>
                <a:spcPts val="2150"/>
              </a:lnSpc>
              <a:buNone/>
            </a:pPr>
            <a:r>
              <a:rPr lang="en-US" sz="1350" dirty="0">
                <a:solidFill>
                  <a:srgbClr val="2C2821"/>
                </a:solidFill>
                <a:latin typeface="Lora" pitchFamily="34" charset="0"/>
                <a:ea typeface="Lora" pitchFamily="34" charset="-122"/>
                <a:cs typeface="Lora" pitchFamily="34" charset="-120"/>
              </a:rPr>
              <a:t>94.29%</a:t>
            </a:r>
            <a:endParaRPr lang="en-US" sz="1350" dirty="0"/>
          </a:p>
        </p:txBody>
      </p:sp>
      <p:sp>
        <p:nvSpPr>
          <p:cNvPr id="30" name="Shape 28"/>
          <p:cNvSpPr/>
          <p:nvPr/>
        </p:nvSpPr>
        <p:spPr>
          <a:xfrm>
            <a:off x="615672" y="7247811"/>
            <a:ext cx="13399056" cy="501491"/>
          </a:xfrm>
          <a:prstGeom prst="rect">
            <a:avLst/>
          </a:prstGeom>
          <a:solidFill>
            <a:srgbClr val="000000">
              <a:alpha val="4000"/>
            </a:srgbClr>
          </a:solidFill>
          <a:ln/>
        </p:spPr>
      </p:sp>
      <p:sp>
        <p:nvSpPr>
          <p:cNvPr id="31" name="Text 29"/>
          <p:cNvSpPr/>
          <p:nvPr/>
        </p:nvSpPr>
        <p:spPr>
          <a:xfrm>
            <a:off x="789623" y="7359610"/>
            <a:ext cx="2998470" cy="277892"/>
          </a:xfrm>
          <a:prstGeom prst="rect">
            <a:avLst/>
          </a:prstGeom>
          <a:noFill/>
          <a:ln/>
        </p:spPr>
        <p:txBody>
          <a:bodyPr wrap="none" lIns="0" tIns="0" rIns="0" bIns="0" rtlCol="0" anchor="t"/>
          <a:lstStyle/>
          <a:p>
            <a:pPr algn="l" indent="0" marL="0">
              <a:lnSpc>
                <a:spcPts val="2150"/>
              </a:lnSpc>
              <a:buNone/>
            </a:pPr>
            <a:r>
              <a:rPr lang="en-US" sz="1350" dirty="0">
                <a:solidFill>
                  <a:srgbClr val="2C2821"/>
                </a:solidFill>
                <a:latin typeface="Lora" pitchFamily="34" charset="0"/>
                <a:ea typeface="Lora" pitchFamily="34" charset="-122"/>
                <a:cs typeface="Lora" pitchFamily="34" charset="-120"/>
              </a:rPr>
              <a:t>Entailment (2)</a:t>
            </a:r>
            <a:endParaRPr lang="en-US" sz="1350" dirty="0"/>
          </a:p>
        </p:txBody>
      </p:sp>
      <p:sp>
        <p:nvSpPr>
          <p:cNvPr id="32" name="Text 30"/>
          <p:cNvSpPr/>
          <p:nvPr/>
        </p:nvSpPr>
        <p:spPr>
          <a:xfrm>
            <a:off x="4143137" y="7359610"/>
            <a:ext cx="2994660" cy="277892"/>
          </a:xfrm>
          <a:prstGeom prst="rect">
            <a:avLst/>
          </a:prstGeom>
          <a:noFill/>
          <a:ln/>
        </p:spPr>
        <p:txBody>
          <a:bodyPr wrap="none" lIns="0" tIns="0" rIns="0" bIns="0" rtlCol="0" anchor="t"/>
          <a:lstStyle/>
          <a:p>
            <a:pPr algn="l" indent="0" marL="0">
              <a:lnSpc>
                <a:spcPts val="2150"/>
              </a:lnSpc>
              <a:buNone/>
            </a:pPr>
            <a:r>
              <a:rPr lang="en-US" sz="1350" dirty="0">
                <a:solidFill>
                  <a:srgbClr val="2C2821"/>
                </a:solidFill>
                <a:latin typeface="Lora" pitchFamily="34" charset="0"/>
                <a:ea typeface="Lora" pitchFamily="34" charset="-122"/>
                <a:cs typeface="Lora" pitchFamily="34" charset="-120"/>
              </a:rPr>
              <a:t>85.76%</a:t>
            </a:r>
            <a:endParaRPr lang="en-US" sz="1350" dirty="0"/>
          </a:p>
        </p:txBody>
      </p:sp>
      <p:sp>
        <p:nvSpPr>
          <p:cNvPr id="33" name="Text 31"/>
          <p:cNvSpPr/>
          <p:nvPr/>
        </p:nvSpPr>
        <p:spPr>
          <a:xfrm>
            <a:off x="7492841" y="7359610"/>
            <a:ext cx="2994660" cy="277892"/>
          </a:xfrm>
          <a:prstGeom prst="rect">
            <a:avLst/>
          </a:prstGeom>
          <a:noFill/>
          <a:ln/>
        </p:spPr>
        <p:txBody>
          <a:bodyPr wrap="none" lIns="0" tIns="0" rIns="0" bIns="0" rtlCol="0" anchor="t"/>
          <a:lstStyle/>
          <a:p>
            <a:pPr algn="l" indent="0" marL="0">
              <a:lnSpc>
                <a:spcPts val="2150"/>
              </a:lnSpc>
              <a:buNone/>
            </a:pPr>
            <a:r>
              <a:rPr lang="en-US" sz="1350" dirty="0">
                <a:solidFill>
                  <a:srgbClr val="2C2821"/>
                </a:solidFill>
                <a:latin typeface="Lora" pitchFamily="34" charset="0"/>
                <a:ea typeface="Lora" pitchFamily="34" charset="-122"/>
                <a:cs typeface="Lora" pitchFamily="34" charset="-120"/>
              </a:rPr>
              <a:t>88.25%</a:t>
            </a:r>
            <a:endParaRPr lang="en-US" sz="1350" dirty="0"/>
          </a:p>
        </p:txBody>
      </p:sp>
      <p:sp>
        <p:nvSpPr>
          <p:cNvPr id="34" name="Text 32"/>
          <p:cNvSpPr/>
          <p:nvPr/>
        </p:nvSpPr>
        <p:spPr>
          <a:xfrm>
            <a:off x="10842546" y="7359610"/>
            <a:ext cx="2998470" cy="277892"/>
          </a:xfrm>
          <a:prstGeom prst="rect">
            <a:avLst/>
          </a:prstGeom>
          <a:noFill/>
          <a:ln/>
        </p:spPr>
        <p:txBody>
          <a:bodyPr wrap="none" lIns="0" tIns="0" rIns="0" bIns="0" rtlCol="0" anchor="t"/>
          <a:lstStyle/>
          <a:p>
            <a:pPr algn="l" indent="0" marL="0">
              <a:lnSpc>
                <a:spcPts val="2150"/>
              </a:lnSpc>
              <a:buNone/>
            </a:pPr>
            <a:r>
              <a:rPr lang="en-US" sz="1350" dirty="0">
                <a:solidFill>
                  <a:srgbClr val="2C2821"/>
                </a:solidFill>
                <a:latin typeface="Lora" pitchFamily="34" charset="0"/>
                <a:ea typeface="Lora" pitchFamily="34" charset="-122"/>
                <a:cs typeface="Lora" pitchFamily="34" charset="-120"/>
              </a:rPr>
              <a:t>86.99%</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396835" y="311825"/>
            <a:ext cx="5711904" cy="354330"/>
          </a:xfrm>
          <a:prstGeom prst="rect">
            <a:avLst/>
          </a:prstGeom>
          <a:noFill/>
          <a:ln/>
        </p:spPr>
        <p:txBody>
          <a:bodyPr wrap="none" lIns="0" tIns="0" rIns="0" bIns="0" rtlCol="0" anchor="t"/>
          <a:lstStyle/>
          <a:p>
            <a:pPr algn="l" indent="0" marL="0">
              <a:lnSpc>
                <a:spcPts val="2750"/>
              </a:lnSpc>
              <a:buNone/>
            </a:pPr>
            <a:r>
              <a:rPr lang="en-US" sz="2200" dirty="0">
                <a:solidFill>
                  <a:srgbClr val="233E32"/>
                </a:solidFill>
                <a:latin typeface="Alice" pitchFamily="34" charset="0"/>
                <a:ea typeface="Alice" pitchFamily="34" charset="-122"/>
                <a:cs typeface="Alice" pitchFamily="34" charset="-120"/>
              </a:rPr>
              <a:t>World Consistency Critics Results &amp; Analysis</a:t>
            </a:r>
            <a:endParaRPr lang="en-US" sz="2200" dirty="0"/>
          </a:p>
        </p:txBody>
      </p:sp>
      <p:sp>
        <p:nvSpPr>
          <p:cNvPr id="3" name="Text 1"/>
          <p:cNvSpPr/>
          <p:nvPr/>
        </p:nvSpPr>
        <p:spPr>
          <a:xfrm>
            <a:off x="396835" y="892969"/>
            <a:ext cx="13836729" cy="181451"/>
          </a:xfrm>
          <a:prstGeom prst="rect">
            <a:avLst/>
          </a:prstGeom>
          <a:noFill/>
          <a:ln/>
        </p:spPr>
        <p:txBody>
          <a:bodyPr wrap="none" lIns="0" tIns="0" rIns="0" bIns="0" rtlCol="0" anchor="t"/>
          <a:lstStyle/>
          <a:p>
            <a:pPr algn="l" indent="0" marL="0">
              <a:lnSpc>
                <a:spcPts val="1400"/>
              </a:lnSpc>
              <a:buNone/>
            </a:pPr>
            <a:r>
              <a:rPr lang="en-US" sz="850" b="1" dirty="0">
                <a:solidFill>
                  <a:srgbClr val="2C2821"/>
                </a:solidFill>
                <a:latin typeface="Lora" pitchFamily="34" charset="0"/>
                <a:ea typeface="Lora" pitchFamily="34" charset="-122"/>
                <a:cs typeface="Lora" pitchFamily="34" charset="-120"/>
              </a:rPr>
              <a:t>Model Architecture:</a:t>
            </a:r>
            <a:endParaRPr lang="en-US" sz="850" dirty="0"/>
          </a:p>
        </p:txBody>
      </p:sp>
      <p:sp>
        <p:nvSpPr>
          <p:cNvPr id="4" name="Text 2"/>
          <p:cNvSpPr/>
          <p:nvPr/>
        </p:nvSpPr>
        <p:spPr>
          <a:xfrm>
            <a:off x="396835" y="1201936"/>
            <a:ext cx="13836729" cy="181451"/>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2C2821"/>
                </a:solidFill>
                <a:latin typeface="Lora" pitchFamily="34" charset="0"/>
                <a:ea typeface="Lora" pitchFamily="34" charset="-122"/>
                <a:cs typeface="Lora" pitchFamily="34" charset="-120"/>
              </a:rPr>
              <a:t>DeBERTa-v3-small (141M parameters)</a:t>
            </a:r>
            <a:endParaRPr lang="en-US" sz="850" dirty="0"/>
          </a:p>
        </p:txBody>
      </p:sp>
      <p:sp>
        <p:nvSpPr>
          <p:cNvPr id="5" name="Text 3"/>
          <p:cNvSpPr/>
          <p:nvPr/>
        </p:nvSpPr>
        <p:spPr>
          <a:xfrm>
            <a:off x="396835" y="1423035"/>
            <a:ext cx="13836729" cy="181451"/>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2C2821"/>
                </a:solidFill>
                <a:latin typeface="Lora" pitchFamily="34" charset="0"/>
                <a:ea typeface="Lora" pitchFamily="34" charset="-122"/>
                <a:cs typeface="Lora" pitchFamily="34" charset="-120"/>
              </a:rPr>
              <a:t>4-class classification: Contradiction / Hallucination / Amnesia / Consistent</a:t>
            </a:r>
            <a:endParaRPr lang="en-US" sz="850" dirty="0"/>
          </a:p>
        </p:txBody>
      </p:sp>
      <p:sp>
        <p:nvSpPr>
          <p:cNvPr id="6" name="Text 4"/>
          <p:cNvSpPr/>
          <p:nvPr/>
        </p:nvSpPr>
        <p:spPr>
          <a:xfrm>
            <a:off x="396835" y="1644134"/>
            <a:ext cx="13836729" cy="181451"/>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2C2821"/>
                </a:solidFill>
                <a:latin typeface="Lora" pitchFamily="34" charset="0"/>
                <a:ea typeface="Lora" pitchFamily="34" charset="-122"/>
                <a:cs typeface="Lora" pitchFamily="34" charset="-120"/>
              </a:rPr>
              <a:t>Training: 38,436 examples from CRD3 with systematic corruption</a:t>
            </a:r>
            <a:endParaRPr lang="en-US" sz="850" dirty="0"/>
          </a:p>
        </p:txBody>
      </p:sp>
      <p:sp>
        <p:nvSpPr>
          <p:cNvPr id="7" name="Text 5"/>
          <p:cNvSpPr/>
          <p:nvPr/>
        </p:nvSpPr>
        <p:spPr>
          <a:xfrm>
            <a:off x="396835" y="1953101"/>
            <a:ext cx="13836729" cy="181451"/>
          </a:xfrm>
          <a:prstGeom prst="rect">
            <a:avLst/>
          </a:prstGeom>
          <a:noFill/>
          <a:ln/>
        </p:spPr>
        <p:txBody>
          <a:bodyPr wrap="none" lIns="0" tIns="0" rIns="0" bIns="0" rtlCol="0" anchor="t"/>
          <a:lstStyle/>
          <a:p>
            <a:pPr algn="l" indent="0" marL="0">
              <a:lnSpc>
                <a:spcPts val="1400"/>
              </a:lnSpc>
              <a:buNone/>
            </a:pPr>
            <a:r>
              <a:rPr lang="en-US" sz="850" b="1" dirty="0">
                <a:solidFill>
                  <a:srgbClr val="2C2821"/>
                </a:solidFill>
                <a:latin typeface="Lora" pitchFamily="34" charset="0"/>
                <a:ea typeface="Lora" pitchFamily="34" charset="-122"/>
                <a:cs typeface="Lora" pitchFamily="34" charset="-120"/>
              </a:rPr>
              <a:t>Performance Metrics:</a:t>
            </a:r>
            <a:endParaRPr lang="en-US" sz="850" dirty="0"/>
          </a:p>
        </p:txBody>
      </p:sp>
      <p:pic>
        <p:nvPicPr>
          <p:cNvPr id="8" name="Image 0" descr="preencoded.png">    </p:cNvPr>
          <p:cNvPicPr>
            <a:picLocks noChangeAspect="1"/>
          </p:cNvPicPr>
          <p:nvPr/>
        </p:nvPicPr>
        <p:blipFill>
          <a:blip r:embed="rId1"/>
          <a:stretch>
            <a:fillRect/>
          </a:stretch>
        </p:blipFill>
        <p:spPr>
          <a:xfrm>
            <a:off x="396835" y="2262068"/>
            <a:ext cx="3979545" cy="3104674"/>
          </a:xfrm>
          <a:prstGeom prst="rect">
            <a:avLst/>
          </a:prstGeom>
        </p:spPr>
      </p:pic>
      <p:sp>
        <p:nvSpPr>
          <p:cNvPr id="9" name="Text 6"/>
          <p:cNvSpPr/>
          <p:nvPr/>
        </p:nvSpPr>
        <p:spPr>
          <a:xfrm>
            <a:off x="396835" y="5494258"/>
            <a:ext cx="13836729" cy="181451"/>
          </a:xfrm>
          <a:prstGeom prst="rect">
            <a:avLst/>
          </a:prstGeom>
          <a:noFill/>
          <a:ln/>
        </p:spPr>
        <p:txBody>
          <a:bodyPr wrap="none" lIns="0" tIns="0" rIns="0" bIns="0" rtlCol="0" anchor="t"/>
          <a:lstStyle/>
          <a:p>
            <a:pPr algn="l" marL="342900" indent="-342900">
              <a:lnSpc>
                <a:spcPts val="1400"/>
              </a:lnSpc>
              <a:buSzPct val="100000"/>
              <a:buChar char="•"/>
            </a:pPr>
            <a:r>
              <a:rPr lang="en-US" sz="850" b="1" dirty="0">
                <a:solidFill>
                  <a:srgbClr val="2C2821"/>
                </a:solidFill>
                <a:latin typeface="Lora" pitchFamily="34" charset="0"/>
                <a:ea typeface="Lora" pitchFamily="34" charset="-122"/>
                <a:cs typeface="Lora" pitchFamily="34" charset="-120"/>
              </a:rPr>
              <a:t>Overall Accuracy:</a:t>
            </a:r>
            <a:pPr algn="l" indent="0" marL="0">
              <a:lnSpc>
                <a:spcPts val="1400"/>
              </a:lnSpc>
              <a:buNone/>
            </a:pPr>
            <a:r>
              <a:rPr lang="en-US" sz="850" dirty="0">
                <a:solidFill>
                  <a:srgbClr val="2C2821"/>
                </a:solidFill>
                <a:latin typeface="Lora" pitchFamily="34" charset="0"/>
                <a:ea typeface="Lora" pitchFamily="34" charset="-122"/>
                <a:cs typeface="Lora" pitchFamily="34" charset="-120"/>
              </a:rPr>
              <a:t> 98.39%</a:t>
            </a:r>
            <a:endParaRPr lang="en-US" sz="850" dirty="0"/>
          </a:p>
        </p:txBody>
      </p:sp>
      <p:sp>
        <p:nvSpPr>
          <p:cNvPr id="10" name="Text 7"/>
          <p:cNvSpPr/>
          <p:nvPr/>
        </p:nvSpPr>
        <p:spPr>
          <a:xfrm>
            <a:off x="396835" y="5715357"/>
            <a:ext cx="13836729" cy="181451"/>
          </a:xfrm>
          <a:prstGeom prst="rect">
            <a:avLst/>
          </a:prstGeom>
          <a:noFill/>
          <a:ln/>
        </p:spPr>
        <p:txBody>
          <a:bodyPr wrap="none" lIns="0" tIns="0" rIns="0" bIns="0" rtlCol="0" anchor="t"/>
          <a:lstStyle/>
          <a:p>
            <a:pPr algn="l" marL="342900" indent="-342900">
              <a:lnSpc>
                <a:spcPts val="1400"/>
              </a:lnSpc>
              <a:buSzPct val="100000"/>
              <a:buChar char="•"/>
            </a:pPr>
            <a:r>
              <a:rPr lang="en-US" sz="850" b="1" dirty="0">
                <a:solidFill>
                  <a:srgbClr val="2C2821"/>
                </a:solidFill>
                <a:latin typeface="Lora" pitchFamily="34" charset="0"/>
                <a:ea typeface="Lora" pitchFamily="34" charset="-122"/>
                <a:cs typeface="Lora" pitchFamily="34" charset="-120"/>
              </a:rPr>
              <a:t>Macro F1 Score:</a:t>
            </a:r>
            <a:pPr algn="l" indent="0" marL="0">
              <a:lnSpc>
                <a:spcPts val="1400"/>
              </a:lnSpc>
              <a:buNone/>
            </a:pPr>
            <a:r>
              <a:rPr lang="en-US" sz="850" dirty="0">
                <a:solidFill>
                  <a:srgbClr val="2C2821"/>
                </a:solidFill>
                <a:latin typeface="Lora" pitchFamily="34" charset="0"/>
                <a:ea typeface="Lora" pitchFamily="34" charset="-122"/>
                <a:cs typeface="Lora" pitchFamily="34" charset="-120"/>
              </a:rPr>
              <a:t> 98.37%</a:t>
            </a:r>
            <a:endParaRPr lang="en-US" sz="850" dirty="0"/>
          </a:p>
        </p:txBody>
      </p:sp>
      <p:sp>
        <p:nvSpPr>
          <p:cNvPr id="11" name="Text 8"/>
          <p:cNvSpPr/>
          <p:nvPr/>
        </p:nvSpPr>
        <p:spPr>
          <a:xfrm>
            <a:off x="396835" y="5936456"/>
            <a:ext cx="13836729" cy="181451"/>
          </a:xfrm>
          <a:prstGeom prst="rect">
            <a:avLst/>
          </a:prstGeom>
          <a:noFill/>
          <a:ln/>
        </p:spPr>
        <p:txBody>
          <a:bodyPr wrap="none" lIns="0" tIns="0" rIns="0" bIns="0" rtlCol="0" anchor="t"/>
          <a:lstStyle/>
          <a:p>
            <a:pPr algn="l" marL="342900" indent="-342900">
              <a:lnSpc>
                <a:spcPts val="1400"/>
              </a:lnSpc>
              <a:buSzPct val="100000"/>
              <a:buChar char="•"/>
            </a:pPr>
            <a:r>
              <a:rPr lang="en-US" sz="850" b="1" dirty="0">
                <a:solidFill>
                  <a:srgbClr val="2C2821"/>
                </a:solidFill>
                <a:latin typeface="Lora" pitchFamily="34" charset="0"/>
                <a:ea typeface="Lora" pitchFamily="34" charset="-122"/>
                <a:cs typeface="Lora" pitchFamily="34" charset="-120"/>
              </a:rPr>
              <a:t>Training Time:</a:t>
            </a:r>
            <a:pPr algn="l" indent="0" marL="0">
              <a:lnSpc>
                <a:spcPts val="1400"/>
              </a:lnSpc>
              <a:buNone/>
            </a:pPr>
            <a:r>
              <a:rPr lang="en-US" sz="850" dirty="0">
                <a:solidFill>
                  <a:srgbClr val="2C2821"/>
                </a:solidFill>
                <a:latin typeface="Lora" pitchFamily="34" charset="0"/>
                <a:ea typeface="Lora" pitchFamily="34" charset="-122"/>
                <a:cs typeface="Lora" pitchFamily="34" charset="-120"/>
              </a:rPr>
              <a:t> 37.4 minutes</a:t>
            </a:r>
            <a:endParaRPr lang="en-US" sz="850" dirty="0"/>
          </a:p>
        </p:txBody>
      </p:sp>
      <p:sp>
        <p:nvSpPr>
          <p:cNvPr id="12" name="Text 9"/>
          <p:cNvSpPr/>
          <p:nvPr/>
        </p:nvSpPr>
        <p:spPr>
          <a:xfrm>
            <a:off x="396835" y="6245423"/>
            <a:ext cx="13836729" cy="181451"/>
          </a:xfrm>
          <a:prstGeom prst="rect">
            <a:avLst/>
          </a:prstGeom>
          <a:noFill/>
          <a:ln/>
        </p:spPr>
        <p:txBody>
          <a:bodyPr wrap="none" lIns="0" tIns="0" rIns="0" bIns="0" rtlCol="0" anchor="t"/>
          <a:lstStyle/>
          <a:p>
            <a:pPr algn="l" indent="0" marL="0">
              <a:lnSpc>
                <a:spcPts val="1400"/>
              </a:lnSpc>
              <a:buNone/>
            </a:pPr>
            <a:r>
              <a:rPr lang="en-US" sz="850" b="1" dirty="0">
                <a:solidFill>
                  <a:srgbClr val="2C2821"/>
                </a:solidFill>
                <a:latin typeface="Lora" pitchFamily="34" charset="0"/>
                <a:ea typeface="Lora" pitchFamily="34" charset="-122"/>
                <a:cs typeface="Lora" pitchFamily="34" charset="-120"/>
              </a:rPr>
              <a:t>Per-Class Performance:</a:t>
            </a:r>
            <a:endParaRPr lang="en-US" sz="850" dirty="0"/>
          </a:p>
        </p:txBody>
      </p:sp>
      <p:sp>
        <p:nvSpPr>
          <p:cNvPr id="13" name="Shape 10"/>
          <p:cNvSpPr/>
          <p:nvPr/>
        </p:nvSpPr>
        <p:spPr>
          <a:xfrm>
            <a:off x="396835" y="6554391"/>
            <a:ext cx="13836729" cy="1678543"/>
          </a:xfrm>
          <a:prstGeom prst="roundRect">
            <a:avLst>
              <a:gd name="adj" fmla="val 1014"/>
            </a:avLst>
          </a:prstGeom>
          <a:noFill/>
          <a:ln w="7620">
            <a:solidFill>
              <a:srgbClr val="000000">
                <a:alpha val="8000"/>
              </a:srgbClr>
            </a:solidFill>
            <a:prstDash val="solid"/>
          </a:ln>
        </p:spPr>
      </p:sp>
      <p:sp>
        <p:nvSpPr>
          <p:cNvPr id="14" name="Shape 11"/>
          <p:cNvSpPr/>
          <p:nvPr/>
        </p:nvSpPr>
        <p:spPr>
          <a:xfrm>
            <a:off x="404455" y="6562011"/>
            <a:ext cx="13821489" cy="332661"/>
          </a:xfrm>
          <a:prstGeom prst="rect">
            <a:avLst/>
          </a:prstGeom>
          <a:solidFill>
            <a:srgbClr val="FFFFFF">
              <a:alpha val="4000"/>
            </a:srgbClr>
          </a:solidFill>
          <a:ln/>
        </p:spPr>
      </p:sp>
      <p:sp>
        <p:nvSpPr>
          <p:cNvPr id="15" name="Text 12"/>
          <p:cNvSpPr/>
          <p:nvPr/>
        </p:nvSpPr>
        <p:spPr>
          <a:xfrm>
            <a:off x="517922" y="6637615"/>
            <a:ext cx="2533769" cy="181451"/>
          </a:xfrm>
          <a:prstGeom prst="rect">
            <a:avLst/>
          </a:prstGeom>
          <a:noFill/>
          <a:ln/>
        </p:spPr>
        <p:txBody>
          <a:bodyPr wrap="none" lIns="0" tIns="0" rIns="0" bIns="0" rtlCol="0" anchor="t"/>
          <a:lstStyle/>
          <a:p>
            <a:pPr algn="l" indent="0" marL="0">
              <a:lnSpc>
                <a:spcPts val="1400"/>
              </a:lnSpc>
              <a:buNone/>
            </a:pPr>
            <a:r>
              <a:rPr lang="en-US" sz="850" dirty="0">
                <a:solidFill>
                  <a:srgbClr val="2C2821"/>
                </a:solidFill>
                <a:latin typeface="Lora" pitchFamily="34" charset="0"/>
                <a:ea typeface="Lora" pitchFamily="34" charset="-122"/>
                <a:cs typeface="Lora" pitchFamily="34" charset="-120"/>
              </a:rPr>
              <a:t>Class</a:t>
            </a:r>
            <a:endParaRPr lang="en-US" sz="850" dirty="0"/>
          </a:p>
        </p:txBody>
      </p:sp>
      <p:sp>
        <p:nvSpPr>
          <p:cNvPr id="16" name="Text 13"/>
          <p:cNvSpPr/>
          <p:nvPr/>
        </p:nvSpPr>
        <p:spPr>
          <a:xfrm>
            <a:off x="3286006" y="6637615"/>
            <a:ext cx="2529959" cy="181451"/>
          </a:xfrm>
          <a:prstGeom prst="rect">
            <a:avLst/>
          </a:prstGeom>
          <a:noFill/>
          <a:ln/>
        </p:spPr>
        <p:txBody>
          <a:bodyPr wrap="none" lIns="0" tIns="0" rIns="0" bIns="0" rtlCol="0" anchor="t"/>
          <a:lstStyle/>
          <a:p>
            <a:pPr algn="l" indent="0" marL="0">
              <a:lnSpc>
                <a:spcPts val="1400"/>
              </a:lnSpc>
              <a:buNone/>
            </a:pPr>
            <a:r>
              <a:rPr lang="en-US" sz="850" dirty="0">
                <a:solidFill>
                  <a:srgbClr val="2C2821"/>
                </a:solidFill>
                <a:latin typeface="Lora" pitchFamily="34" charset="0"/>
                <a:ea typeface="Lora" pitchFamily="34" charset="-122"/>
                <a:cs typeface="Lora" pitchFamily="34" charset="-120"/>
              </a:rPr>
              <a:t>Precision</a:t>
            </a:r>
            <a:endParaRPr lang="en-US" sz="850" dirty="0"/>
          </a:p>
        </p:txBody>
      </p:sp>
      <p:sp>
        <p:nvSpPr>
          <p:cNvPr id="17" name="Text 14"/>
          <p:cNvSpPr/>
          <p:nvPr/>
        </p:nvSpPr>
        <p:spPr>
          <a:xfrm>
            <a:off x="6050280" y="6637615"/>
            <a:ext cx="2529959" cy="181451"/>
          </a:xfrm>
          <a:prstGeom prst="rect">
            <a:avLst/>
          </a:prstGeom>
          <a:noFill/>
          <a:ln/>
        </p:spPr>
        <p:txBody>
          <a:bodyPr wrap="none" lIns="0" tIns="0" rIns="0" bIns="0" rtlCol="0" anchor="t"/>
          <a:lstStyle/>
          <a:p>
            <a:pPr algn="l" indent="0" marL="0">
              <a:lnSpc>
                <a:spcPts val="1400"/>
              </a:lnSpc>
              <a:buNone/>
            </a:pPr>
            <a:r>
              <a:rPr lang="en-US" sz="850" dirty="0">
                <a:solidFill>
                  <a:srgbClr val="2C2821"/>
                </a:solidFill>
                <a:latin typeface="Lora" pitchFamily="34" charset="0"/>
                <a:ea typeface="Lora" pitchFamily="34" charset="-122"/>
                <a:cs typeface="Lora" pitchFamily="34" charset="-120"/>
              </a:rPr>
              <a:t>Recall</a:t>
            </a:r>
            <a:endParaRPr lang="en-US" sz="850" dirty="0"/>
          </a:p>
        </p:txBody>
      </p:sp>
      <p:sp>
        <p:nvSpPr>
          <p:cNvPr id="18" name="Text 15"/>
          <p:cNvSpPr/>
          <p:nvPr/>
        </p:nvSpPr>
        <p:spPr>
          <a:xfrm>
            <a:off x="8814554" y="6637615"/>
            <a:ext cx="2529959" cy="181451"/>
          </a:xfrm>
          <a:prstGeom prst="rect">
            <a:avLst/>
          </a:prstGeom>
          <a:noFill/>
          <a:ln/>
        </p:spPr>
        <p:txBody>
          <a:bodyPr wrap="none" lIns="0" tIns="0" rIns="0" bIns="0" rtlCol="0" anchor="t"/>
          <a:lstStyle/>
          <a:p>
            <a:pPr algn="l" indent="0" marL="0">
              <a:lnSpc>
                <a:spcPts val="1400"/>
              </a:lnSpc>
              <a:buNone/>
            </a:pPr>
            <a:r>
              <a:rPr lang="en-US" sz="850" dirty="0">
                <a:solidFill>
                  <a:srgbClr val="2C2821"/>
                </a:solidFill>
                <a:latin typeface="Lora" pitchFamily="34" charset="0"/>
                <a:ea typeface="Lora" pitchFamily="34" charset="-122"/>
                <a:cs typeface="Lora" pitchFamily="34" charset="-120"/>
              </a:rPr>
              <a:t>F1-Score</a:t>
            </a:r>
            <a:endParaRPr lang="en-US" sz="850" dirty="0"/>
          </a:p>
        </p:txBody>
      </p:sp>
      <p:sp>
        <p:nvSpPr>
          <p:cNvPr id="19" name="Text 16"/>
          <p:cNvSpPr/>
          <p:nvPr/>
        </p:nvSpPr>
        <p:spPr>
          <a:xfrm>
            <a:off x="11578828" y="6637615"/>
            <a:ext cx="2533769" cy="181451"/>
          </a:xfrm>
          <a:prstGeom prst="rect">
            <a:avLst/>
          </a:prstGeom>
          <a:noFill/>
          <a:ln/>
        </p:spPr>
        <p:txBody>
          <a:bodyPr wrap="none" lIns="0" tIns="0" rIns="0" bIns="0" rtlCol="0" anchor="t"/>
          <a:lstStyle/>
          <a:p>
            <a:pPr algn="l" indent="0" marL="0">
              <a:lnSpc>
                <a:spcPts val="1400"/>
              </a:lnSpc>
              <a:buNone/>
            </a:pPr>
            <a:r>
              <a:rPr lang="en-US" sz="850" dirty="0">
                <a:solidFill>
                  <a:srgbClr val="2C2821"/>
                </a:solidFill>
                <a:latin typeface="Lora" pitchFamily="34" charset="0"/>
                <a:ea typeface="Lora" pitchFamily="34" charset="-122"/>
                <a:cs typeface="Lora" pitchFamily="34" charset="-120"/>
              </a:rPr>
              <a:t>Score Label</a:t>
            </a:r>
            <a:endParaRPr lang="en-US" sz="850" dirty="0"/>
          </a:p>
        </p:txBody>
      </p:sp>
      <p:sp>
        <p:nvSpPr>
          <p:cNvPr id="20" name="Shape 17"/>
          <p:cNvSpPr/>
          <p:nvPr/>
        </p:nvSpPr>
        <p:spPr>
          <a:xfrm>
            <a:off x="404455" y="6894671"/>
            <a:ext cx="13821489" cy="332661"/>
          </a:xfrm>
          <a:prstGeom prst="rect">
            <a:avLst/>
          </a:prstGeom>
          <a:solidFill>
            <a:srgbClr val="000000">
              <a:alpha val="4000"/>
            </a:srgbClr>
          </a:solidFill>
          <a:ln/>
        </p:spPr>
      </p:sp>
      <p:sp>
        <p:nvSpPr>
          <p:cNvPr id="21" name="Text 18"/>
          <p:cNvSpPr/>
          <p:nvPr/>
        </p:nvSpPr>
        <p:spPr>
          <a:xfrm>
            <a:off x="517922" y="6970276"/>
            <a:ext cx="2533769" cy="181451"/>
          </a:xfrm>
          <a:prstGeom prst="rect">
            <a:avLst/>
          </a:prstGeom>
          <a:noFill/>
          <a:ln/>
        </p:spPr>
        <p:txBody>
          <a:bodyPr wrap="none" lIns="0" tIns="0" rIns="0" bIns="0" rtlCol="0" anchor="t"/>
          <a:lstStyle/>
          <a:p>
            <a:pPr algn="l" indent="0" marL="0">
              <a:lnSpc>
                <a:spcPts val="1400"/>
              </a:lnSpc>
              <a:buNone/>
            </a:pPr>
            <a:r>
              <a:rPr lang="en-US" sz="850" dirty="0">
                <a:solidFill>
                  <a:srgbClr val="2C2821"/>
                </a:solidFill>
                <a:latin typeface="Lora" pitchFamily="34" charset="0"/>
                <a:ea typeface="Lora" pitchFamily="34" charset="-122"/>
                <a:cs typeface="Lora" pitchFamily="34" charset="-120"/>
              </a:rPr>
              <a:t>Contradiction</a:t>
            </a:r>
            <a:endParaRPr lang="en-US" sz="850" dirty="0"/>
          </a:p>
        </p:txBody>
      </p:sp>
      <p:sp>
        <p:nvSpPr>
          <p:cNvPr id="22" name="Text 19"/>
          <p:cNvSpPr/>
          <p:nvPr/>
        </p:nvSpPr>
        <p:spPr>
          <a:xfrm>
            <a:off x="3286006" y="6970276"/>
            <a:ext cx="2529959" cy="181451"/>
          </a:xfrm>
          <a:prstGeom prst="rect">
            <a:avLst/>
          </a:prstGeom>
          <a:noFill/>
          <a:ln/>
        </p:spPr>
        <p:txBody>
          <a:bodyPr wrap="none" lIns="0" tIns="0" rIns="0" bIns="0" rtlCol="0" anchor="t"/>
          <a:lstStyle/>
          <a:p>
            <a:pPr algn="l" indent="0" marL="0">
              <a:lnSpc>
                <a:spcPts val="1400"/>
              </a:lnSpc>
              <a:buNone/>
            </a:pPr>
            <a:r>
              <a:rPr lang="en-US" sz="850" dirty="0">
                <a:solidFill>
                  <a:srgbClr val="2C2821"/>
                </a:solidFill>
                <a:latin typeface="Lora" pitchFamily="34" charset="0"/>
                <a:ea typeface="Lora" pitchFamily="34" charset="-122"/>
                <a:cs typeface="Lora" pitchFamily="34" charset="-120"/>
              </a:rPr>
              <a:t>97.79%</a:t>
            </a:r>
            <a:endParaRPr lang="en-US" sz="850" dirty="0"/>
          </a:p>
        </p:txBody>
      </p:sp>
      <p:sp>
        <p:nvSpPr>
          <p:cNvPr id="23" name="Text 20"/>
          <p:cNvSpPr/>
          <p:nvPr/>
        </p:nvSpPr>
        <p:spPr>
          <a:xfrm>
            <a:off x="6050280" y="6970276"/>
            <a:ext cx="2529959" cy="181451"/>
          </a:xfrm>
          <a:prstGeom prst="rect">
            <a:avLst/>
          </a:prstGeom>
          <a:noFill/>
          <a:ln/>
        </p:spPr>
        <p:txBody>
          <a:bodyPr wrap="none" lIns="0" tIns="0" rIns="0" bIns="0" rtlCol="0" anchor="t"/>
          <a:lstStyle/>
          <a:p>
            <a:pPr algn="l" indent="0" marL="0">
              <a:lnSpc>
                <a:spcPts val="1400"/>
              </a:lnSpc>
              <a:buNone/>
            </a:pPr>
            <a:r>
              <a:rPr lang="en-US" sz="850" dirty="0">
                <a:solidFill>
                  <a:srgbClr val="2C2821"/>
                </a:solidFill>
                <a:latin typeface="Lora" pitchFamily="34" charset="0"/>
                <a:ea typeface="Lora" pitchFamily="34" charset="-122"/>
                <a:cs typeface="Lora" pitchFamily="34" charset="-120"/>
              </a:rPr>
              <a:t>95.87%</a:t>
            </a:r>
            <a:endParaRPr lang="en-US" sz="850" dirty="0"/>
          </a:p>
        </p:txBody>
      </p:sp>
      <p:sp>
        <p:nvSpPr>
          <p:cNvPr id="24" name="Text 21"/>
          <p:cNvSpPr/>
          <p:nvPr/>
        </p:nvSpPr>
        <p:spPr>
          <a:xfrm>
            <a:off x="8814554" y="6970276"/>
            <a:ext cx="2529959" cy="181451"/>
          </a:xfrm>
          <a:prstGeom prst="rect">
            <a:avLst/>
          </a:prstGeom>
          <a:noFill/>
          <a:ln/>
        </p:spPr>
        <p:txBody>
          <a:bodyPr wrap="none" lIns="0" tIns="0" rIns="0" bIns="0" rtlCol="0" anchor="t"/>
          <a:lstStyle/>
          <a:p>
            <a:pPr algn="l" indent="0" marL="0">
              <a:lnSpc>
                <a:spcPts val="1400"/>
              </a:lnSpc>
              <a:buNone/>
            </a:pPr>
            <a:r>
              <a:rPr lang="en-US" sz="850" dirty="0">
                <a:solidFill>
                  <a:srgbClr val="2C2821"/>
                </a:solidFill>
                <a:latin typeface="Lora" pitchFamily="34" charset="0"/>
                <a:ea typeface="Lora" pitchFamily="34" charset="-122"/>
                <a:cs typeface="Lora" pitchFamily="34" charset="-120"/>
              </a:rPr>
              <a:t>96.82%</a:t>
            </a:r>
            <a:endParaRPr lang="en-US" sz="850" dirty="0"/>
          </a:p>
        </p:txBody>
      </p:sp>
      <p:sp>
        <p:nvSpPr>
          <p:cNvPr id="25" name="Text 22"/>
          <p:cNvSpPr/>
          <p:nvPr/>
        </p:nvSpPr>
        <p:spPr>
          <a:xfrm>
            <a:off x="11578828" y="6970276"/>
            <a:ext cx="2533769" cy="181451"/>
          </a:xfrm>
          <a:prstGeom prst="rect">
            <a:avLst/>
          </a:prstGeom>
          <a:noFill/>
          <a:ln/>
        </p:spPr>
        <p:txBody>
          <a:bodyPr wrap="none" lIns="0" tIns="0" rIns="0" bIns="0" rtlCol="0" anchor="t"/>
          <a:lstStyle/>
          <a:p>
            <a:pPr algn="l" indent="0" marL="0">
              <a:lnSpc>
                <a:spcPts val="1400"/>
              </a:lnSpc>
              <a:buNone/>
            </a:pPr>
            <a:r>
              <a:rPr lang="en-US" sz="850" dirty="0">
                <a:solidFill>
                  <a:srgbClr val="2C2821"/>
                </a:solidFill>
                <a:latin typeface="Lora" pitchFamily="34" charset="0"/>
                <a:ea typeface="Lora" pitchFamily="34" charset="-122"/>
                <a:cs typeface="Lora" pitchFamily="34" charset="-120"/>
              </a:rPr>
              <a:t>0.0</a:t>
            </a:r>
            <a:endParaRPr lang="en-US" sz="850" dirty="0"/>
          </a:p>
        </p:txBody>
      </p:sp>
      <p:sp>
        <p:nvSpPr>
          <p:cNvPr id="26" name="Shape 23"/>
          <p:cNvSpPr/>
          <p:nvPr/>
        </p:nvSpPr>
        <p:spPr>
          <a:xfrm>
            <a:off x="404455" y="7227332"/>
            <a:ext cx="13821489" cy="332661"/>
          </a:xfrm>
          <a:prstGeom prst="rect">
            <a:avLst/>
          </a:prstGeom>
          <a:solidFill>
            <a:srgbClr val="FFFFFF">
              <a:alpha val="4000"/>
            </a:srgbClr>
          </a:solidFill>
          <a:ln/>
        </p:spPr>
      </p:sp>
      <p:sp>
        <p:nvSpPr>
          <p:cNvPr id="27" name="Text 24"/>
          <p:cNvSpPr/>
          <p:nvPr/>
        </p:nvSpPr>
        <p:spPr>
          <a:xfrm>
            <a:off x="517922" y="7302937"/>
            <a:ext cx="2533769" cy="181451"/>
          </a:xfrm>
          <a:prstGeom prst="rect">
            <a:avLst/>
          </a:prstGeom>
          <a:noFill/>
          <a:ln/>
        </p:spPr>
        <p:txBody>
          <a:bodyPr wrap="none" lIns="0" tIns="0" rIns="0" bIns="0" rtlCol="0" anchor="t"/>
          <a:lstStyle/>
          <a:p>
            <a:pPr algn="l" indent="0" marL="0">
              <a:lnSpc>
                <a:spcPts val="1400"/>
              </a:lnSpc>
              <a:buNone/>
            </a:pPr>
            <a:r>
              <a:rPr lang="en-US" sz="850" dirty="0">
                <a:solidFill>
                  <a:srgbClr val="2C2821"/>
                </a:solidFill>
                <a:latin typeface="Lora" pitchFamily="34" charset="0"/>
                <a:ea typeface="Lora" pitchFamily="34" charset="-122"/>
                <a:cs typeface="Lora" pitchFamily="34" charset="-120"/>
              </a:rPr>
              <a:t>Hallucination</a:t>
            </a:r>
            <a:endParaRPr lang="en-US" sz="850" dirty="0"/>
          </a:p>
        </p:txBody>
      </p:sp>
      <p:sp>
        <p:nvSpPr>
          <p:cNvPr id="28" name="Text 25"/>
          <p:cNvSpPr/>
          <p:nvPr/>
        </p:nvSpPr>
        <p:spPr>
          <a:xfrm>
            <a:off x="3286006" y="7302937"/>
            <a:ext cx="2529959" cy="181451"/>
          </a:xfrm>
          <a:prstGeom prst="rect">
            <a:avLst/>
          </a:prstGeom>
          <a:noFill/>
          <a:ln/>
        </p:spPr>
        <p:txBody>
          <a:bodyPr wrap="none" lIns="0" tIns="0" rIns="0" bIns="0" rtlCol="0" anchor="t"/>
          <a:lstStyle/>
          <a:p>
            <a:pPr algn="l" indent="0" marL="0">
              <a:lnSpc>
                <a:spcPts val="1400"/>
              </a:lnSpc>
              <a:buNone/>
            </a:pPr>
            <a:r>
              <a:rPr lang="en-US" sz="850" dirty="0">
                <a:solidFill>
                  <a:srgbClr val="2C2821"/>
                </a:solidFill>
                <a:latin typeface="Lora" pitchFamily="34" charset="0"/>
                <a:ea typeface="Lora" pitchFamily="34" charset="-122"/>
                <a:cs typeface="Lora" pitchFamily="34" charset="-120"/>
              </a:rPr>
              <a:t>99.11%</a:t>
            </a:r>
            <a:endParaRPr lang="en-US" sz="850" dirty="0"/>
          </a:p>
        </p:txBody>
      </p:sp>
      <p:sp>
        <p:nvSpPr>
          <p:cNvPr id="29" name="Text 26"/>
          <p:cNvSpPr/>
          <p:nvPr/>
        </p:nvSpPr>
        <p:spPr>
          <a:xfrm>
            <a:off x="6050280" y="7302937"/>
            <a:ext cx="2529959" cy="181451"/>
          </a:xfrm>
          <a:prstGeom prst="rect">
            <a:avLst/>
          </a:prstGeom>
          <a:noFill/>
          <a:ln/>
        </p:spPr>
        <p:txBody>
          <a:bodyPr wrap="none" lIns="0" tIns="0" rIns="0" bIns="0" rtlCol="0" anchor="t"/>
          <a:lstStyle/>
          <a:p>
            <a:pPr algn="l" indent="0" marL="0">
              <a:lnSpc>
                <a:spcPts val="1400"/>
              </a:lnSpc>
              <a:buNone/>
            </a:pPr>
            <a:r>
              <a:rPr lang="en-US" sz="850" dirty="0">
                <a:solidFill>
                  <a:srgbClr val="2C2821"/>
                </a:solidFill>
                <a:latin typeface="Lora" pitchFamily="34" charset="0"/>
                <a:ea typeface="Lora" pitchFamily="34" charset="-122"/>
                <a:cs typeface="Lora" pitchFamily="34" charset="-120"/>
              </a:rPr>
              <a:t>99.24%</a:t>
            </a:r>
            <a:endParaRPr lang="en-US" sz="850" dirty="0"/>
          </a:p>
        </p:txBody>
      </p:sp>
      <p:sp>
        <p:nvSpPr>
          <p:cNvPr id="30" name="Text 27"/>
          <p:cNvSpPr/>
          <p:nvPr/>
        </p:nvSpPr>
        <p:spPr>
          <a:xfrm>
            <a:off x="8814554" y="7302937"/>
            <a:ext cx="2529959" cy="181451"/>
          </a:xfrm>
          <a:prstGeom prst="rect">
            <a:avLst/>
          </a:prstGeom>
          <a:noFill/>
          <a:ln/>
        </p:spPr>
        <p:txBody>
          <a:bodyPr wrap="none" lIns="0" tIns="0" rIns="0" bIns="0" rtlCol="0" anchor="t"/>
          <a:lstStyle/>
          <a:p>
            <a:pPr algn="l" indent="0" marL="0">
              <a:lnSpc>
                <a:spcPts val="1400"/>
              </a:lnSpc>
              <a:buNone/>
            </a:pPr>
            <a:r>
              <a:rPr lang="en-US" sz="850" b="1" dirty="0">
                <a:solidFill>
                  <a:srgbClr val="2C2821"/>
                </a:solidFill>
                <a:latin typeface="Lora" pitchFamily="34" charset="0"/>
                <a:ea typeface="Lora" pitchFamily="34" charset="-122"/>
                <a:cs typeface="Lora" pitchFamily="34" charset="-120"/>
              </a:rPr>
              <a:t>99.17%</a:t>
            </a:r>
            <a:endParaRPr lang="en-US" sz="850" dirty="0"/>
          </a:p>
        </p:txBody>
      </p:sp>
      <p:sp>
        <p:nvSpPr>
          <p:cNvPr id="31" name="Text 28"/>
          <p:cNvSpPr/>
          <p:nvPr/>
        </p:nvSpPr>
        <p:spPr>
          <a:xfrm>
            <a:off x="11578828" y="7302937"/>
            <a:ext cx="2533769" cy="181451"/>
          </a:xfrm>
          <a:prstGeom prst="rect">
            <a:avLst/>
          </a:prstGeom>
          <a:noFill/>
          <a:ln/>
        </p:spPr>
        <p:txBody>
          <a:bodyPr wrap="none" lIns="0" tIns="0" rIns="0" bIns="0" rtlCol="0" anchor="t"/>
          <a:lstStyle/>
          <a:p>
            <a:pPr algn="l" indent="0" marL="0">
              <a:lnSpc>
                <a:spcPts val="1400"/>
              </a:lnSpc>
              <a:buNone/>
            </a:pPr>
            <a:r>
              <a:rPr lang="en-US" sz="850" dirty="0">
                <a:solidFill>
                  <a:srgbClr val="2C2821"/>
                </a:solidFill>
                <a:latin typeface="Lora" pitchFamily="34" charset="0"/>
                <a:ea typeface="Lora" pitchFamily="34" charset="-122"/>
                <a:cs typeface="Lora" pitchFamily="34" charset="-120"/>
              </a:rPr>
              <a:t>0.3</a:t>
            </a:r>
            <a:endParaRPr lang="en-US" sz="850" dirty="0"/>
          </a:p>
        </p:txBody>
      </p:sp>
      <p:sp>
        <p:nvSpPr>
          <p:cNvPr id="32" name="Shape 29"/>
          <p:cNvSpPr/>
          <p:nvPr/>
        </p:nvSpPr>
        <p:spPr>
          <a:xfrm>
            <a:off x="404455" y="7559993"/>
            <a:ext cx="13821489" cy="332661"/>
          </a:xfrm>
          <a:prstGeom prst="rect">
            <a:avLst/>
          </a:prstGeom>
          <a:solidFill>
            <a:srgbClr val="000000">
              <a:alpha val="4000"/>
            </a:srgbClr>
          </a:solidFill>
          <a:ln/>
        </p:spPr>
      </p:sp>
      <p:sp>
        <p:nvSpPr>
          <p:cNvPr id="33" name="Text 30"/>
          <p:cNvSpPr/>
          <p:nvPr/>
        </p:nvSpPr>
        <p:spPr>
          <a:xfrm>
            <a:off x="517922" y="7635597"/>
            <a:ext cx="2533769" cy="181451"/>
          </a:xfrm>
          <a:prstGeom prst="rect">
            <a:avLst/>
          </a:prstGeom>
          <a:noFill/>
          <a:ln/>
        </p:spPr>
        <p:txBody>
          <a:bodyPr wrap="none" lIns="0" tIns="0" rIns="0" bIns="0" rtlCol="0" anchor="t"/>
          <a:lstStyle/>
          <a:p>
            <a:pPr algn="l" indent="0" marL="0">
              <a:lnSpc>
                <a:spcPts val="1400"/>
              </a:lnSpc>
              <a:buNone/>
            </a:pPr>
            <a:r>
              <a:rPr lang="en-US" sz="850" dirty="0">
                <a:solidFill>
                  <a:srgbClr val="2C2821"/>
                </a:solidFill>
                <a:latin typeface="Lora" pitchFamily="34" charset="0"/>
                <a:ea typeface="Lora" pitchFamily="34" charset="-122"/>
                <a:cs typeface="Lora" pitchFamily="34" charset="-120"/>
              </a:rPr>
              <a:t>Amnesia</a:t>
            </a:r>
            <a:endParaRPr lang="en-US" sz="850" dirty="0"/>
          </a:p>
        </p:txBody>
      </p:sp>
      <p:sp>
        <p:nvSpPr>
          <p:cNvPr id="34" name="Text 31"/>
          <p:cNvSpPr/>
          <p:nvPr/>
        </p:nvSpPr>
        <p:spPr>
          <a:xfrm>
            <a:off x="3286006" y="7635597"/>
            <a:ext cx="2529959" cy="181451"/>
          </a:xfrm>
          <a:prstGeom prst="rect">
            <a:avLst/>
          </a:prstGeom>
          <a:noFill/>
          <a:ln/>
        </p:spPr>
        <p:txBody>
          <a:bodyPr wrap="none" lIns="0" tIns="0" rIns="0" bIns="0" rtlCol="0" anchor="t"/>
          <a:lstStyle/>
          <a:p>
            <a:pPr algn="l" indent="0" marL="0">
              <a:lnSpc>
                <a:spcPts val="1400"/>
              </a:lnSpc>
              <a:buNone/>
            </a:pPr>
            <a:r>
              <a:rPr lang="en-US" sz="850" dirty="0">
                <a:solidFill>
                  <a:srgbClr val="2C2821"/>
                </a:solidFill>
                <a:latin typeface="Lora" pitchFamily="34" charset="0"/>
                <a:ea typeface="Lora" pitchFamily="34" charset="-122"/>
                <a:cs typeface="Lora" pitchFamily="34" charset="-120"/>
              </a:rPr>
              <a:t>97.91%</a:t>
            </a:r>
            <a:endParaRPr lang="en-US" sz="850" dirty="0"/>
          </a:p>
        </p:txBody>
      </p:sp>
      <p:sp>
        <p:nvSpPr>
          <p:cNvPr id="35" name="Text 32"/>
          <p:cNvSpPr/>
          <p:nvPr/>
        </p:nvSpPr>
        <p:spPr>
          <a:xfrm>
            <a:off x="6050280" y="7635597"/>
            <a:ext cx="2529959" cy="181451"/>
          </a:xfrm>
          <a:prstGeom prst="rect">
            <a:avLst/>
          </a:prstGeom>
          <a:noFill/>
          <a:ln/>
        </p:spPr>
        <p:txBody>
          <a:bodyPr wrap="none" lIns="0" tIns="0" rIns="0" bIns="0" rtlCol="0" anchor="t"/>
          <a:lstStyle/>
          <a:p>
            <a:pPr algn="l" indent="0" marL="0">
              <a:lnSpc>
                <a:spcPts val="1400"/>
              </a:lnSpc>
              <a:buNone/>
            </a:pPr>
            <a:r>
              <a:rPr lang="en-US" sz="850" dirty="0">
                <a:solidFill>
                  <a:srgbClr val="2C2821"/>
                </a:solidFill>
                <a:latin typeface="Lora" pitchFamily="34" charset="0"/>
                <a:ea typeface="Lora" pitchFamily="34" charset="-122"/>
                <a:cs typeface="Lora" pitchFamily="34" charset="-120"/>
              </a:rPr>
              <a:t>98.09%</a:t>
            </a:r>
            <a:endParaRPr lang="en-US" sz="850" dirty="0"/>
          </a:p>
        </p:txBody>
      </p:sp>
      <p:sp>
        <p:nvSpPr>
          <p:cNvPr id="36" name="Text 33"/>
          <p:cNvSpPr/>
          <p:nvPr/>
        </p:nvSpPr>
        <p:spPr>
          <a:xfrm>
            <a:off x="8814554" y="7635597"/>
            <a:ext cx="2529959" cy="181451"/>
          </a:xfrm>
          <a:prstGeom prst="rect">
            <a:avLst/>
          </a:prstGeom>
          <a:noFill/>
          <a:ln/>
        </p:spPr>
        <p:txBody>
          <a:bodyPr wrap="none" lIns="0" tIns="0" rIns="0" bIns="0" rtlCol="0" anchor="t"/>
          <a:lstStyle/>
          <a:p>
            <a:pPr algn="l" indent="0" marL="0">
              <a:lnSpc>
                <a:spcPts val="1400"/>
              </a:lnSpc>
              <a:buNone/>
            </a:pPr>
            <a:r>
              <a:rPr lang="en-US" sz="850" dirty="0">
                <a:solidFill>
                  <a:srgbClr val="2C2821"/>
                </a:solidFill>
                <a:latin typeface="Lora" pitchFamily="34" charset="0"/>
                <a:ea typeface="Lora" pitchFamily="34" charset="-122"/>
                <a:cs typeface="Lora" pitchFamily="34" charset="-120"/>
              </a:rPr>
              <a:t>98.01%</a:t>
            </a:r>
            <a:endParaRPr lang="en-US" sz="850" dirty="0"/>
          </a:p>
        </p:txBody>
      </p:sp>
      <p:sp>
        <p:nvSpPr>
          <p:cNvPr id="37" name="Text 34"/>
          <p:cNvSpPr/>
          <p:nvPr/>
        </p:nvSpPr>
        <p:spPr>
          <a:xfrm>
            <a:off x="11578828" y="7635597"/>
            <a:ext cx="2533769" cy="181451"/>
          </a:xfrm>
          <a:prstGeom prst="rect">
            <a:avLst/>
          </a:prstGeom>
          <a:noFill/>
          <a:ln/>
        </p:spPr>
        <p:txBody>
          <a:bodyPr wrap="none" lIns="0" tIns="0" rIns="0" bIns="0" rtlCol="0" anchor="t"/>
          <a:lstStyle/>
          <a:p>
            <a:pPr algn="l" indent="0" marL="0">
              <a:lnSpc>
                <a:spcPts val="1400"/>
              </a:lnSpc>
              <a:buNone/>
            </a:pPr>
            <a:r>
              <a:rPr lang="en-US" sz="850" dirty="0">
                <a:solidFill>
                  <a:srgbClr val="2C2821"/>
                </a:solidFill>
                <a:latin typeface="Lora" pitchFamily="34" charset="0"/>
                <a:ea typeface="Lora" pitchFamily="34" charset="-122"/>
                <a:cs typeface="Lora" pitchFamily="34" charset="-120"/>
              </a:rPr>
              <a:t>0.5</a:t>
            </a:r>
            <a:endParaRPr lang="en-US" sz="850" dirty="0"/>
          </a:p>
        </p:txBody>
      </p:sp>
      <p:sp>
        <p:nvSpPr>
          <p:cNvPr id="38" name="Shape 35"/>
          <p:cNvSpPr/>
          <p:nvPr/>
        </p:nvSpPr>
        <p:spPr>
          <a:xfrm>
            <a:off x="404455" y="7892653"/>
            <a:ext cx="13821489" cy="332661"/>
          </a:xfrm>
          <a:prstGeom prst="rect">
            <a:avLst/>
          </a:prstGeom>
          <a:solidFill>
            <a:srgbClr val="FFFFFF">
              <a:alpha val="4000"/>
            </a:srgbClr>
          </a:solidFill>
          <a:ln/>
        </p:spPr>
      </p:sp>
      <p:sp>
        <p:nvSpPr>
          <p:cNvPr id="39" name="Text 36"/>
          <p:cNvSpPr/>
          <p:nvPr/>
        </p:nvSpPr>
        <p:spPr>
          <a:xfrm>
            <a:off x="517922" y="7968258"/>
            <a:ext cx="2533769" cy="181451"/>
          </a:xfrm>
          <a:prstGeom prst="rect">
            <a:avLst/>
          </a:prstGeom>
          <a:noFill/>
          <a:ln/>
        </p:spPr>
        <p:txBody>
          <a:bodyPr wrap="none" lIns="0" tIns="0" rIns="0" bIns="0" rtlCol="0" anchor="t"/>
          <a:lstStyle/>
          <a:p>
            <a:pPr algn="l" indent="0" marL="0">
              <a:lnSpc>
                <a:spcPts val="1400"/>
              </a:lnSpc>
              <a:buNone/>
            </a:pPr>
            <a:r>
              <a:rPr lang="en-US" sz="850" dirty="0">
                <a:solidFill>
                  <a:srgbClr val="2C2821"/>
                </a:solidFill>
                <a:latin typeface="Lora" pitchFamily="34" charset="0"/>
                <a:ea typeface="Lora" pitchFamily="34" charset="-122"/>
                <a:cs typeface="Lora" pitchFamily="34" charset="-120"/>
              </a:rPr>
              <a:t>Consistent</a:t>
            </a:r>
            <a:endParaRPr lang="en-US" sz="850" dirty="0"/>
          </a:p>
        </p:txBody>
      </p:sp>
      <p:sp>
        <p:nvSpPr>
          <p:cNvPr id="40" name="Text 37"/>
          <p:cNvSpPr/>
          <p:nvPr/>
        </p:nvSpPr>
        <p:spPr>
          <a:xfrm>
            <a:off x="3286006" y="7968258"/>
            <a:ext cx="2529959" cy="181451"/>
          </a:xfrm>
          <a:prstGeom prst="rect">
            <a:avLst/>
          </a:prstGeom>
          <a:noFill/>
          <a:ln/>
        </p:spPr>
        <p:txBody>
          <a:bodyPr wrap="none" lIns="0" tIns="0" rIns="0" bIns="0" rtlCol="0" anchor="t"/>
          <a:lstStyle/>
          <a:p>
            <a:pPr algn="l" indent="0" marL="0">
              <a:lnSpc>
                <a:spcPts val="1400"/>
              </a:lnSpc>
              <a:buNone/>
            </a:pPr>
            <a:r>
              <a:rPr lang="en-US" sz="850" dirty="0">
                <a:solidFill>
                  <a:srgbClr val="2C2821"/>
                </a:solidFill>
                <a:latin typeface="Lora" pitchFamily="34" charset="0"/>
                <a:ea typeface="Lora" pitchFamily="34" charset="-122"/>
                <a:cs typeface="Lora" pitchFamily="34" charset="-120"/>
              </a:rPr>
              <a:t>99.04%</a:t>
            </a:r>
            <a:endParaRPr lang="en-US" sz="850" dirty="0"/>
          </a:p>
        </p:txBody>
      </p:sp>
      <p:sp>
        <p:nvSpPr>
          <p:cNvPr id="41" name="Text 38"/>
          <p:cNvSpPr/>
          <p:nvPr/>
        </p:nvSpPr>
        <p:spPr>
          <a:xfrm>
            <a:off x="6050280" y="7968258"/>
            <a:ext cx="2529959" cy="181451"/>
          </a:xfrm>
          <a:prstGeom prst="rect">
            <a:avLst/>
          </a:prstGeom>
          <a:noFill/>
          <a:ln/>
        </p:spPr>
        <p:txBody>
          <a:bodyPr wrap="none" lIns="0" tIns="0" rIns="0" bIns="0" rtlCol="0" anchor="t"/>
          <a:lstStyle/>
          <a:p>
            <a:pPr algn="l" indent="0" marL="0">
              <a:lnSpc>
                <a:spcPts val="1400"/>
              </a:lnSpc>
              <a:buNone/>
            </a:pPr>
            <a:r>
              <a:rPr lang="en-US" sz="850" b="1" dirty="0">
                <a:solidFill>
                  <a:srgbClr val="2C2821"/>
                </a:solidFill>
                <a:latin typeface="Lora" pitchFamily="34" charset="0"/>
                <a:ea typeface="Lora" pitchFamily="34" charset="-122"/>
                <a:cs typeface="Lora" pitchFamily="34" charset="-120"/>
              </a:rPr>
              <a:t>100%</a:t>
            </a:r>
            <a:endParaRPr lang="en-US" sz="850" dirty="0"/>
          </a:p>
        </p:txBody>
      </p:sp>
      <p:sp>
        <p:nvSpPr>
          <p:cNvPr id="42" name="Text 39"/>
          <p:cNvSpPr/>
          <p:nvPr/>
        </p:nvSpPr>
        <p:spPr>
          <a:xfrm>
            <a:off x="8814554" y="7968258"/>
            <a:ext cx="2529959" cy="181451"/>
          </a:xfrm>
          <a:prstGeom prst="rect">
            <a:avLst/>
          </a:prstGeom>
          <a:noFill/>
          <a:ln/>
        </p:spPr>
        <p:txBody>
          <a:bodyPr wrap="none" lIns="0" tIns="0" rIns="0" bIns="0" rtlCol="0" anchor="t"/>
          <a:lstStyle/>
          <a:p>
            <a:pPr algn="l" indent="0" marL="0">
              <a:lnSpc>
                <a:spcPts val="1400"/>
              </a:lnSpc>
              <a:buNone/>
            </a:pPr>
            <a:r>
              <a:rPr lang="en-US" sz="850" dirty="0">
                <a:solidFill>
                  <a:srgbClr val="2C2821"/>
                </a:solidFill>
                <a:latin typeface="Lora" pitchFamily="34" charset="0"/>
                <a:ea typeface="Lora" pitchFamily="34" charset="-122"/>
                <a:cs typeface="Lora" pitchFamily="34" charset="-120"/>
              </a:rPr>
              <a:t>99.47%</a:t>
            </a:r>
            <a:endParaRPr lang="en-US" sz="850" dirty="0"/>
          </a:p>
        </p:txBody>
      </p:sp>
      <p:sp>
        <p:nvSpPr>
          <p:cNvPr id="43" name="Text 40"/>
          <p:cNvSpPr/>
          <p:nvPr/>
        </p:nvSpPr>
        <p:spPr>
          <a:xfrm>
            <a:off x="11578828" y="7968258"/>
            <a:ext cx="2533769" cy="181451"/>
          </a:xfrm>
          <a:prstGeom prst="rect">
            <a:avLst/>
          </a:prstGeom>
          <a:noFill/>
          <a:ln/>
        </p:spPr>
        <p:txBody>
          <a:bodyPr wrap="none" lIns="0" tIns="0" rIns="0" bIns="0" rtlCol="0" anchor="t"/>
          <a:lstStyle/>
          <a:p>
            <a:pPr algn="l" indent="0" marL="0">
              <a:lnSpc>
                <a:spcPts val="1400"/>
              </a:lnSpc>
              <a:buNone/>
            </a:pPr>
            <a:r>
              <a:rPr lang="en-US" sz="850" dirty="0">
                <a:solidFill>
                  <a:srgbClr val="2C2821"/>
                </a:solidFill>
                <a:latin typeface="Lora" pitchFamily="34" charset="0"/>
                <a:ea typeface="Lora" pitchFamily="34" charset="-122"/>
                <a:cs typeface="Lora" pitchFamily="34" charset="-120"/>
              </a:rPr>
              <a:t>1.0</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396835" y="311825"/>
            <a:ext cx="5323165" cy="354330"/>
          </a:xfrm>
          <a:prstGeom prst="rect">
            <a:avLst/>
          </a:prstGeom>
          <a:noFill/>
          <a:ln/>
        </p:spPr>
        <p:txBody>
          <a:bodyPr wrap="none" lIns="0" tIns="0" rIns="0" bIns="0" rtlCol="0" anchor="t"/>
          <a:lstStyle/>
          <a:p>
            <a:pPr algn="l" indent="0" marL="0">
              <a:lnSpc>
                <a:spcPts val="2750"/>
              </a:lnSpc>
              <a:buNone/>
            </a:pPr>
            <a:r>
              <a:rPr lang="en-US" sz="2200" dirty="0">
                <a:solidFill>
                  <a:srgbClr val="233E32"/>
                </a:solidFill>
                <a:latin typeface="Alice" pitchFamily="34" charset="0"/>
                <a:ea typeface="Alice" pitchFamily="34" charset="-122"/>
                <a:cs typeface="Alice" pitchFamily="34" charset="-120"/>
              </a:rPr>
              <a:t>Character Voice Critics Results &amp; Analysis</a:t>
            </a:r>
            <a:endParaRPr lang="en-US" sz="2200" dirty="0"/>
          </a:p>
        </p:txBody>
      </p:sp>
      <p:sp>
        <p:nvSpPr>
          <p:cNvPr id="3" name="Text 1"/>
          <p:cNvSpPr/>
          <p:nvPr/>
        </p:nvSpPr>
        <p:spPr>
          <a:xfrm>
            <a:off x="396835" y="892969"/>
            <a:ext cx="13836729" cy="181451"/>
          </a:xfrm>
          <a:prstGeom prst="rect">
            <a:avLst/>
          </a:prstGeom>
          <a:noFill/>
          <a:ln/>
        </p:spPr>
        <p:txBody>
          <a:bodyPr wrap="none" lIns="0" tIns="0" rIns="0" bIns="0" rtlCol="0" anchor="t"/>
          <a:lstStyle/>
          <a:p>
            <a:pPr algn="l" indent="0" marL="0">
              <a:lnSpc>
                <a:spcPts val="1400"/>
              </a:lnSpc>
              <a:buNone/>
            </a:pPr>
            <a:r>
              <a:rPr lang="en-US" sz="850" b="1" dirty="0">
                <a:solidFill>
                  <a:srgbClr val="2C2821"/>
                </a:solidFill>
                <a:latin typeface="Lora" pitchFamily="34" charset="0"/>
                <a:ea typeface="Lora" pitchFamily="34" charset="-122"/>
                <a:cs typeface="Lora" pitchFamily="34" charset="-120"/>
              </a:rPr>
              <a:t>Model Architecture:</a:t>
            </a:r>
            <a:endParaRPr lang="en-US" sz="850" dirty="0"/>
          </a:p>
        </p:txBody>
      </p:sp>
      <p:sp>
        <p:nvSpPr>
          <p:cNvPr id="4" name="Text 2"/>
          <p:cNvSpPr/>
          <p:nvPr/>
        </p:nvSpPr>
        <p:spPr>
          <a:xfrm>
            <a:off x="396835" y="1201936"/>
            <a:ext cx="13836729" cy="181451"/>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2C2821"/>
                </a:solidFill>
                <a:latin typeface="Lora" pitchFamily="34" charset="0"/>
                <a:ea typeface="Lora" pitchFamily="34" charset="-122"/>
                <a:cs typeface="Lora" pitchFamily="34" charset="-120"/>
              </a:rPr>
              <a:t>DeBERTa-v3-base (184M parameters) + Character Embedding Layer (128-dim)</a:t>
            </a:r>
            <a:endParaRPr lang="en-US" sz="850" dirty="0"/>
          </a:p>
        </p:txBody>
      </p:sp>
      <p:sp>
        <p:nvSpPr>
          <p:cNvPr id="5" name="Text 3"/>
          <p:cNvSpPr/>
          <p:nvPr/>
        </p:nvSpPr>
        <p:spPr>
          <a:xfrm>
            <a:off x="396835" y="1423035"/>
            <a:ext cx="13836729" cy="181451"/>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2C2821"/>
                </a:solidFill>
                <a:latin typeface="Lora" pitchFamily="34" charset="0"/>
                <a:ea typeface="Lora" pitchFamily="34" charset="-122"/>
                <a:cs typeface="Lora" pitchFamily="34" charset="-120"/>
              </a:rPr>
              <a:t>Binary classification: Authentic vs. Mismatched character voice</a:t>
            </a:r>
            <a:endParaRPr lang="en-US" sz="850" dirty="0"/>
          </a:p>
        </p:txBody>
      </p:sp>
      <p:sp>
        <p:nvSpPr>
          <p:cNvPr id="6" name="Text 4"/>
          <p:cNvSpPr/>
          <p:nvPr/>
        </p:nvSpPr>
        <p:spPr>
          <a:xfrm>
            <a:off x="396835" y="1644134"/>
            <a:ext cx="13836729" cy="181451"/>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2C2821"/>
                </a:solidFill>
                <a:latin typeface="Lora" pitchFamily="34" charset="0"/>
                <a:ea typeface="Lora" pitchFamily="34" charset="-122"/>
                <a:cs typeface="Lora" pitchFamily="34" charset="-120"/>
              </a:rPr>
              <a:t>Character-aware fusion: dialogue embeddings + character ID embeddings</a:t>
            </a:r>
            <a:endParaRPr lang="en-US" sz="850" dirty="0"/>
          </a:p>
        </p:txBody>
      </p:sp>
      <p:sp>
        <p:nvSpPr>
          <p:cNvPr id="7" name="Text 5"/>
          <p:cNvSpPr/>
          <p:nvPr/>
        </p:nvSpPr>
        <p:spPr>
          <a:xfrm>
            <a:off x="396835" y="1953101"/>
            <a:ext cx="13836729" cy="181451"/>
          </a:xfrm>
          <a:prstGeom prst="rect">
            <a:avLst/>
          </a:prstGeom>
          <a:noFill/>
          <a:ln/>
        </p:spPr>
        <p:txBody>
          <a:bodyPr wrap="none" lIns="0" tIns="0" rIns="0" bIns="0" rtlCol="0" anchor="t"/>
          <a:lstStyle/>
          <a:p>
            <a:pPr algn="l" indent="0" marL="0">
              <a:lnSpc>
                <a:spcPts val="1400"/>
              </a:lnSpc>
              <a:buNone/>
            </a:pPr>
            <a:r>
              <a:rPr lang="en-US" sz="850" b="1" dirty="0">
                <a:solidFill>
                  <a:srgbClr val="2C2821"/>
                </a:solidFill>
                <a:latin typeface="Lora" pitchFamily="34" charset="0"/>
                <a:ea typeface="Lora" pitchFamily="34" charset="-122"/>
                <a:cs typeface="Lora" pitchFamily="34" charset="-120"/>
              </a:rPr>
              <a:t>Training Data:</a:t>
            </a:r>
            <a:endParaRPr lang="en-US" sz="850" dirty="0"/>
          </a:p>
        </p:txBody>
      </p:sp>
      <p:sp>
        <p:nvSpPr>
          <p:cNvPr id="8" name="Text 6"/>
          <p:cNvSpPr/>
          <p:nvPr/>
        </p:nvSpPr>
        <p:spPr>
          <a:xfrm>
            <a:off x="396835" y="2262068"/>
            <a:ext cx="13836729" cy="181451"/>
          </a:xfrm>
          <a:prstGeom prst="rect">
            <a:avLst/>
          </a:prstGeom>
          <a:noFill/>
          <a:ln/>
        </p:spPr>
        <p:txBody>
          <a:bodyPr wrap="none" lIns="0" tIns="0" rIns="0" bIns="0" rtlCol="0" anchor="t"/>
          <a:lstStyle/>
          <a:p>
            <a:pPr algn="l" marL="342900" indent="-342900">
              <a:lnSpc>
                <a:spcPts val="1400"/>
              </a:lnSpc>
              <a:buSzPct val="100000"/>
              <a:buChar char="•"/>
            </a:pPr>
            <a:r>
              <a:rPr lang="en-US" sz="850" b="1" dirty="0">
                <a:solidFill>
                  <a:srgbClr val="2C2821"/>
                </a:solidFill>
                <a:latin typeface="Lora" pitchFamily="34" charset="0"/>
                <a:ea typeface="Lora" pitchFamily="34" charset="-122"/>
                <a:cs typeface="Lora" pitchFamily="34" charset="-120"/>
              </a:rPr>
              <a:t>127 unique characters</a:t>
            </a:r>
            <a:pPr algn="l" indent="0" marL="0">
              <a:lnSpc>
                <a:spcPts val="1400"/>
              </a:lnSpc>
              <a:buNone/>
            </a:pPr>
            <a:r>
              <a:rPr lang="en-US" sz="850" dirty="0">
                <a:solidFill>
                  <a:srgbClr val="2C2821"/>
                </a:solidFill>
                <a:latin typeface="Lora" pitchFamily="34" charset="0"/>
                <a:ea typeface="Lora" pitchFamily="34" charset="-122"/>
                <a:cs typeface="Lora" pitchFamily="34" charset="-120"/>
              </a:rPr>
              <a:t> from CRD3 dataset</a:t>
            </a:r>
            <a:endParaRPr lang="en-US" sz="850" dirty="0"/>
          </a:p>
        </p:txBody>
      </p:sp>
      <p:sp>
        <p:nvSpPr>
          <p:cNvPr id="9" name="Text 7"/>
          <p:cNvSpPr/>
          <p:nvPr/>
        </p:nvSpPr>
        <p:spPr>
          <a:xfrm>
            <a:off x="396835" y="2483168"/>
            <a:ext cx="13836729" cy="181451"/>
          </a:xfrm>
          <a:prstGeom prst="rect">
            <a:avLst/>
          </a:prstGeom>
          <a:noFill/>
          <a:ln/>
        </p:spPr>
        <p:txBody>
          <a:bodyPr wrap="none" lIns="0" tIns="0" rIns="0" bIns="0" rtlCol="0" anchor="t"/>
          <a:lstStyle/>
          <a:p>
            <a:pPr algn="l" marL="342900" indent="-342900">
              <a:lnSpc>
                <a:spcPts val="1400"/>
              </a:lnSpc>
              <a:buSzPct val="100000"/>
              <a:buChar char="•"/>
            </a:pPr>
            <a:r>
              <a:rPr lang="en-US" sz="850" b="1" dirty="0">
                <a:solidFill>
                  <a:srgbClr val="2C2821"/>
                </a:solidFill>
                <a:latin typeface="Lora" pitchFamily="34" charset="0"/>
                <a:ea typeface="Lora" pitchFamily="34" charset="-122"/>
                <a:cs typeface="Lora" pitchFamily="34" charset="-120"/>
              </a:rPr>
              <a:t>15,642 total examples</a:t>
            </a:r>
            <a:pPr algn="l" indent="0" marL="0">
              <a:lnSpc>
                <a:spcPts val="1400"/>
              </a:lnSpc>
              <a:buNone/>
            </a:pPr>
            <a:r>
              <a:rPr lang="en-US" sz="850" dirty="0">
                <a:solidFill>
                  <a:srgbClr val="2C2821"/>
                </a:solidFill>
                <a:latin typeface="Lora" pitchFamily="34" charset="0"/>
                <a:ea typeface="Lora" pitchFamily="34" charset="-122"/>
                <a:cs typeface="Lora" pitchFamily="34" charset="-120"/>
              </a:rPr>
              <a:t> (50/50 authentic/mismatched split)</a:t>
            </a:r>
            <a:endParaRPr lang="en-US" sz="850" dirty="0"/>
          </a:p>
        </p:txBody>
      </p:sp>
      <p:pic>
        <p:nvPicPr>
          <p:cNvPr id="10" name="Image 0" descr="preencoded.png">    </p:cNvPr>
          <p:cNvPicPr>
            <a:picLocks noChangeAspect="1"/>
          </p:cNvPicPr>
          <p:nvPr/>
        </p:nvPicPr>
        <p:blipFill>
          <a:blip r:embed="rId1"/>
          <a:stretch>
            <a:fillRect/>
          </a:stretch>
        </p:blipFill>
        <p:spPr>
          <a:xfrm>
            <a:off x="396835" y="2792135"/>
            <a:ext cx="3834289" cy="3104674"/>
          </a:xfrm>
          <a:prstGeom prst="rect">
            <a:avLst/>
          </a:prstGeom>
        </p:spPr>
      </p:pic>
      <p:sp>
        <p:nvSpPr>
          <p:cNvPr id="11" name="Text 8"/>
          <p:cNvSpPr/>
          <p:nvPr/>
        </p:nvSpPr>
        <p:spPr>
          <a:xfrm>
            <a:off x="396835" y="6024324"/>
            <a:ext cx="13836729" cy="181451"/>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2C2821"/>
                </a:solidFill>
                <a:latin typeface="Lora" pitchFamily="34" charset="0"/>
                <a:ea typeface="Lora" pitchFamily="34" charset="-122"/>
                <a:cs typeface="Lora" pitchFamily="34" charset="-120"/>
              </a:rPr>
              <a:t>Balanced sampling: 40-80 examples per character</a:t>
            </a:r>
            <a:endParaRPr lang="en-US" sz="850" dirty="0"/>
          </a:p>
        </p:txBody>
      </p:sp>
      <p:sp>
        <p:nvSpPr>
          <p:cNvPr id="12" name="Text 9"/>
          <p:cNvSpPr/>
          <p:nvPr/>
        </p:nvSpPr>
        <p:spPr>
          <a:xfrm>
            <a:off x="396835" y="6333292"/>
            <a:ext cx="13836729" cy="181451"/>
          </a:xfrm>
          <a:prstGeom prst="rect">
            <a:avLst/>
          </a:prstGeom>
          <a:noFill/>
          <a:ln/>
        </p:spPr>
        <p:txBody>
          <a:bodyPr wrap="none" lIns="0" tIns="0" rIns="0" bIns="0" rtlCol="0" anchor="t"/>
          <a:lstStyle/>
          <a:p>
            <a:pPr algn="l" indent="0" marL="0">
              <a:lnSpc>
                <a:spcPts val="1400"/>
              </a:lnSpc>
              <a:buNone/>
            </a:pPr>
            <a:r>
              <a:rPr lang="en-US" sz="850" b="1" dirty="0">
                <a:solidFill>
                  <a:srgbClr val="2C2821"/>
                </a:solidFill>
                <a:latin typeface="Lora" pitchFamily="34" charset="0"/>
                <a:ea typeface="Lora" pitchFamily="34" charset="-122"/>
                <a:cs typeface="Lora" pitchFamily="34" charset="-120"/>
              </a:rPr>
              <a:t>Performance Metrics:</a:t>
            </a:r>
            <a:endParaRPr lang="en-US" sz="850" dirty="0"/>
          </a:p>
        </p:txBody>
      </p:sp>
      <p:sp>
        <p:nvSpPr>
          <p:cNvPr id="13" name="Text 10"/>
          <p:cNvSpPr/>
          <p:nvPr/>
        </p:nvSpPr>
        <p:spPr>
          <a:xfrm>
            <a:off x="396835" y="6642259"/>
            <a:ext cx="13836729" cy="181451"/>
          </a:xfrm>
          <a:prstGeom prst="rect">
            <a:avLst/>
          </a:prstGeom>
          <a:noFill/>
          <a:ln/>
        </p:spPr>
        <p:txBody>
          <a:bodyPr wrap="none" lIns="0" tIns="0" rIns="0" bIns="0" rtlCol="0" anchor="t"/>
          <a:lstStyle/>
          <a:p>
            <a:pPr algn="l" marL="342900" indent="-342900">
              <a:lnSpc>
                <a:spcPts val="1400"/>
              </a:lnSpc>
              <a:buSzPct val="100000"/>
              <a:buChar char="•"/>
            </a:pPr>
            <a:r>
              <a:rPr lang="en-US" sz="850" b="1" dirty="0">
                <a:solidFill>
                  <a:srgbClr val="2C2821"/>
                </a:solidFill>
                <a:latin typeface="Lora" pitchFamily="34" charset="0"/>
                <a:ea typeface="Lora" pitchFamily="34" charset="-122"/>
                <a:cs typeface="Lora" pitchFamily="34" charset="-120"/>
              </a:rPr>
              <a:t>Training Accuracy:</a:t>
            </a:r>
            <a:pPr algn="l" indent="0" marL="0">
              <a:lnSpc>
                <a:spcPts val="1400"/>
              </a:lnSpc>
              <a:buNone/>
            </a:pPr>
            <a:r>
              <a:rPr lang="en-US" sz="850" dirty="0">
                <a:solidFill>
                  <a:srgbClr val="2C2821"/>
                </a:solidFill>
                <a:latin typeface="Lora" pitchFamily="34" charset="0"/>
                <a:ea typeface="Lora" pitchFamily="34" charset="-122"/>
                <a:cs typeface="Lora" pitchFamily="34" charset="-120"/>
              </a:rPr>
              <a:t> 89.2%</a:t>
            </a:r>
            <a:endParaRPr lang="en-US" sz="850" dirty="0"/>
          </a:p>
        </p:txBody>
      </p:sp>
      <p:sp>
        <p:nvSpPr>
          <p:cNvPr id="14" name="Text 11"/>
          <p:cNvSpPr/>
          <p:nvPr/>
        </p:nvSpPr>
        <p:spPr>
          <a:xfrm>
            <a:off x="396835" y="6863358"/>
            <a:ext cx="13836729" cy="181451"/>
          </a:xfrm>
          <a:prstGeom prst="rect">
            <a:avLst/>
          </a:prstGeom>
          <a:noFill/>
          <a:ln/>
        </p:spPr>
        <p:txBody>
          <a:bodyPr wrap="none" lIns="0" tIns="0" rIns="0" bIns="0" rtlCol="0" anchor="t"/>
          <a:lstStyle/>
          <a:p>
            <a:pPr algn="l" marL="342900" indent="-342900">
              <a:lnSpc>
                <a:spcPts val="1400"/>
              </a:lnSpc>
              <a:buSzPct val="100000"/>
              <a:buChar char="•"/>
            </a:pPr>
            <a:r>
              <a:rPr lang="en-US" sz="850" b="1" dirty="0">
                <a:solidFill>
                  <a:srgbClr val="2C2821"/>
                </a:solidFill>
                <a:latin typeface="Lora" pitchFamily="34" charset="0"/>
                <a:ea typeface="Lora" pitchFamily="34" charset="-122"/>
                <a:cs typeface="Lora" pitchFamily="34" charset="-120"/>
              </a:rPr>
              <a:t>Validation Accuracy:</a:t>
            </a:r>
            <a:pPr algn="l" indent="0" marL="0">
              <a:lnSpc>
                <a:spcPts val="1400"/>
              </a:lnSpc>
              <a:buNone/>
            </a:pPr>
            <a:r>
              <a:rPr lang="en-US" sz="850" dirty="0">
                <a:solidFill>
                  <a:srgbClr val="2C2821"/>
                </a:solidFill>
                <a:latin typeface="Lora" pitchFamily="34" charset="0"/>
                <a:ea typeface="Lora" pitchFamily="34" charset="-122"/>
                <a:cs typeface="Lora" pitchFamily="34" charset="-120"/>
              </a:rPr>
              <a:t> 87.3%</a:t>
            </a:r>
            <a:endParaRPr lang="en-US" sz="850" dirty="0"/>
          </a:p>
        </p:txBody>
      </p:sp>
      <p:sp>
        <p:nvSpPr>
          <p:cNvPr id="15" name="Text 12"/>
          <p:cNvSpPr/>
          <p:nvPr/>
        </p:nvSpPr>
        <p:spPr>
          <a:xfrm>
            <a:off x="396835" y="7084457"/>
            <a:ext cx="13836729" cy="181451"/>
          </a:xfrm>
          <a:prstGeom prst="rect">
            <a:avLst/>
          </a:prstGeom>
          <a:noFill/>
          <a:ln/>
        </p:spPr>
        <p:txBody>
          <a:bodyPr wrap="none" lIns="0" tIns="0" rIns="0" bIns="0" rtlCol="0" anchor="t"/>
          <a:lstStyle/>
          <a:p>
            <a:pPr algn="l" marL="342900" indent="-342900">
              <a:lnSpc>
                <a:spcPts val="1400"/>
              </a:lnSpc>
              <a:buSzPct val="100000"/>
              <a:buChar char="•"/>
            </a:pPr>
            <a:r>
              <a:rPr lang="en-US" sz="850" b="1" dirty="0">
                <a:solidFill>
                  <a:srgbClr val="2C2821"/>
                </a:solidFill>
                <a:latin typeface="Lora" pitchFamily="34" charset="0"/>
                <a:ea typeface="Lora" pitchFamily="34" charset="-122"/>
                <a:cs typeface="Lora" pitchFamily="34" charset="-120"/>
              </a:rPr>
              <a:t>Test Accuracy:</a:t>
            </a:r>
            <a:pPr algn="l" indent="0" marL="0">
              <a:lnSpc>
                <a:spcPts val="1400"/>
              </a:lnSpc>
              <a:buNone/>
            </a:pPr>
            <a:r>
              <a:rPr lang="en-US" sz="850" dirty="0">
                <a:solidFill>
                  <a:srgbClr val="2C2821"/>
                </a:solidFill>
                <a:latin typeface="Lora" pitchFamily="34" charset="0"/>
                <a:ea typeface="Lora" pitchFamily="34" charset="-122"/>
                <a:cs typeface="Lora" pitchFamily="34" charset="-120"/>
              </a:rPr>
              <a:t> 87.6%</a:t>
            </a:r>
            <a:endParaRPr lang="en-US" sz="850" dirty="0"/>
          </a:p>
        </p:txBody>
      </p:sp>
      <p:sp>
        <p:nvSpPr>
          <p:cNvPr id="16" name="Text 13"/>
          <p:cNvSpPr/>
          <p:nvPr/>
        </p:nvSpPr>
        <p:spPr>
          <a:xfrm>
            <a:off x="396835" y="7305556"/>
            <a:ext cx="13836729" cy="181451"/>
          </a:xfrm>
          <a:prstGeom prst="rect">
            <a:avLst/>
          </a:prstGeom>
          <a:noFill/>
          <a:ln/>
        </p:spPr>
        <p:txBody>
          <a:bodyPr wrap="none" lIns="0" tIns="0" rIns="0" bIns="0" rtlCol="0" anchor="t"/>
          <a:lstStyle/>
          <a:p>
            <a:pPr algn="l" marL="342900" indent="-342900">
              <a:lnSpc>
                <a:spcPts val="1400"/>
              </a:lnSpc>
              <a:buSzPct val="100000"/>
              <a:buChar char="•"/>
            </a:pPr>
            <a:r>
              <a:rPr lang="en-US" sz="850" b="1" dirty="0">
                <a:solidFill>
                  <a:srgbClr val="2C2821"/>
                </a:solidFill>
                <a:latin typeface="Lora" pitchFamily="34" charset="0"/>
                <a:ea typeface="Lora" pitchFamily="34" charset="-122"/>
                <a:cs typeface="Lora" pitchFamily="34" charset="-120"/>
              </a:rPr>
              <a:t>Precision:</a:t>
            </a:r>
            <a:pPr algn="l" indent="0" marL="0">
              <a:lnSpc>
                <a:spcPts val="1400"/>
              </a:lnSpc>
              <a:buNone/>
            </a:pPr>
            <a:r>
              <a:rPr lang="en-US" sz="850" dirty="0">
                <a:solidFill>
                  <a:srgbClr val="2C2821"/>
                </a:solidFill>
                <a:latin typeface="Lora" pitchFamily="34" charset="0"/>
                <a:ea typeface="Lora" pitchFamily="34" charset="-122"/>
                <a:cs typeface="Lora" pitchFamily="34" charset="-120"/>
              </a:rPr>
              <a:t> 82.3%</a:t>
            </a:r>
            <a:endParaRPr lang="en-US" sz="850" dirty="0"/>
          </a:p>
        </p:txBody>
      </p:sp>
      <p:sp>
        <p:nvSpPr>
          <p:cNvPr id="17" name="Text 14"/>
          <p:cNvSpPr/>
          <p:nvPr/>
        </p:nvSpPr>
        <p:spPr>
          <a:xfrm>
            <a:off x="396835" y="7526655"/>
            <a:ext cx="13836729" cy="181451"/>
          </a:xfrm>
          <a:prstGeom prst="rect">
            <a:avLst/>
          </a:prstGeom>
          <a:noFill/>
          <a:ln/>
        </p:spPr>
        <p:txBody>
          <a:bodyPr wrap="none" lIns="0" tIns="0" rIns="0" bIns="0" rtlCol="0" anchor="t"/>
          <a:lstStyle/>
          <a:p>
            <a:pPr algn="l" marL="342900" indent="-342900">
              <a:lnSpc>
                <a:spcPts val="1400"/>
              </a:lnSpc>
              <a:buSzPct val="100000"/>
              <a:buChar char="•"/>
            </a:pPr>
            <a:r>
              <a:rPr lang="en-US" sz="850" b="1" dirty="0">
                <a:solidFill>
                  <a:srgbClr val="2C2821"/>
                </a:solidFill>
                <a:latin typeface="Lora" pitchFamily="34" charset="0"/>
                <a:ea typeface="Lora" pitchFamily="34" charset="-122"/>
                <a:cs typeface="Lora" pitchFamily="34" charset="-120"/>
              </a:rPr>
              <a:t>Recall:</a:t>
            </a:r>
            <a:pPr algn="l" indent="0" marL="0">
              <a:lnSpc>
                <a:spcPts val="1400"/>
              </a:lnSpc>
              <a:buNone/>
            </a:pPr>
            <a:r>
              <a:rPr lang="en-US" sz="850" dirty="0">
                <a:solidFill>
                  <a:srgbClr val="2C2821"/>
                </a:solidFill>
                <a:latin typeface="Lora" pitchFamily="34" charset="0"/>
                <a:ea typeface="Lora" pitchFamily="34" charset="-122"/>
                <a:cs typeface="Lora" pitchFamily="34" charset="-120"/>
              </a:rPr>
              <a:t> 95.72%</a:t>
            </a:r>
            <a:endParaRPr lang="en-US" sz="850" dirty="0"/>
          </a:p>
        </p:txBody>
      </p:sp>
      <p:sp>
        <p:nvSpPr>
          <p:cNvPr id="18" name="Text 15"/>
          <p:cNvSpPr/>
          <p:nvPr/>
        </p:nvSpPr>
        <p:spPr>
          <a:xfrm>
            <a:off x="396835" y="7835622"/>
            <a:ext cx="13836729" cy="181451"/>
          </a:xfrm>
          <a:prstGeom prst="rect">
            <a:avLst/>
          </a:prstGeom>
          <a:noFill/>
          <a:ln/>
        </p:spPr>
        <p:txBody>
          <a:bodyPr wrap="none" lIns="0" tIns="0" rIns="0" bIns="0" rtlCol="0" anchor="t"/>
          <a:lstStyle/>
          <a:p>
            <a:pPr algn="l" indent="0" marL="0">
              <a:lnSpc>
                <a:spcPts val="1400"/>
              </a:lnSpc>
              <a:buNone/>
            </a:pP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15089" y="563166"/>
            <a:ext cx="5107781" cy="638413"/>
          </a:xfrm>
          <a:prstGeom prst="rect">
            <a:avLst/>
          </a:prstGeom>
          <a:noFill/>
          <a:ln/>
        </p:spPr>
        <p:txBody>
          <a:bodyPr wrap="none" lIns="0" tIns="0" rIns="0" bIns="0" rtlCol="0" anchor="t"/>
          <a:lstStyle/>
          <a:p>
            <a:pPr algn="l" indent="0" marL="0">
              <a:lnSpc>
                <a:spcPts val="5000"/>
              </a:lnSpc>
              <a:buNone/>
            </a:pPr>
            <a:r>
              <a:rPr lang="en-US" sz="4000" dirty="0">
                <a:solidFill>
                  <a:srgbClr val="233E32"/>
                </a:solidFill>
                <a:latin typeface="Alice" pitchFamily="34" charset="0"/>
                <a:ea typeface="Alice" pitchFamily="34" charset="-122"/>
                <a:cs typeface="Alice" pitchFamily="34" charset="-120"/>
              </a:rPr>
              <a:t>Hybrid Player</a:t>
            </a:r>
            <a:endParaRPr lang="en-US" sz="4000" dirty="0"/>
          </a:p>
        </p:txBody>
      </p:sp>
      <p:sp>
        <p:nvSpPr>
          <p:cNvPr id="3" name="Text 1"/>
          <p:cNvSpPr/>
          <p:nvPr/>
        </p:nvSpPr>
        <p:spPr>
          <a:xfrm>
            <a:off x="715089" y="1610201"/>
            <a:ext cx="13200221" cy="326827"/>
          </a:xfrm>
          <a:prstGeom prst="rect">
            <a:avLst/>
          </a:prstGeom>
          <a:noFill/>
          <a:ln/>
        </p:spPr>
        <p:txBody>
          <a:bodyPr wrap="none" lIns="0" tIns="0" rIns="0" bIns="0" rtlCol="0" anchor="t"/>
          <a:lstStyle/>
          <a:p>
            <a:pPr algn="l" indent="0" marL="0">
              <a:lnSpc>
                <a:spcPts val="2550"/>
              </a:lnSpc>
              <a:buNone/>
            </a:pPr>
            <a:r>
              <a:rPr lang="en-US" sz="1600" b="1" dirty="0">
                <a:solidFill>
                  <a:srgbClr val="2C2821"/>
                </a:solidFill>
                <a:latin typeface="Lora" pitchFamily="34" charset="0"/>
                <a:ea typeface="Lora" pitchFamily="34" charset="-122"/>
                <a:cs typeface="Lora" pitchFamily="34" charset="-120"/>
              </a:rPr>
              <a:t>Hybrid Player: Automated Player Behavior Simulation</a:t>
            </a:r>
            <a:endParaRPr lang="en-US" sz="1600" dirty="0"/>
          </a:p>
        </p:txBody>
      </p:sp>
      <p:sp>
        <p:nvSpPr>
          <p:cNvPr id="4" name="Text 2"/>
          <p:cNvSpPr/>
          <p:nvPr/>
        </p:nvSpPr>
        <p:spPr>
          <a:xfrm>
            <a:off x="715089" y="2166818"/>
            <a:ext cx="13200221" cy="326827"/>
          </a:xfrm>
          <a:prstGeom prst="rect">
            <a:avLst/>
          </a:prstGeom>
          <a:noFill/>
          <a:ln/>
        </p:spPr>
        <p:txBody>
          <a:bodyPr wrap="none" lIns="0" tIns="0" rIns="0" bIns="0" rtlCol="0" anchor="t"/>
          <a:lstStyle/>
          <a:p>
            <a:pPr algn="l" indent="0" marL="0">
              <a:lnSpc>
                <a:spcPts val="2550"/>
              </a:lnSpc>
              <a:buNone/>
            </a:pPr>
            <a:r>
              <a:rPr lang="en-US" sz="1600" b="1" dirty="0">
                <a:solidFill>
                  <a:srgbClr val="2C2821"/>
                </a:solidFill>
                <a:latin typeface="Lora" pitchFamily="34" charset="0"/>
                <a:ea typeface="Lora" pitchFamily="34" charset="-122"/>
                <a:cs typeface="Lora" pitchFamily="34" charset="-120"/>
              </a:rPr>
              <a:t>Dual-Component Architecture:</a:t>
            </a:r>
            <a:endParaRPr lang="en-US" sz="1600" dirty="0"/>
          </a:p>
        </p:txBody>
      </p:sp>
      <p:sp>
        <p:nvSpPr>
          <p:cNvPr id="5" name="Text 3"/>
          <p:cNvSpPr/>
          <p:nvPr/>
        </p:nvSpPr>
        <p:spPr>
          <a:xfrm>
            <a:off x="715089" y="2723436"/>
            <a:ext cx="13200221" cy="326827"/>
          </a:xfrm>
          <a:prstGeom prst="rect">
            <a:avLst/>
          </a:prstGeom>
          <a:noFill/>
          <a:ln/>
        </p:spPr>
        <p:txBody>
          <a:bodyPr wrap="none" lIns="0" tIns="0" rIns="0" bIns="0" rtlCol="0" anchor="t"/>
          <a:lstStyle/>
          <a:p>
            <a:pPr algn="l" marL="342900" indent="-342900">
              <a:lnSpc>
                <a:spcPts val="2550"/>
              </a:lnSpc>
              <a:buSzPct val="100000"/>
              <a:buChar char="•"/>
            </a:pPr>
            <a:r>
              <a:rPr lang="en-US" sz="1600" dirty="0">
                <a:solidFill>
                  <a:srgbClr val="2C2821"/>
                </a:solidFill>
                <a:latin typeface="Lora" pitchFamily="34" charset="0"/>
                <a:ea typeface="Lora" pitchFamily="34" charset="-122"/>
                <a:cs typeface="Lora" pitchFamily="34" charset="-120"/>
              </a:rPr>
              <a:t>Language Model: DistilGPT-2 (82M params) for utterance generation</a:t>
            </a:r>
            <a:endParaRPr lang="en-US" sz="1600" dirty="0"/>
          </a:p>
        </p:txBody>
      </p:sp>
      <p:sp>
        <p:nvSpPr>
          <p:cNvPr id="6" name="Text 4"/>
          <p:cNvSpPr/>
          <p:nvPr/>
        </p:nvSpPr>
        <p:spPr>
          <a:xfrm>
            <a:off x="715089" y="3121700"/>
            <a:ext cx="13200221" cy="326827"/>
          </a:xfrm>
          <a:prstGeom prst="rect">
            <a:avLst/>
          </a:prstGeom>
          <a:noFill/>
          <a:ln/>
        </p:spPr>
        <p:txBody>
          <a:bodyPr wrap="none" lIns="0" tIns="0" rIns="0" bIns="0" rtlCol="0" anchor="t"/>
          <a:lstStyle/>
          <a:p>
            <a:pPr algn="l" marL="342900" indent="-342900">
              <a:lnSpc>
                <a:spcPts val="2550"/>
              </a:lnSpc>
              <a:buSzPct val="100000"/>
              <a:buChar char="•"/>
            </a:pPr>
            <a:r>
              <a:rPr lang="en-US" sz="1600" dirty="0">
                <a:solidFill>
                  <a:srgbClr val="2C2821"/>
                </a:solidFill>
                <a:latin typeface="Lora" pitchFamily="34" charset="0"/>
                <a:ea typeface="Lora" pitchFamily="34" charset="-122"/>
                <a:cs typeface="Lora" pitchFamily="34" charset="-120"/>
              </a:rPr>
              <a:t>Intent Classifier: DistilBERT (66M params) for action categorization</a:t>
            </a:r>
            <a:endParaRPr lang="en-US" sz="1600" dirty="0"/>
          </a:p>
        </p:txBody>
      </p:sp>
      <p:sp>
        <p:nvSpPr>
          <p:cNvPr id="7" name="Text 5"/>
          <p:cNvSpPr/>
          <p:nvPr/>
        </p:nvSpPr>
        <p:spPr>
          <a:xfrm>
            <a:off x="715089" y="3519964"/>
            <a:ext cx="13200221" cy="326827"/>
          </a:xfrm>
          <a:prstGeom prst="rect">
            <a:avLst/>
          </a:prstGeom>
          <a:noFill/>
          <a:ln/>
        </p:spPr>
        <p:txBody>
          <a:bodyPr wrap="none" lIns="0" tIns="0" rIns="0" bIns="0" rtlCol="0" anchor="t"/>
          <a:lstStyle/>
          <a:p>
            <a:pPr algn="l" marL="342900" indent="-342900">
              <a:lnSpc>
                <a:spcPts val="2550"/>
              </a:lnSpc>
              <a:buSzPct val="100000"/>
              <a:buChar char="•"/>
            </a:pPr>
            <a:r>
              <a:rPr lang="en-US" sz="1600" dirty="0">
                <a:solidFill>
                  <a:srgbClr val="2C2821"/>
                </a:solidFill>
                <a:latin typeface="Lora" pitchFamily="34" charset="0"/>
                <a:ea typeface="Lora" pitchFamily="34" charset="-122"/>
                <a:cs typeface="Lora" pitchFamily="34" charset="-120"/>
              </a:rPr>
              <a:t>Unified interface for PPO training integration</a:t>
            </a:r>
            <a:endParaRPr lang="en-US" sz="1600" dirty="0"/>
          </a:p>
        </p:txBody>
      </p:sp>
      <p:sp>
        <p:nvSpPr>
          <p:cNvPr id="8" name="Text 6"/>
          <p:cNvSpPr/>
          <p:nvPr/>
        </p:nvSpPr>
        <p:spPr>
          <a:xfrm>
            <a:off x="715089" y="4076581"/>
            <a:ext cx="13200221" cy="326827"/>
          </a:xfrm>
          <a:prstGeom prst="rect">
            <a:avLst/>
          </a:prstGeom>
          <a:noFill/>
          <a:ln/>
        </p:spPr>
        <p:txBody>
          <a:bodyPr wrap="none" lIns="0" tIns="0" rIns="0" bIns="0" rtlCol="0" anchor="t"/>
          <a:lstStyle/>
          <a:p>
            <a:pPr algn="l" indent="0" marL="0">
              <a:lnSpc>
                <a:spcPts val="2550"/>
              </a:lnSpc>
              <a:buNone/>
            </a:pPr>
            <a:r>
              <a:rPr lang="en-US" sz="1600" b="1" dirty="0">
                <a:solidFill>
                  <a:srgbClr val="2C2821"/>
                </a:solidFill>
                <a:latin typeface="Lora" pitchFamily="34" charset="0"/>
                <a:ea typeface="Lora" pitchFamily="34" charset="-122"/>
                <a:cs typeface="Lora" pitchFamily="34" charset="-120"/>
              </a:rPr>
              <a:t>Three Intent Categories:</a:t>
            </a:r>
            <a:endParaRPr lang="en-US" sz="1600" dirty="0"/>
          </a:p>
        </p:txBody>
      </p:sp>
      <p:sp>
        <p:nvSpPr>
          <p:cNvPr id="9" name="Text 7"/>
          <p:cNvSpPr/>
          <p:nvPr/>
        </p:nvSpPr>
        <p:spPr>
          <a:xfrm>
            <a:off x="715089" y="4633198"/>
            <a:ext cx="13200221" cy="326827"/>
          </a:xfrm>
          <a:prstGeom prst="rect">
            <a:avLst/>
          </a:prstGeom>
          <a:noFill/>
          <a:ln/>
        </p:spPr>
        <p:txBody>
          <a:bodyPr wrap="none" lIns="0" tIns="0" rIns="0" bIns="0" rtlCol="0" anchor="t"/>
          <a:lstStyle/>
          <a:p>
            <a:pPr algn="l" marL="342900" indent="-342900">
              <a:lnSpc>
                <a:spcPts val="2550"/>
              </a:lnSpc>
              <a:buSzPct val="100000"/>
              <a:buChar char="•"/>
            </a:pPr>
            <a:r>
              <a:rPr lang="en-US" sz="1600" dirty="0">
                <a:solidFill>
                  <a:srgbClr val="2C2821"/>
                </a:solidFill>
                <a:latin typeface="Lora" pitchFamily="34" charset="0"/>
                <a:ea typeface="Lora" pitchFamily="34" charset="-122"/>
                <a:cs typeface="Lora" pitchFamily="34" charset="-120"/>
              </a:rPr>
              <a:t>EXPLORE (40%): Investigation, movement, information-seeking</a:t>
            </a:r>
            <a:endParaRPr lang="en-US" sz="1600" dirty="0"/>
          </a:p>
        </p:txBody>
      </p:sp>
      <p:sp>
        <p:nvSpPr>
          <p:cNvPr id="10" name="Text 8"/>
          <p:cNvSpPr/>
          <p:nvPr/>
        </p:nvSpPr>
        <p:spPr>
          <a:xfrm>
            <a:off x="715089" y="5031462"/>
            <a:ext cx="13200221" cy="326827"/>
          </a:xfrm>
          <a:prstGeom prst="rect">
            <a:avLst/>
          </a:prstGeom>
          <a:noFill/>
          <a:ln/>
        </p:spPr>
        <p:txBody>
          <a:bodyPr wrap="none" lIns="0" tIns="0" rIns="0" bIns="0" rtlCol="0" anchor="t"/>
          <a:lstStyle/>
          <a:p>
            <a:pPr algn="l" marL="342900" indent="-342900">
              <a:lnSpc>
                <a:spcPts val="2550"/>
              </a:lnSpc>
              <a:buSzPct val="100000"/>
              <a:buChar char="•"/>
            </a:pPr>
            <a:r>
              <a:rPr lang="en-US" sz="1600" dirty="0">
                <a:solidFill>
                  <a:srgbClr val="2C2821"/>
                </a:solidFill>
                <a:latin typeface="Lora" pitchFamily="34" charset="0"/>
                <a:ea typeface="Lora" pitchFamily="34" charset="-122"/>
                <a:cs typeface="Lora" pitchFamily="34" charset="-120"/>
              </a:rPr>
              <a:t>ACTION (35%): Combat, spellcasting, physical interactions</a:t>
            </a:r>
            <a:endParaRPr lang="en-US" sz="1600" dirty="0"/>
          </a:p>
        </p:txBody>
      </p:sp>
      <p:sp>
        <p:nvSpPr>
          <p:cNvPr id="11" name="Text 9"/>
          <p:cNvSpPr/>
          <p:nvPr/>
        </p:nvSpPr>
        <p:spPr>
          <a:xfrm>
            <a:off x="715089" y="5429726"/>
            <a:ext cx="13200221" cy="326827"/>
          </a:xfrm>
          <a:prstGeom prst="rect">
            <a:avLst/>
          </a:prstGeom>
          <a:noFill/>
          <a:ln/>
        </p:spPr>
        <p:txBody>
          <a:bodyPr wrap="none" lIns="0" tIns="0" rIns="0" bIns="0" rtlCol="0" anchor="t"/>
          <a:lstStyle/>
          <a:p>
            <a:pPr algn="l" marL="342900" indent="-342900">
              <a:lnSpc>
                <a:spcPts val="2550"/>
              </a:lnSpc>
              <a:buSzPct val="100000"/>
              <a:buChar char="•"/>
            </a:pPr>
            <a:r>
              <a:rPr lang="en-US" sz="1600" dirty="0">
                <a:solidFill>
                  <a:srgbClr val="2C2821"/>
                </a:solidFill>
                <a:latin typeface="Lora" pitchFamily="34" charset="0"/>
                <a:ea typeface="Lora" pitchFamily="34" charset="-122"/>
                <a:cs typeface="Lora" pitchFamily="34" charset="-120"/>
              </a:rPr>
              <a:t>DIALOGUE (25%): NPC conversation, social interactions</a:t>
            </a:r>
            <a:endParaRPr lang="en-US" sz="1600" dirty="0"/>
          </a:p>
        </p:txBody>
      </p:sp>
      <p:sp>
        <p:nvSpPr>
          <p:cNvPr id="12" name="Text 10"/>
          <p:cNvSpPr/>
          <p:nvPr/>
        </p:nvSpPr>
        <p:spPr>
          <a:xfrm>
            <a:off x="715089" y="5986343"/>
            <a:ext cx="13200221" cy="326827"/>
          </a:xfrm>
          <a:prstGeom prst="rect">
            <a:avLst/>
          </a:prstGeom>
          <a:noFill/>
          <a:ln/>
        </p:spPr>
        <p:txBody>
          <a:bodyPr wrap="none" lIns="0" tIns="0" rIns="0" bIns="0" rtlCol="0" anchor="t"/>
          <a:lstStyle/>
          <a:p>
            <a:pPr algn="l" indent="0" marL="0">
              <a:lnSpc>
                <a:spcPts val="2550"/>
              </a:lnSpc>
              <a:buNone/>
            </a:pPr>
            <a:r>
              <a:rPr lang="en-US" sz="1600" b="1" dirty="0">
                <a:solidFill>
                  <a:srgbClr val="2C2821"/>
                </a:solidFill>
                <a:latin typeface="Lora" pitchFamily="34" charset="0"/>
                <a:ea typeface="Lora" pitchFamily="34" charset="-122"/>
                <a:cs typeface="Lora" pitchFamily="34" charset="-120"/>
              </a:rPr>
              <a:t>Dataset Sources:</a:t>
            </a:r>
            <a:endParaRPr lang="en-US" sz="1600" dirty="0"/>
          </a:p>
        </p:txBody>
      </p:sp>
      <p:sp>
        <p:nvSpPr>
          <p:cNvPr id="13" name="Text 11"/>
          <p:cNvSpPr/>
          <p:nvPr/>
        </p:nvSpPr>
        <p:spPr>
          <a:xfrm>
            <a:off x="715089" y="6542961"/>
            <a:ext cx="13200221" cy="326827"/>
          </a:xfrm>
          <a:prstGeom prst="rect">
            <a:avLst/>
          </a:prstGeom>
          <a:noFill/>
          <a:ln/>
        </p:spPr>
        <p:txBody>
          <a:bodyPr wrap="none" lIns="0" tIns="0" rIns="0" bIns="0" rtlCol="0" anchor="t"/>
          <a:lstStyle/>
          <a:p>
            <a:pPr algn="l" marL="342900" indent="-342900">
              <a:lnSpc>
                <a:spcPts val="2550"/>
              </a:lnSpc>
              <a:buSzPct val="100000"/>
              <a:buChar char="•"/>
            </a:pPr>
            <a:r>
              <a:rPr lang="en-US" sz="1600" dirty="0">
                <a:solidFill>
                  <a:srgbClr val="2C2821"/>
                </a:solidFill>
                <a:latin typeface="Lora" pitchFamily="34" charset="0"/>
                <a:ea typeface="Lora" pitchFamily="34" charset="-122"/>
                <a:cs typeface="Lora" pitchFamily="34" charset="-120"/>
              </a:rPr>
              <a:t>CRD3: 519K player utterances from D&amp;D sessions</a:t>
            </a:r>
            <a:endParaRPr lang="en-US" sz="1600" dirty="0"/>
          </a:p>
        </p:txBody>
      </p:sp>
      <p:sp>
        <p:nvSpPr>
          <p:cNvPr id="14" name="Text 12"/>
          <p:cNvSpPr/>
          <p:nvPr/>
        </p:nvSpPr>
        <p:spPr>
          <a:xfrm>
            <a:off x="715089" y="6941225"/>
            <a:ext cx="13200221" cy="326827"/>
          </a:xfrm>
          <a:prstGeom prst="rect">
            <a:avLst/>
          </a:prstGeom>
          <a:noFill/>
          <a:ln/>
        </p:spPr>
        <p:txBody>
          <a:bodyPr wrap="none" lIns="0" tIns="0" rIns="0" bIns="0" rtlCol="0" anchor="t"/>
          <a:lstStyle/>
          <a:p>
            <a:pPr algn="l" marL="342900" indent="-342900">
              <a:lnSpc>
                <a:spcPts val="2550"/>
              </a:lnSpc>
              <a:buSzPct val="100000"/>
              <a:buChar char="•"/>
            </a:pPr>
            <a:r>
              <a:rPr lang="en-US" sz="1600" dirty="0">
                <a:solidFill>
                  <a:srgbClr val="2C2821"/>
                </a:solidFill>
                <a:latin typeface="Lora" pitchFamily="34" charset="0"/>
                <a:ea typeface="Lora" pitchFamily="34" charset="-122"/>
                <a:cs typeface="Lora" pitchFamily="34" charset="-120"/>
              </a:rPr>
              <a:t>LIGHT: 108K fantasy dialogue interactions</a:t>
            </a:r>
            <a:endParaRPr lang="en-US" sz="1600" dirty="0"/>
          </a:p>
        </p:txBody>
      </p:sp>
      <p:sp>
        <p:nvSpPr>
          <p:cNvPr id="15" name="Text 13"/>
          <p:cNvSpPr/>
          <p:nvPr/>
        </p:nvSpPr>
        <p:spPr>
          <a:xfrm>
            <a:off x="715089" y="7339489"/>
            <a:ext cx="13200221" cy="326827"/>
          </a:xfrm>
          <a:prstGeom prst="rect">
            <a:avLst/>
          </a:prstGeom>
          <a:noFill/>
          <a:ln/>
        </p:spPr>
        <p:txBody>
          <a:bodyPr wrap="none" lIns="0" tIns="0" rIns="0" bIns="0" rtlCol="0" anchor="t"/>
          <a:lstStyle/>
          <a:p>
            <a:pPr algn="l" marL="342900" indent="-342900">
              <a:lnSpc>
                <a:spcPts val="2550"/>
              </a:lnSpc>
              <a:buSzPct val="100000"/>
              <a:buChar char="•"/>
            </a:pPr>
            <a:r>
              <a:rPr lang="en-US" sz="1600" dirty="0">
                <a:solidFill>
                  <a:srgbClr val="2C2821"/>
                </a:solidFill>
                <a:latin typeface="Lora" pitchFamily="34" charset="0"/>
                <a:ea typeface="Lora" pitchFamily="34" charset="-122"/>
                <a:cs typeface="Lora" pitchFamily="34" charset="-120"/>
              </a:rPr>
              <a:t>Automatic intent labeling via keyword matching</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50200" y="510778"/>
            <a:ext cx="6665714" cy="580549"/>
          </a:xfrm>
          <a:prstGeom prst="rect">
            <a:avLst/>
          </a:prstGeom>
          <a:noFill/>
          <a:ln/>
        </p:spPr>
        <p:txBody>
          <a:bodyPr wrap="none" lIns="0" tIns="0" rIns="0" bIns="0" rtlCol="0" anchor="t"/>
          <a:lstStyle/>
          <a:p>
            <a:pPr algn="l" indent="0" marL="0">
              <a:lnSpc>
                <a:spcPts val="4550"/>
              </a:lnSpc>
              <a:buNone/>
            </a:pPr>
            <a:r>
              <a:rPr lang="en-US" sz="3650" dirty="0">
                <a:solidFill>
                  <a:srgbClr val="233E32"/>
                </a:solidFill>
                <a:latin typeface="Alice" pitchFamily="34" charset="0"/>
                <a:ea typeface="Alice" pitchFamily="34" charset="-122"/>
                <a:cs typeface="Alice" pitchFamily="34" charset="-120"/>
              </a:rPr>
              <a:t>Hybrid Player - Training Results</a:t>
            </a:r>
            <a:endParaRPr lang="en-US" sz="3650" dirty="0"/>
          </a:p>
        </p:txBody>
      </p:sp>
      <p:sp>
        <p:nvSpPr>
          <p:cNvPr id="3" name="Text 1"/>
          <p:cNvSpPr/>
          <p:nvPr/>
        </p:nvSpPr>
        <p:spPr>
          <a:xfrm>
            <a:off x="650200" y="1462802"/>
            <a:ext cx="13329999" cy="297180"/>
          </a:xfrm>
          <a:prstGeom prst="rect">
            <a:avLst/>
          </a:prstGeom>
          <a:noFill/>
          <a:ln/>
        </p:spPr>
        <p:txBody>
          <a:bodyPr wrap="none" lIns="0" tIns="0" rIns="0" bIns="0" rtlCol="0" anchor="t"/>
          <a:lstStyle/>
          <a:p>
            <a:pPr algn="l" indent="0" marL="0">
              <a:lnSpc>
                <a:spcPts val="2300"/>
              </a:lnSpc>
              <a:buNone/>
            </a:pPr>
            <a:r>
              <a:rPr lang="en-US" sz="1450" dirty="0">
                <a:solidFill>
                  <a:srgbClr val="2C2821"/>
                </a:solidFill>
                <a:latin typeface="Lora" pitchFamily="34" charset="0"/>
                <a:ea typeface="Lora" pitchFamily="34" charset="-122"/>
                <a:cs typeface="Lora" pitchFamily="34" charset="-120"/>
              </a:rPr>
              <a:t>Accuracy : 98.53%</a:t>
            </a:r>
            <a:endParaRPr lang="en-US" sz="1450" dirty="0"/>
          </a:p>
        </p:txBody>
      </p:sp>
      <p:pic>
        <p:nvPicPr>
          <p:cNvPr id="4" name="Image 0" descr="preencoded.png">    </p:cNvPr>
          <p:cNvPicPr>
            <a:picLocks noChangeAspect="1"/>
          </p:cNvPicPr>
          <p:nvPr/>
        </p:nvPicPr>
        <p:blipFill>
          <a:blip r:embed="rId1"/>
          <a:stretch>
            <a:fillRect/>
          </a:stretch>
        </p:blipFill>
        <p:spPr>
          <a:xfrm>
            <a:off x="650200" y="2177891"/>
            <a:ext cx="6895743" cy="5085398"/>
          </a:xfrm>
          <a:prstGeom prst="rect">
            <a:avLst/>
          </a:prstGeom>
        </p:spPr>
      </p:pic>
      <p:sp>
        <p:nvSpPr>
          <p:cNvPr id="5" name="Text 2"/>
          <p:cNvSpPr/>
          <p:nvPr/>
        </p:nvSpPr>
        <p:spPr>
          <a:xfrm>
            <a:off x="8514159" y="2136100"/>
            <a:ext cx="5473541" cy="297180"/>
          </a:xfrm>
          <a:prstGeom prst="rect">
            <a:avLst/>
          </a:prstGeom>
          <a:noFill/>
          <a:ln/>
        </p:spPr>
        <p:txBody>
          <a:bodyPr wrap="none" lIns="0" tIns="0" rIns="0" bIns="0" rtlCol="0" anchor="t"/>
          <a:lstStyle/>
          <a:p>
            <a:pPr algn="l" indent="0" marL="0">
              <a:lnSpc>
                <a:spcPts val="2300"/>
              </a:lnSpc>
              <a:buNone/>
            </a:pPr>
            <a:endParaRPr lang="en-US" sz="1450" dirty="0"/>
          </a:p>
        </p:txBody>
      </p:sp>
      <p:sp>
        <p:nvSpPr>
          <p:cNvPr id="6" name="Text 3"/>
          <p:cNvSpPr/>
          <p:nvPr/>
        </p:nvSpPr>
        <p:spPr>
          <a:xfrm>
            <a:off x="650200" y="7681198"/>
            <a:ext cx="13329999" cy="297180"/>
          </a:xfrm>
          <a:prstGeom prst="rect">
            <a:avLst/>
          </a:prstGeom>
          <a:noFill/>
          <a:ln/>
        </p:spPr>
        <p:txBody>
          <a:bodyPr wrap="none" lIns="0" tIns="0" rIns="0" bIns="0" rtlCol="0" anchor="t"/>
          <a:lstStyle/>
          <a:p>
            <a:pPr algn="l" indent="0" marL="0">
              <a:lnSpc>
                <a:spcPts val="2300"/>
              </a:lnSpc>
              <a:buNone/>
            </a:pPr>
            <a:endParaRPr lang="en-US" sz="14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71249" y="370165"/>
            <a:ext cx="3366135" cy="420648"/>
          </a:xfrm>
          <a:prstGeom prst="rect">
            <a:avLst/>
          </a:prstGeom>
          <a:noFill/>
          <a:ln/>
        </p:spPr>
        <p:txBody>
          <a:bodyPr wrap="none" lIns="0" tIns="0" rIns="0" bIns="0" rtlCol="0" anchor="t"/>
          <a:lstStyle/>
          <a:p>
            <a:pPr algn="l" indent="0" marL="0">
              <a:lnSpc>
                <a:spcPts val="3300"/>
              </a:lnSpc>
              <a:buNone/>
            </a:pPr>
            <a:r>
              <a:rPr lang="en-US" sz="2650" dirty="0">
                <a:solidFill>
                  <a:srgbClr val="233E32"/>
                </a:solidFill>
                <a:latin typeface="Alice" pitchFamily="34" charset="0"/>
                <a:ea typeface="Alice" pitchFamily="34" charset="-122"/>
                <a:cs typeface="Alice" pitchFamily="34" charset="-120"/>
              </a:rPr>
              <a:t>Dungeon Master</a:t>
            </a:r>
            <a:endParaRPr lang="en-US" sz="2650" dirty="0"/>
          </a:p>
        </p:txBody>
      </p:sp>
      <p:sp>
        <p:nvSpPr>
          <p:cNvPr id="3" name="Text 1"/>
          <p:cNvSpPr/>
          <p:nvPr/>
        </p:nvSpPr>
        <p:spPr>
          <a:xfrm>
            <a:off x="471249" y="1060013"/>
            <a:ext cx="13687901" cy="215384"/>
          </a:xfrm>
          <a:prstGeom prst="rect">
            <a:avLst/>
          </a:prstGeom>
          <a:noFill/>
          <a:ln/>
        </p:spPr>
        <p:txBody>
          <a:bodyPr wrap="none" lIns="0" tIns="0" rIns="0" bIns="0" rtlCol="0" anchor="t"/>
          <a:lstStyle/>
          <a:p>
            <a:pPr algn="l" indent="0" marL="0">
              <a:lnSpc>
                <a:spcPts val="1650"/>
              </a:lnSpc>
              <a:buNone/>
            </a:pPr>
            <a:r>
              <a:rPr lang="en-US" sz="1050" b="1" dirty="0">
                <a:solidFill>
                  <a:srgbClr val="2C2821"/>
                </a:solidFill>
                <a:latin typeface="Lora" pitchFamily="34" charset="0"/>
                <a:ea typeface="Lora" pitchFamily="34" charset="-122"/>
                <a:cs typeface="Lora" pitchFamily="34" charset="-120"/>
              </a:rPr>
              <a:t>Training Dataset:</a:t>
            </a:r>
            <a:endParaRPr lang="en-US" sz="1050" dirty="0"/>
          </a:p>
        </p:txBody>
      </p:sp>
      <p:sp>
        <p:nvSpPr>
          <p:cNvPr id="4" name="Text 2"/>
          <p:cNvSpPr/>
          <p:nvPr/>
        </p:nvSpPr>
        <p:spPr>
          <a:xfrm>
            <a:off x="471249" y="1426845"/>
            <a:ext cx="13687901" cy="215384"/>
          </a:xfrm>
          <a:prstGeom prst="rect">
            <a:avLst/>
          </a:prstGeom>
          <a:noFill/>
          <a:ln/>
        </p:spPr>
        <p:txBody>
          <a:bodyPr wrap="none" lIns="0" tIns="0" rIns="0" bIns="0" rtlCol="0" anchor="t"/>
          <a:lstStyle/>
          <a:p>
            <a:pPr algn="l" marL="342900" indent="-342900">
              <a:lnSpc>
                <a:spcPts val="1650"/>
              </a:lnSpc>
              <a:buSzPct val="100000"/>
              <a:buChar char="•"/>
            </a:pPr>
            <a:r>
              <a:rPr lang="en-US" sz="1050" dirty="0">
                <a:solidFill>
                  <a:srgbClr val="2C2821"/>
                </a:solidFill>
                <a:latin typeface="Lora" pitchFamily="34" charset="0"/>
                <a:ea typeface="Lora" pitchFamily="34" charset="-122"/>
                <a:cs typeface="Lora" pitchFamily="34" charset="-120"/>
              </a:rPr>
              <a:t>309,750 examples (CRD3: 65%, LIGHT: 35%)</a:t>
            </a:r>
            <a:endParaRPr lang="en-US" sz="1050" dirty="0"/>
          </a:p>
        </p:txBody>
      </p:sp>
      <p:sp>
        <p:nvSpPr>
          <p:cNvPr id="5" name="Text 3"/>
          <p:cNvSpPr/>
          <p:nvPr/>
        </p:nvSpPr>
        <p:spPr>
          <a:xfrm>
            <a:off x="471249" y="1689259"/>
            <a:ext cx="13687901" cy="215384"/>
          </a:xfrm>
          <a:prstGeom prst="rect">
            <a:avLst/>
          </a:prstGeom>
          <a:noFill/>
          <a:ln/>
        </p:spPr>
        <p:txBody>
          <a:bodyPr wrap="none" lIns="0" tIns="0" rIns="0" bIns="0" rtlCol="0" anchor="t"/>
          <a:lstStyle/>
          <a:p>
            <a:pPr algn="l" marL="342900" indent="-342900">
              <a:lnSpc>
                <a:spcPts val="1650"/>
              </a:lnSpc>
              <a:buSzPct val="100000"/>
              <a:buChar char="•"/>
            </a:pPr>
            <a:r>
              <a:rPr lang="en-US" sz="1050" dirty="0">
                <a:solidFill>
                  <a:srgbClr val="2C2821"/>
                </a:solidFill>
                <a:latin typeface="Lora" pitchFamily="34" charset="0"/>
                <a:ea typeface="Lora" pitchFamily="34" charset="-122"/>
                <a:cs typeface="Lora" pitchFamily="34" charset="-120"/>
              </a:rPr>
              <a:t>Training: 75,000 examples, 1 epoch</a:t>
            </a:r>
            <a:endParaRPr lang="en-US" sz="1050" dirty="0"/>
          </a:p>
        </p:txBody>
      </p:sp>
      <p:sp>
        <p:nvSpPr>
          <p:cNvPr id="6" name="Text 4"/>
          <p:cNvSpPr/>
          <p:nvPr/>
        </p:nvSpPr>
        <p:spPr>
          <a:xfrm>
            <a:off x="471249" y="1951673"/>
            <a:ext cx="13687901" cy="215384"/>
          </a:xfrm>
          <a:prstGeom prst="rect">
            <a:avLst/>
          </a:prstGeom>
          <a:noFill/>
          <a:ln/>
        </p:spPr>
        <p:txBody>
          <a:bodyPr wrap="none" lIns="0" tIns="0" rIns="0" bIns="0" rtlCol="0" anchor="t"/>
          <a:lstStyle/>
          <a:p>
            <a:pPr algn="l" marL="342900" indent="-342900">
              <a:lnSpc>
                <a:spcPts val="1650"/>
              </a:lnSpc>
              <a:buSzPct val="100000"/>
              <a:buChar char="•"/>
            </a:pPr>
            <a:r>
              <a:rPr lang="en-US" sz="1050" dirty="0">
                <a:solidFill>
                  <a:srgbClr val="2C2821"/>
                </a:solidFill>
                <a:latin typeface="Lora" pitchFamily="34" charset="0"/>
                <a:ea typeface="Lora" pitchFamily="34" charset="-122"/>
                <a:cs typeface="Lora" pitchFamily="34" charset="-120"/>
              </a:rPr>
              <a:t>Sequence length: 384 tokens</a:t>
            </a:r>
            <a:endParaRPr lang="en-US" sz="1050" dirty="0"/>
          </a:p>
        </p:txBody>
      </p:sp>
      <p:sp>
        <p:nvSpPr>
          <p:cNvPr id="7" name="Text 5"/>
          <p:cNvSpPr/>
          <p:nvPr/>
        </p:nvSpPr>
        <p:spPr>
          <a:xfrm>
            <a:off x="471249" y="2214086"/>
            <a:ext cx="13687901" cy="215384"/>
          </a:xfrm>
          <a:prstGeom prst="rect">
            <a:avLst/>
          </a:prstGeom>
          <a:noFill/>
          <a:ln/>
        </p:spPr>
        <p:txBody>
          <a:bodyPr wrap="none" lIns="0" tIns="0" rIns="0" bIns="0" rtlCol="0" anchor="t"/>
          <a:lstStyle/>
          <a:p>
            <a:pPr algn="l" marL="342900" indent="-342900">
              <a:lnSpc>
                <a:spcPts val="1650"/>
              </a:lnSpc>
              <a:buSzPct val="100000"/>
              <a:buChar char="•"/>
            </a:pPr>
            <a:r>
              <a:rPr lang="en-US" sz="1050" dirty="0">
                <a:solidFill>
                  <a:srgbClr val="2C2821"/>
                </a:solidFill>
                <a:latin typeface="Lora" pitchFamily="34" charset="0"/>
                <a:ea typeface="Lora" pitchFamily="34" charset="-122"/>
                <a:cs typeface="Lora" pitchFamily="34" charset="-120"/>
              </a:rPr>
              <a:t>Training time: 3.87 hours (5.37 samples/sec)</a:t>
            </a:r>
            <a:endParaRPr lang="en-US" sz="1050" dirty="0"/>
          </a:p>
        </p:txBody>
      </p:sp>
      <p:sp>
        <p:nvSpPr>
          <p:cNvPr id="8" name="Text 6"/>
          <p:cNvSpPr/>
          <p:nvPr/>
        </p:nvSpPr>
        <p:spPr>
          <a:xfrm>
            <a:off x="471249" y="2580918"/>
            <a:ext cx="13687901" cy="215384"/>
          </a:xfrm>
          <a:prstGeom prst="rect">
            <a:avLst/>
          </a:prstGeom>
          <a:noFill/>
          <a:ln/>
        </p:spPr>
        <p:txBody>
          <a:bodyPr wrap="none" lIns="0" tIns="0" rIns="0" bIns="0" rtlCol="0" anchor="t"/>
          <a:lstStyle/>
          <a:p>
            <a:pPr algn="l" indent="0" marL="0">
              <a:lnSpc>
                <a:spcPts val="1650"/>
              </a:lnSpc>
              <a:buNone/>
            </a:pPr>
            <a:r>
              <a:rPr lang="en-US" sz="1050" b="1" dirty="0">
                <a:solidFill>
                  <a:srgbClr val="2C2821"/>
                </a:solidFill>
                <a:latin typeface="Lora" pitchFamily="34" charset="0"/>
                <a:ea typeface="Lora" pitchFamily="34" charset="-122"/>
                <a:cs typeface="Lora" pitchFamily="34" charset="-120"/>
              </a:rPr>
              <a:t>Quality Metrics (45 Test Scenarios):</a:t>
            </a:r>
            <a:endParaRPr lang="en-US" sz="1050" dirty="0"/>
          </a:p>
        </p:txBody>
      </p:sp>
      <p:sp>
        <p:nvSpPr>
          <p:cNvPr id="9" name="Text 7"/>
          <p:cNvSpPr/>
          <p:nvPr/>
        </p:nvSpPr>
        <p:spPr>
          <a:xfrm>
            <a:off x="471249" y="2947749"/>
            <a:ext cx="13687901" cy="215384"/>
          </a:xfrm>
          <a:prstGeom prst="rect">
            <a:avLst/>
          </a:prstGeom>
          <a:noFill/>
          <a:ln/>
        </p:spPr>
        <p:txBody>
          <a:bodyPr wrap="none" lIns="0" tIns="0" rIns="0" bIns="0" rtlCol="0" anchor="t"/>
          <a:lstStyle/>
          <a:p>
            <a:pPr algn="l" marL="342900" indent="-342900">
              <a:lnSpc>
                <a:spcPts val="1650"/>
              </a:lnSpc>
              <a:buSzPct val="100000"/>
              <a:buChar char="•"/>
            </a:pPr>
            <a:r>
              <a:rPr lang="en-US" sz="1050" dirty="0">
                <a:solidFill>
                  <a:srgbClr val="2C2821"/>
                </a:solidFill>
                <a:latin typeface="Lora" pitchFamily="34" charset="0"/>
                <a:ea typeface="Lora" pitchFamily="34" charset="-122"/>
                <a:cs typeface="Lora" pitchFamily="34" charset="-120"/>
              </a:rPr>
              <a:t>Average Response Length: 122 words (σ=5.4)</a:t>
            </a:r>
            <a:endParaRPr lang="en-US" sz="1050" dirty="0"/>
          </a:p>
        </p:txBody>
      </p:sp>
      <p:sp>
        <p:nvSpPr>
          <p:cNvPr id="10" name="Text 8"/>
          <p:cNvSpPr/>
          <p:nvPr/>
        </p:nvSpPr>
        <p:spPr>
          <a:xfrm>
            <a:off x="471249" y="3210163"/>
            <a:ext cx="13687901" cy="215384"/>
          </a:xfrm>
          <a:prstGeom prst="rect">
            <a:avLst/>
          </a:prstGeom>
          <a:noFill/>
          <a:ln/>
        </p:spPr>
        <p:txBody>
          <a:bodyPr wrap="none" lIns="0" tIns="0" rIns="0" bIns="0" rtlCol="0" anchor="t"/>
          <a:lstStyle/>
          <a:p>
            <a:pPr algn="l" marL="342900" indent="-342900">
              <a:lnSpc>
                <a:spcPts val="1650"/>
              </a:lnSpc>
              <a:buSzPct val="100000"/>
              <a:buChar char="•"/>
            </a:pPr>
            <a:r>
              <a:rPr lang="en-US" sz="1050" dirty="0">
                <a:solidFill>
                  <a:srgbClr val="2C2821"/>
                </a:solidFill>
                <a:latin typeface="Lora" pitchFamily="34" charset="0"/>
                <a:ea typeface="Lora" pitchFamily="34" charset="-122"/>
                <a:cs typeface="Lora" pitchFamily="34" charset="-120"/>
              </a:rPr>
              <a:t>D&amp;D Terminology: 1.38 terms per response</a:t>
            </a:r>
            <a:endParaRPr lang="en-US" sz="1050" dirty="0"/>
          </a:p>
        </p:txBody>
      </p:sp>
      <p:sp>
        <p:nvSpPr>
          <p:cNvPr id="11" name="Text 9"/>
          <p:cNvSpPr/>
          <p:nvPr/>
        </p:nvSpPr>
        <p:spPr>
          <a:xfrm>
            <a:off x="471249" y="3472577"/>
            <a:ext cx="13687901" cy="215384"/>
          </a:xfrm>
          <a:prstGeom prst="rect">
            <a:avLst/>
          </a:prstGeom>
          <a:noFill/>
          <a:ln/>
        </p:spPr>
        <p:txBody>
          <a:bodyPr wrap="none" lIns="0" tIns="0" rIns="0" bIns="0" rtlCol="0" anchor="t"/>
          <a:lstStyle/>
          <a:p>
            <a:pPr algn="l" marL="342900" indent="-342900">
              <a:lnSpc>
                <a:spcPts val="1650"/>
              </a:lnSpc>
              <a:buSzPct val="100000"/>
              <a:buChar char="•"/>
            </a:pPr>
            <a:r>
              <a:rPr lang="en-US" sz="1050" dirty="0">
                <a:solidFill>
                  <a:srgbClr val="2C2821"/>
                </a:solidFill>
                <a:latin typeface="Lora" pitchFamily="34" charset="0"/>
                <a:ea typeface="Lora" pitchFamily="34" charset="-122"/>
                <a:cs typeface="Lora" pitchFamily="34" charset="-120"/>
              </a:rPr>
              <a:t>Repetition Score: 0.462 (moderate)</a:t>
            </a:r>
            <a:endParaRPr lang="en-US" sz="1050" dirty="0"/>
          </a:p>
        </p:txBody>
      </p:sp>
      <p:sp>
        <p:nvSpPr>
          <p:cNvPr id="12" name="Text 10"/>
          <p:cNvSpPr/>
          <p:nvPr/>
        </p:nvSpPr>
        <p:spPr>
          <a:xfrm>
            <a:off x="471249" y="3734991"/>
            <a:ext cx="13687901" cy="215384"/>
          </a:xfrm>
          <a:prstGeom prst="rect">
            <a:avLst/>
          </a:prstGeom>
          <a:noFill/>
          <a:ln/>
        </p:spPr>
        <p:txBody>
          <a:bodyPr wrap="none" lIns="0" tIns="0" rIns="0" bIns="0" rtlCol="0" anchor="t"/>
          <a:lstStyle/>
          <a:p>
            <a:pPr algn="l" marL="342900" indent="-342900">
              <a:lnSpc>
                <a:spcPts val="1650"/>
              </a:lnSpc>
              <a:buSzPct val="100000"/>
              <a:buChar char="•"/>
            </a:pPr>
            <a:r>
              <a:rPr lang="en-US" sz="1050" dirty="0">
                <a:solidFill>
                  <a:srgbClr val="2C2821"/>
                </a:solidFill>
                <a:latin typeface="Lora" pitchFamily="34" charset="0"/>
                <a:ea typeface="Lora" pitchFamily="34" charset="-122"/>
                <a:cs typeface="Lora" pitchFamily="34" charset="-120"/>
              </a:rPr>
              <a:t>Complete Responses: 13.3% properly ended</a:t>
            </a:r>
            <a:endParaRPr lang="en-US" sz="1050" dirty="0"/>
          </a:p>
        </p:txBody>
      </p:sp>
      <p:sp>
        <p:nvSpPr>
          <p:cNvPr id="13" name="Text 11"/>
          <p:cNvSpPr/>
          <p:nvPr/>
        </p:nvSpPr>
        <p:spPr>
          <a:xfrm>
            <a:off x="471249" y="3997404"/>
            <a:ext cx="13687901" cy="215384"/>
          </a:xfrm>
          <a:prstGeom prst="rect">
            <a:avLst/>
          </a:prstGeom>
          <a:noFill/>
          <a:ln/>
        </p:spPr>
        <p:txBody>
          <a:bodyPr wrap="none" lIns="0" tIns="0" rIns="0" bIns="0" rtlCol="0" anchor="t"/>
          <a:lstStyle/>
          <a:p>
            <a:pPr algn="l" marL="342900" indent="-342900">
              <a:lnSpc>
                <a:spcPts val="1650"/>
              </a:lnSpc>
              <a:buSzPct val="100000"/>
              <a:buChar char="•"/>
            </a:pPr>
            <a:r>
              <a:rPr lang="en-US" sz="1050" dirty="0">
                <a:solidFill>
                  <a:srgbClr val="2C2821"/>
                </a:solidFill>
                <a:latin typeface="Lora" pitchFamily="34" charset="0"/>
                <a:ea typeface="Lora" pitchFamily="34" charset="-122"/>
                <a:cs typeface="Lora" pitchFamily="34" charset="-120"/>
              </a:rPr>
              <a:t>Response Cutoff: 86.7% hit max length</a:t>
            </a:r>
            <a:endParaRPr lang="en-US" sz="1050" dirty="0"/>
          </a:p>
        </p:txBody>
      </p:sp>
      <p:sp>
        <p:nvSpPr>
          <p:cNvPr id="14" name="Text 12"/>
          <p:cNvSpPr/>
          <p:nvPr/>
        </p:nvSpPr>
        <p:spPr>
          <a:xfrm>
            <a:off x="471249" y="4364236"/>
            <a:ext cx="13687901" cy="215384"/>
          </a:xfrm>
          <a:prstGeom prst="rect">
            <a:avLst/>
          </a:prstGeom>
          <a:noFill/>
          <a:ln/>
        </p:spPr>
        <p:txBody>
          <a:bodyPr wrap="none" lIns="0" tIns="0" rIns="0" bIns="0" rtlCol="0" anchor="t"/>
          <a:lstStyle/>
          <a:p>
            <a:pPr algn="l" indent="0" marL="0">
              <a:lnSpc>
                <a:spcPts val="1650"/>
              </a:lnSpc>
              <a:buNone/>
            </a:pPr>
            <a:r>
              <a:rPr lang="en-US" sz="1050" b="1" dirty="0">
                <a:solidFill>
                  <a:srgbClr val="2C2821"/>
                </a:solidFill>
                <a:latin typeface="Lora" pitchFamily="34" charset="0"/>
                <a:ea typeface="Lora" pitchFamily="34" charset="-122"/>
                <a:cs typeface="Lora" pitchFamily="34" charset="-120"/>
              </a:rPr>
              <a:t>Training Results</a:t>
            </a:r>
            <a:pPr algn="l" indent="0" marL="0">
              <a:lnSpc>
                <a:spcPts val="1650"/>
              </a:lnSpc>
              <a:buNone/>
            </a:pPr>
            <a:r>
              <a:rPr lang="en-US" sz="1050" dirty="0">
                <a:solidFill>
                  <a:srgbClr val="2C2821"/>
                </a:solidFill>
                <a:latin typeface="Lora" pitchFamily="34" charset="0"/>
                <a:ea typeface="Lora" pitchFamily="34" charset="-122"/>
                <a:cs typeface="Lora" pitchFamily="34" charset="-120"/>
              </a:rPr>
              <a:t>:</a:t>
            </a:r>
            <a:endParaRPr lang="en-US" sz="1050" dirty="0"/>
          </a:p>
        </p:txBody>
      </p:sp>
      <p:sp>
        <p:nvSpPr>
          <p:cNvPr id="15" name="Shape 13"/>
          <p:cNvSpPr/>
          <p:nvPr/>
        </p:nvSpPr>
        <p:spPr>
          <a:xfrm>
            <a:off x="471249" y="4731068"/>
            <a:ext cx="13687901" cy="3151823"/>
          </a:xfrm>
          <a:prstGeom prst="roundRect">
            <a:avLst>
              <a:gd name="adj" fmla="val 641"/>
            </a:avLst>
          </a:prstGeom>
          <a:noFill/>
          <a:ln w="7620">
            <a:solidFill>
              <a:srgbClr val="000000">
                <a:alpha val="8000"/>
              </a:srgbClr>
            </a:solidFill>
            <a:prstDash val="solid"/>
          </a:ln>
        </p:spPr>
      </p:sp>
      <p:sp>
        <p:nvSpPr>
          <p:cNvPr id="16" name="Shape 14"/>
          <p:cNvSpPr/>
          <p:nvPr/>
        </p:nvSpPr>
        <p:spPr>
          <a:xfrm>
            <a:off x="478869" y="4738688"/>
            <a:ext cx="13672661" cy="392073"/>
          </a:xfrm>
          <a:prstGeom prst="rect">
            <a:avLst/>
          </a:prstGeom>
          <a:solidFill>
            <a:srgbClr val="FFFFFF">
              <a:alpha val="4000"/>
            </a:srgbClr>
          </a:solidFill>
          <a:ln/>
        </p:spPr>
      </p:sp>
      <p:sp>
        <p:nvSpPr>
          <p:cNvPr id="17" name="Text 15"/>
          <p:cNvSpPr/>
          <p:nvPr/>
        </p:nvSpPr>
        <p:spPr>
          <a:xfrm>
            <a:off x="613410" y="4827032"/>
            <a:ext cx="6563439" cy="215384"/>
          </a:xfrm>
          <a:prstGeom prst="rect">
            <a:avLst/>
          </a:prstGeom>
          <a:noFill/>
          <a:ln/>
        </p:spPr>
        <p:txBody>
          <a:bodyPr wrap="none" lIns="0" tIns="0" rIns="0" bIns="0" rtlCol="0" anchor="t"/>
          <a:lstStyle/>
          <a:p>
            <a:pPr algn="l" indent="0" marL="0">
              <a:lnSpc>
                <a:spcPts val="1650"/>
              </a:lnSpc>
              <a:buNone/>
            </a:pPr>
            <a:r>
              <a:rPr lang="en-US" sz="1050" dirty="0">
                <a:solidFill>
                  <a:srgbClr val="2C2821"/>
                </a:solidFill>
                <a:latin typeface="Lora" pitchFamily="34" charset="0"/>
                <a:ea typeface="Lora" pitchFamily="34" charset="-122"/>
                <a:cs typeface="Lora" pitchFamily="34" charset="-120"/>
              </a:rPr>
              <a:t>Metric</a:t>
            </a:r>
            <a:endParaRPr lang="en-US" sz="1050" dirty="0"/>
          </a:p>
        </p:txBody>
      </p:sp>
      <p:sp>
        <p:nvSpPr>
          <p:cNvPr id="18" name="Text 16"/>
          <p:cNvSpPr/>
          <p:nvPr/>
        </p:nvSpPr>
        <p:spPr>
          <a:xfrm>
            <a:off x="7453551" y="4827032"/>
            <a:ext cx="6563439" cy="215384"/>
          </a:xfrm>
          <a:prstGeom prst="rect">
            <a:avLst/>
          </a:prstGeom>
          <a:noFill/>
          <a:ln/>
        </p:spPr>
        <p:txBody>
          <a:bodyPr wrap="none" lIns="0" tIns="0" rIns="0" bIns="0" rtlCol="0" anchor="t"/>
          <a:lstStyle/>
          <a:p>
            <a:pPr algn="l" indent="0" marL="0">
              <a:lnSpc>
                <a:spcPts val="1650"/>
              </a:lnSpc>
              <a:buNone/>
            </a:pPr>
            <a:r>
              <a:rPr lang="en-US" sz="1050" dirty="0">
                <a:solidFill>
                  <a:srgbClr val="2C2821"/>
                </a:solidFill>
                <a:latin typeface="Lora" pitchFamily="34" charset="0"/>
                <a:ea typeface="Lora" pitchFamily="34" charset="-122"/>
                <a:cs typeface="Lora" pitchFamily="34" charset="-120"/>
              </a:rPr>
              <a:t>Value</a:t>
            </a:r>
            <a:endParaRPr lang="en-US" sz="1050" dirty="0"/>
          </a:p>
        </p:txBody>
      </p:sp>
      <p:sp>
        <p:nvSpPr>
          <p:cNvPr id="19" name="Shape 17"/>
          <p:cNvSpPr/>
          <p:nvPr/>
        </p:nvSpPr>
        <p:spPr>
          <a:xfrm>
            <a:off x="478869" y="5130760"/>
            <a:ext cx="13672661" cy="392073"/>
          </a:xfrm>
          <a:prstGeom prst="rect">
            <a:avLst/>
          </a:prstGeom>
          <a:solidFill>
            <a:srgbClr val="000000">
              <a:alpha val="4000"/>
            </a:srgbClr>
          </a:solidFill>
          <a:ln/>
        </p:spPr>
      </p:sp>
      <p:sp>
        <p:nvSpPr>
          <p:cNvPr id="20" name="Text 18"/>
          <p:cNvSpPr/>
          <p:nvPr/>
        </p:nvSpPr>
        <p:spPr>
          <a:xfrm>
            <a:off x="613410" y="5219105"/>
            <a:ext cx="6563439" cy="215384"/>
          </a:xfrm>
          <a:prstGeom prst="rect">
            <a:avLst/>
          </a:prstGeom>
          <a:noFill/>
          <a:ln/>
        </p:spPr>
        <p:txBody>
          <a:bodyPr wrap="none" lIns="0" tIns="0" rIns="0" bIns="0" rtlCol="0" anchor="t"/>
          <a:lstStyle/>
          <a:p>
            <a:pPr algn="l" indent="0" marL="0">
              <a:lnSpc>
                <a:spcPts val="1650"/>
              </a:lnSpc>
              <a:buNone/>
            </a:pPr>
            <a:r>
              <a:rPr lang="en-US" sz="1050" dirty="0">
                <a:solidFill>
                  <a:srgbClr val="2C2821"/>
                </a:solidFill>
                <a:latin typeface="Lora" pitchFamily="34" charset="0"/>
                <a:ea typeface="Lora" pitchFamily="34" charset="-122"/>
                <a:cs typeface="Lora" pitchFamily="34" charset="-120"/>
              </a:rPr>
              <a:t>Training Loss</a:t>
            </a:r>
            <a:endParaRPr lang="en-US" sz="1050" dirty="0"/>
          </a:p>
        </p:txBody>
      </p:sp>
      <p:sp>
        <p:nvSpPr>
          <p:cNvPr id="21" name="Text 19"/>
          <p:cNvSpPr/>
          <p:nvPr/>
        </p:nvSpPr>
        <p:spPr>
          <a:xfrm>
            <a:off x="7453551" y="5219105"/>
            <a:ext cx="6563439" cy="215384"/>
          </a:xfrm>
          <a:prstGeom prst="rect">
            <a:avLst/>
          </a:prstGeom>
          <a:noFill/>
          <a:ln/>
        </p:spPr>
        <p:txBody>
          <a:bodyPr wrap="none" lIns="0" tIns="0" rIns="0" bIns="0" rtlCol="0" anchor="t"/>
          <a:lstStyle/>
          <a:p>
            <a:pPr algn="l" indent="0" marL="0">
              <a:lnSpc>
                <a:spcPts val="1650"/>
              </a:lnSpc>
              <a:buNone/>
            </a:pPr>
            <a:r>
              <a:rPr lang="en-US" sz="1050" dirty="0">
                <a:solidFill>
                  <a:srgbClr val="2C2821"/>
                </a:solidFill>
                <a:latin typeface="Lora" pitchFamily="34" charset="0"/>
                <a:ea typeface="Lora" pitchFamily="34" charset="-122"/>
                <a:cs typeface="Lora" pitchFamily="34" charset="-120"/>
              </a:rPr>
              <a:t>1.987</a:t>
            </a:r>
            <a:endParaRPr lang="en-US" sz="1050" dirty="0"/>
          </a:p>
        </p:txBody>
      </p:sp>
      <p:sp>
        <p:nvSpPr>
          <p:cNvPr id="22" name="Shape 20"/>
          <p:cNvSpPr/>
          <p:nvPr/>
        </p:nvSpPr>
        <p:spPr>
          <a:xfrm>
            <a:off x="478869" y="5522833"/>
            <a:ext cx="13672661" cy="392073"/>
          </a:xfrm>
          <a:prstGeom prst="rect">
            <a:avLst/>
          </a:prstGeom>
          <a:solidFill>
            <a:srgbClr val="FFFFFF">
              <a:alpha val="4000"/>
            </a:srgbClr>
          </a:solidFill>
          <a:ln/>
        </p:spPr>
      </p:sp>
      <p:sp>
        <p:nvSpPr>
          <p:cNvPr id="23" name="Text 21"/>
          <p:cNvSpPr/>
          <p:nvPr/>
        </p:nvSpPr>
        <p:spPr>
          <a:xfrm>
            <a:off x="613410" y="5611177"/>
            <a:ext cx="6563439" cy="215384"/>
          </a:xfrm>
          <a:prstGeom prst="rect">
            <a:avLst/>
          </a:prstGeom>
          <a:noFill/>
          <a:ln/>
        </p:spPr>
        <p:txBody>
          <a:bodyPr wrap="none" lIns="0" tIns="0" rIns="0" bIns="0" rtlCol="0" anchor="t"/>
          <a:lstStyle/>
          <a:p>
            <a:pPr algn="l" indent="0" marL="0">
              <a:lnSpc>
                <a:spcPts val="1650"/>
              </a:lnSpc>
              <a:buNone/>
            </a:pPr>
            <a:r>
              <a:rPr lang="en-US" sz="1050" dirty="0">
                <a:solidFill>
                  <a:srgbClr val="2C2821"/>
                </a:solidFill>
                <a:latin typeface="Lora" pitchFamily="34" charset="0"/>
                <a:ea typeface="Lora" pitchFamily="34" charset="-122"/>
                <a:cs typeface="Lora" pitchFamily="34" charset="-120"/>
              </a:rPr>
              <a:t>Evaluation Loss</a:t>
            </a:r>
            <a:endParaRPr lang="en-US" sz="1050" dirty="0"/>
          </a:p>
        </p:txBody>
      </p:sp>
      <p:sp>
        <p:nvSpPr>
          <p:cNvPr id="24" name="Text 22"/>
          <p:cNvSpPr/>
          <p:nvPr/>
        </p:nvSpPr>
        <p:spPr>
          <a:xfrm>
            <a:off x="7453551" y="5611177"/>
            <a:ext cx="6563439" cy="215384"/>
          </a:xfrm>
          <a:prstGeom prst="rect">
            <a:avLst/>
          </a:prstGeom>
          <a:noFill/>
          <a:ln/>
        </p:spPr>
        <p:txBody>
          <a:bodyPr wrap="none" lIns="0" tIns="0" rIns="0" bIns="0" rtlCol="0" anchor="t"/>
          <a:lstStyle/>
          <a:p>
            <a:pPr algn="l" indent="0" marL="0">
              <a:lnSpc>
                <a:spcPts val="1650"/>
              </a:lnSpc>
              <a:buNone/>
            </a:pPr>
            <a:r>
              <a:rPr lang="en-US" sz="1050" dirty="0">
                <a:solidFill>
                  <a:srgbClr val="2C2821"/>
                </a:solidFill>
                <a:latin typeface="Lora" pitchFamily="34" charset="0"/>
                <a:ea typeface="Lora" pitchFamily="34" charset="-122"/>
                <a:cs typeface="Lora" pitchFamily="34" charset="-120"/>
              </a:rPr>
              <a:t>1.660</a:t>
            </a:r>
            <a:endParaRPr lang="en-US" sz="1050" dirty="0"/>
          </a:p>
        </p:txBody>
      </p:sp>
      <p:sp>
        <p:nvSpPr>
          <p:cNvPr id="25" name="Shape 23"/>
          <p:cNvSpPr/>
          <p:nvPr/>
        </p:nvSpPr>
        <p:spPr>
          <a:xfrm>
            <a:off x="478869" y="5914906"/>
            <a:ext cx="13672661" cy="392073"/>
          </a:xfrm>
          <a:prstGeom prst="rect">
            <a:avLst/>
          </a:prstGeom>
          <a:solidFill>
            <a:srgbClr val="000000">
              <a:alpha val="4000"/>
            </a:srgbClr>
          </a:solidFill>
          <a:ln/>
        </p:spPr>
      </p:sp>
      <p:sp>
        <p:nvSpPr>
          <p:cNvPr id="26" name="Text 24"/>
          <p:cNvSpPr/>
          <p:nvPr/>
        </p:nvSpPr>
        <p:spPr>
          <a:xfrm>
            <a:off x="613410" y="6003250"/>
            <a:ext cx="6563439" cy="215384"/>
          </a:xfrm>
          <a:prstGeom prst="rect">
            <a:avLst/>
          </a:prstGeom>
          <a:noFill/>
          <a:ln/>
        </p:spPr>
        <p:txBody>
          <a:bodyPr wrap="none" lIns="0" tIns="0" rIns="0" bIns="0" rtlCol="0" anchor="t"/>
          <a:lstStyle/>
          <a:p>
            <a:pPr algn="l" indent="0" marL="0">
              <a:lnSpc>
                <a:spcPts val="1650"/>
              </a:lnSpc>
              <a:buNone/>
            </a:pPr>
            <a:r>
              <a:rPr lang="en-US" sz="1050" dirty="0">
                <a:solidFill>
                  <a:srgbClr val="2C2821"/>
                </a:solidFill>
                <a:latin typeface="Lora" pitchFamily="34" charset="0"/>
                <a:ea typeface="Lora" pitchFamily="34" charset="-122"/>
                <a:cs typeface="Lora" pitchFamily="34" charset="-120"/>
              </a:rPr>
              <a:t>Training Runtime</a:t>
            </a:r>
            <a:endParaRPr lang="en-US" sz="1050" dirty="0"/>
          </a:p>
        </p:txBody>
      </p:sp>
      <p:sp>
        <p:nvSpPr>
          <p:cNvPr id="27" name="Text 25"/>
          <p:cNvSpPr/>
          <p:nvPr/>
        </p:nvSpPr>
        <p:spPr>
          <a:xfrm>
            <a:off x="7453551" y="6003250"/>
            <a:ext cx="6563439" cy="215384"/>
          </a:xfrm>
          <a:prstGeom prst="rect">
            <a:avLst/>
          </a:prstGeom>
          <a:noFill/>
          <a:ln/>
        </p:spPr>
        <p:txBody>
          <a:bodyPr wrap="none" lIns="0" tIns="0" rIns="0" bIns="0" rtlCol="0" anchor="t"/>
          <a:lstStyle/>
          <a:p>
            <a:pPr algn="l" indent="0" marL="0">
              <a:lnSpc>
                <a:spcPts val="1650"/>
              </a:lnSpc>
              <a:buNone/>
            </a:pPr>
            <a:r>
              <a:rPr lang="en-US" sz="1050" dirty="0">
                <a:solidFill>
                  <a:srgbClr val="2C2821"/>
                </a:solidFill>
                <a:latin typeface="Lora" pitchFamily="34" charset="0"/>
                <a:ea typeface="Lora" pitchFamily="34" charset="-122"/>
                <a:cs typeface="Lora" pitchFamily="34" charset="-120"/>
              </a:rPr>
              <a:t>3.87 hours</a:t>
            </a:r>
            <a:endParaRPr lang="en-US" sz="1050" dirty="0"/>
          </a:p>
        </p:txBody>
      </p:sp>
      <p:sp>
        <p:nvSpPr>
          <p:cNvPr id="28" name="Shape 26"/>
          <p:cNvSpPr/>
          <p:nvPr/>
        </p:nvSpPr>
        <p:spPr>
          <a:xfrm>
            <a:off x="478869" y="6306979"/>
            <a:ext cx="13672661" cy="392073"/>
          </a:xfrm>
          <a:prstGeom prst="rect">
            <a:avLst/>
          </a:prstGeom>
          <a:solidFill>
            <a:srgbClr val="FFFFFF">
              <a:alpha val="4000"/>
            </a:srgbClr>
          </a:solidFill>
          <a:ln/>
        </p:spPr>
      </p:sp>
      <p:sp>
        <p:nvSpPr>
          <p:cNvPr id="29" name="Text 27"/>
          <p:cNvSpPr/>
          <p:nvPr/>
        </p:nvSpPr>
        <p:spPr>
          <a:xfrm>
            <a:off x="613410" y="6395323"/>
            <a:ext cx="6563439" cy="215384"/>
          </a:xfrm>
          <a:prstGeom prst="rect">
            <a:avLst/>
          </a:prstGeom>
          <a:noFill/>
          <a:ln/>
        </p:spPr>
        <p:txBody>
          <a:bodyPr wrap="none" lIns="0" tIns="0" rIns="0" bIns="0" rtlCol="0" anchor="t"/>
          <a:lstStyle/>
          <a:p>
            <a:pPr algn="l" indent="0" marL="0">
              <a:lnSpc>
                <a:spcPts val="1650"/>
              </a:lnSpc>
              <a:buNone/>
            </a:pPr>
            <a:r>
              <a:rPr lang="en-US" sz="1050" dirty="0">
                <a:solidFill>
                  <a:srgbClr val="2C2821"/>
                </a:solidFill>
                <a:latin typeface="Lora" pitchFamily="34" charset="0"/>
                <a:ea typeface="Lora" pitchFamily="34" charset="-122"/>
                <a:cs typeface="Lora" pitchFamily="34" charset="-120"/>
              </a:rPr>
              <a:t>Samples/Second</a:t>
            </a:r>
            <a:endParaRPr lang="en-US" sz="1050" dirty="0"/>
          </a:p>
        </p:txBody>
      </p:sp>
      <p:sp>
        <p:nvSpPr>
          <p:cNvPr id="30" name="Text 28"/>
          <p:cNvSpPr/>
          <p:nvPr/>
        </p:nvSpPr>
        <p:spPr>
          <a:xfrm>
            <a:off x="7453551" y="6395323"/>
            <a:ext cx="6563439" cy="215384"/>
          </a:xfrm>
          <a:prstGeom prst="rect">
            <a:avLst/>
          </a:prstGeom>
          <a:noFill/>
          <a:ln/>
        </p:spPr>
        <p:txBody>
          <a:bodyPr wrap="none" lIns="0" tIns="0" rIns="0" bIns="0" rtlCol="0" anchor="t"/>
          <a:lstStyle/>
          <a:p>
            <a:pPr algn="l" indent="0" marL="0">
              <a:lnSpc>
                <a:spcPts val="1650"/>
              </a:lnSpc>
              <a:buNone/>
            </a:pPr>
            <a:r>
              <a:rPr lang="en-US" sz="1050" dirty="0">
                <a:solidFill>
                  <a:srgbClr val="2C2821"/>
                </a:solidFill>
                <a:latin typeface="Lora" pitchFamily="34" charset="0"/>
                <a:ea typeface="Lora" pitchFamily="34" charset="-122"/>
                <a:cs typeface="Lora" pitchFamily="34" charset="-120"/>
              </a:rPr>
              <a:t>5.37</a:t>
            </a:r>
            <a:endParaRPr lang="en-US" sz="1050" dirty="0"/>
          </a:p>
        </p:txBody>
      </p:sp>
      <p:sp>
        <p:nvSpPr>
          <p:cNvPr id="31" name="Shape 29"/>
          <p:cNvSpPr/>
          <p:nvPr/>
        </p:nvSpPr>
        <p:spPr>
          <a:xfrm>
            <a:off x="478869" y="6699052"/>
            <a:ext cx="13672661" cy="392073"/>
          </a:xfrm>
          <a:prstGeom prst="rect">
            <a:avLst/>
          </a:prstGeom>
          <a:solidFill>
            <a:srgbClr val="000000">
              <a:alpha val="4000"/>
            </a:srgbClr>
          </a:solidFill>
          <a:ln/>
        </p:spPr>
      </p:sp>
      <p:sp>
        <p:nvSpPr>
          <p:cNvPr id="32" name="Text 30"/>
          <p:cNvSpPr/>
          <p:nvPr/>
        </p:nvSpPr>
        <p:spPr>
          <a:xfrm>
            <a:off x="613410" y="6787396"/>
            <a:ext cx="6563439" cy="215384"/>
          </a:xfrm>
          <a:prstGeom prst="rect">
            <a:avLst/>
          </a:prstGeom>
          <a:noFill/>
          <a:ln/>
        </p:spPr>
        <p:txBody>
          <a:bodyPr wrap="none" lIns="0" tIns="0" rIns="0" bIns="0" rtlCol="0" anchor="t"/>
          <a:lstStyle/>
          <a:p>
            <a:pPr algn="l" indent="0" marL="0">
              <a:lnSpc>
                <a:spcPts val="1650"/>
              </a:lnSpc>
              <a:buNone/>
            </a:pPr>
            <a:r>
              <a:rPr lang="en-US" sz="1050" dirty="0">
                <a:solidFill>
                  <a:srgbClr val="2C2821"/>
                </a:solidFill>
                <a:latin typeface="Lora" pitchFamily="34" charset="0"/>
                <a:ea typeface="Lora" pitchFamily="34" charset="-122"/>
                <a:cs typeface="Lora" pitchFamily="34" charset="-120"/>
              </a:rPr>
              <a:t>Training Samples</a:t>
            </a:r>
            <a:endParaRPr lang="en-US" sz="1050" dirty="0"/>
          </a:p>
        </p:txBody>
      </p:sp>
      <p:sp>
        <p:nvSpPr>
          <p:cNvPr id="33" name="Text 31"/>
          <p:cNvSpPr/>
          <p:nvPr/>
        </p:nvSpPr>
        <p:spPr>
          <a:xfrm>
            <a:off x="7453551" y="6787396"/>
            <a:ext cx="6563439" cy="215384"/>
          </a:xfrm>
          <a:prstGeom prst="rect">
            <a:avLst/>
          </a:prstGeom>
          <a:noFill/>
          <a:ln/>
        </p:spPr>
        <p:txBody>
          <a:bodyPr wrap="none" lIns="0" tIns="0" rIns="0" bIns="0" rtlCol="0" anchor="t"/>
          <a:lstStyle/>
          <a:p>
            <a:pPr algn="l" indent="0" marL="0">
              <a:lnSpc>
                <a:spcPts val="1650"/>
              </a:lnSpc>
              <a:buNone/>
            </a:pPr>
            <a:r>
              <a:rPr lang="en-US" sz="1050" dirty="0">
                <a:solidFill>
                  <a:srgbClr val="2C2821"/>
                </a:solidFill>
                <a:latin typeface="Lora" pitchFamily="34" charset="0"/>
                <a:ea typeface="Lora" pitchFamily="34" charset="-122"/>
                <a:cs typeface="Lora" pitchFamily="34" charset="-120"/>
              </a:rPr>
              <a:t>75,000</a:t>
            </a:r>
            <a:endParaRPr lang="en-US" sz="1050" dirty="0"/>
          </a:p>
        </p:txBody>
      </p:sp>
      <p:sp>
        <p:nvSpPr>
          <p:cNvPr id="34" name="Shape 32"/>
          <p:cNvSpPr/>
          <p:nvPr/>
        </p:nvSpPr>
        <p:spPr>
          <a:xfrm>
            <a:off x="478869" y="7091124"/>
            <a:ext cx="13672661" cy="392073"/>
          </a:xfrm>
          <a:prstGeom prst="rect">
            <a:avLst/>
          </a:prstGeom>
          <a:solidFill>
            <a:srgbClr val="FFFFFF">
              <a:alpha val="4000"/>
            </a:srgbClr>
          </a:solidFill>
          <a:ln/>
        </p:spPr>
      </p:sp>
      <p:sp>
        <p:nvSpPr>
          <p:cNvPr id="35" name="Text 33"/>
          <p:cNvSpPr/>
          <p:nvPr/>
        </p:nvSpPr>
        <p:spPr>
          <a:xfrm>
            <a:off x="613410" y="7179469"/>
            <a:ext cx="6563439" cy="215384"/>
          </a:xfrm>
          <a:prstGeom prst="rect">
            <a:avLst/>
          </a:prstGeom>
          <a:noFill/>
          <a:ln/>
        </p:spPr>
        <p:txBody>
          <a:bodyPr wrap="none" lIns="0" tIns="0" rIns="0" bIns="0" rtlCol="0" anchor="t"/>
          <a:lstStyle/>
          <a:p>
            <a:pPr algn="l" indent="0" marL="0">
              <a:lnSpc>
                <a:spcPts val="1650"/>
              </a:lnSpc>
              <a:buNone/>
            </a:pPr>
            <a:r>
              <a:rPr lang="en-US" sz="1050" dirty="0">
                <a:solidFill>
                  <a:srgbClr val="2C2821"/>
                </a:solidFill>
                <a:latin typeface="Lora" pitchFamily="34" charset="0"/>
                <a:ea typeface="Lora" pitchFamily="34" charset="-122"/>
                <a:cs typeface="Lora" pitchFamily="34" charset="-120"/>
              </a:rPr>
              <a:t>Validation Samples</a:t>
            </a:r>
            <a:endParaRPr lang="en-US" sz="1050" dirty="0"/>
          </a:p>
        </p:txBody>
      </p:sp>
      <p:sp>
        <p:nvSpPr>
          <p:cNvPr id="36" name="Text 34"/>
          <p:cNvSpPr/>
          <p:nvPr/>
        </p:nvSpPr>
        <p:spPr>
          <a:xfrm>
            <a:off x="7453551" y="7179469"/>
            <a:ext cx="6563439" cy="215384"/>
          </a:xfrm>
          <a:prstGeom prst="rect">
            <a:avLst/>
          </a:prstGeom>
          <a:noFill/>
          <a:ln/>
        </p:spPr>
        <p:txBody>
          <a:bodyPr wrap="none" lIns="0" tIns="0" rIns="0" bIns="0" rtlCol="0" anchor="t"/>
          <a:lstStyle/>
          <a:p>
            <a:pPr algn="l" indent="0" marL="0">
              <a:lnSpc>
                <a:spcPts val="1650"/>
              </a:lnSpc>
              <a:buNone/>
            </a:pPr>
            <a:r>
              <a:rPr lang="en-US" sz="1050" dirty="0">
                <a:solidFill>
                  <a:srgbClr val="2C2821"/>
                </a:solidFill>
                <a:latin typeface="Lora" pitchFamily="34" charset="0"/>
                <a:ea typeface="Lora" pitchFamily="34" charset="-122"/>
                <a:cs typeface="Lora" pitchFamily="34" charset="-120"/>
              </a:rPr>
              <a:t>3,000</a:t>
            </a:r>
            <a:endParaRPr lang="en-US" sz="1050" dirty="0"/>
          </a:p>
        </p:txBody>
      </p:sp>
      <p:sp>
        <p:nvSpPr>
          <p:cNvPr id="37" name="Shape 35"/>
          <p:cNvSpPr/>
          <p:nvPr/>
        </p:nvSpPr>
        <p:spPr>
          <a:xfrm>
            <a:off x="478869" y="7483197"/>
            <a:ext cx="13672661" cy="392073"/>
          </a:xfrm>
          <a:prstGeom prst="rect">
            <a:avLst/>
          </a:prstGeom>
          <a:solidFill>
            <a:srgbClr val="000000">
              <a:alpha val="4000"/>
            </a:srgbClr>
          </a:solidFill>
          <a:ln/>
        </p:spPr>
      </p:sp>
      <p:sp>
        <p:nvSpPr>
          <p:cNvPr id="38" name="Text 36"/>
          <p:cNvSpPr/>
          <p:nvPr/>
        </p:nvSpPr>
        <p:spPr>
          <a:xfrm>
            <a:off x="613410" y="7571542"/>
            <a:ext cx="6563439" cy="215384"/>
          </a:xfrm>
          <a:prstGeom prst="rect">
            <a:avLst/>
          </a:prstGeom>
          <a:noFill/>
          <a:ln/>
        </p:spPr>
        <p:txBody>
          <a:bodyPr wrap="none" lIns="0" tIns="0" rIns="0" bIns="0" rtlCol="0" anchor="t"/>
          <a:lstStyle/>
          <a:p>
            <a:pPr algn="l" indent="0" marL="0">
              <a:lnSpc>
                <a:spcPts val="1650"/>
              </a:lnSpc>
              <a:buNone/>
            </a:pPr>
            <a:r>
              <a:rPr lang="en-US" sz="1050" dirty="0">
                <a:solidFill>
                  <a:srgbClr val="2C2821"/>
                </a:solidFill>
                <a:latin typeface="Lora" pitchFamily="34" charset="0"/>
                <a:ea typeface="Lora" pitchFamily="34" charset="-122"/>
                <a:cs typeface="Lora" pitchFamily="34" charset="-120"/>
              </a:rPr>
              <a:t>Epochs</a:t>
            </a:r>
            <a:endParaRPr lang="en-US" sz="1050" dirty="0"/>
          </a:p>
        </p:txBody>
      </p:sp>
      <p:sp>
        <p:nvSpPr>
          <p:cNvPr id="39" name="Text 37"/>
          <p:cNvSpPr/>
          <p:nvPr/>
        </p:nvSpPr>
        <p:spPr>
          <a:xfrm>
            <a:off x="7453551" y="7571542"/>
            <a:ext cx="6563439" cy="215384"/>
          </a:xfrm>
          <a:prstGeom prst="rect">
            <a:avLst/>
          </a:prstGeom>
          <a:noFill/>
          <a:ln/>
        </p:spPr>
        <p:txBody>
          <a:bodyPr wrap="none" lIns="0" tIns="0" rIns="0" bIns="0" rtlCol="0" anchor="t"/>
          <a:lstStyle/>
          <a:p>
            <a:pPr algn="l" indent="0" marL="0">
              <a:lnSpc>
                <a:spcPts val="1650"/>
              </a:lnSpc>
              <a:buNone/>
            </a:pPr>
            <a:r>
              <a:rPr lang="en-US" sz="1050" dirty="0">
                <a:solidFill>
                  <a:srgbClr val="2C2821"/>
                </a:solidFill>
                <a:latin typeface="Lora" pitchFamily="34" charset="0"/>
                <a:ea typeface="Lora" pitchFamily="34" charset="-122"/>
                <a:cs typeface="Lora" pitchFamily="34" charset="-120"/>
              </a:rPr>
              <a:t>1</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71488" y="383143"/>
            <a:ext cx="5240298" cy="421005"/>
          </a:xfrm>
          <a:prstGeom prst="rect">
            <a:avLst/>
          </a:prstGeom>
          <a:noFill/>
          <a:ln/>
        </p:spPr>
        <p:txBody>
          <a:bodyPr wrap="none" lIns="0" tIns="0" rIns="0" bIns="0" rtlCol="0" anchor="t"/>
          <a:lstStyle/>
          <a:p>
            <a:pPr algn="l" indent="0" marL="0">
              <a:lnSpc>
                <a:spcPts val="3300"/>
              </a:lnSpc>
              <a:buNone/>
            </a:pPr>
            <a:r>
              <a:rPr lang="en-US" sz="2650" dirty="0">
                <a:solidFill>
                  <a:srgbClr val="233E32"/>
                </a:solidFill>
                <a:latin typeface="Alice" pitchFamily="34" charset="0"/>
                <a:ea typeface="Alice" pitchFamily="34" charset="-122"/>
                <a:cs typeface="Alice" pitchFamily="34" charset="-120"/>
              </a:rPr>
              <a:t>Dungeon Master - Training Results</a:t>
            </a:r>
            <a:endParaRPr lang="en-US" sz="2650" dirty="0"/>
          </a:p>
        </p:txBody>
      </p:sp>
      <p:sp>
        <p:nvSpPr>
          <p:cNvPr id="3" name="Text 1"/>
          <p:cNvSpPr/>
          <p:nvPr/>
        </p:nvSpPr>
        <p:spPr>
          <a:xfrm>
            <a:off x="471488" y="1073587"/>
            <a:ext cx="13687425" cy="215622"/>
          </a:xfrm>
          <a:prstGeom prst="rect">
            <a:avLst/>
          </a:prstGeom>
          <a:noFill/>
          <a:ln/>
        </p:spPr>
        <p:txBody>
          <a:bodyPr wrap="none" lIns="0" tIns="0" rIns="0" bIns="0" rtlCol="0" anchor="t"/>
          <a:lstStyle/>
          <a:p>
            <a:pPr algn="l" indent="0" marL="0">
              <a:lnSpc>
                <a:spcPts val="1650"/>
              </a:lnSpc>
              <a:buNone/>
            </a:pPr>
            <a:endParaRPr lang="en-US" sz="1050" dirty="0"/>
          </a:p>
        </p:txBody>
      </p:sp>
      <p:sp>
        <p:nvSpPr>
          <p:cNvPr id="4" name="Text 2"/>
          <p:cNvSpPr/>
          <p:nvPr/>
        </p:nvSpPr>
        <p:spPr>
          <a:xfrm>
            <a:off x="471488" y="1440656"/>
            <a:ext cx="13687425" cy="215622"/>
          </a:xfrm>
          <a:prstGeom prst="rect">
            <a:avLst/>
          </a:prstGeom>
          <a:noFill/>
          <a:ln/>
        </p:spPr>
        <p:txBody>
          <a:bodyPr wrap="none" lIns="0" tIns="0" rIns="0" bIns="0" rtlCol="0" anchor="t"/>
          <a:lstStyle/>
          <a:p>
            <a:pPr algn="l" indent="0" marL="0">
              <a:lnSpc>
                <a:spcPts val="1650"/>
              </a:lnSpc>
              <a:buNone/>
            </a:pPr>
            <a:r>
              <a:rPr lang="en-US" sz="1050" b="1" dirty="0">
                <a:solidFill>
                  <a:srgbClr val="2C2821"/>
                </a:solidFill>
                <a:latin typeface="Lora" pitchFamily="34" charset="0"/>
                <a:ea typeface="Lora" pitchFamily="34" charset="-122"/>
                <a:cs typeface="Lora" pitchFamily="34" charset="-120"/>
              </a:rPr>
              <a:t>Performance by Category</a:t>
            </a:r>
            <a:pPr algn="l" indent="0" marL="0">
              <a:lnSpc>
                <a:spcPts val="1650"/>
              </a:lnSpc>
              <a:buNone/>
            </a:pPr>
            <a:r>
              <a:rPr lang="en-US" sz="1050" dirty="0">
                <a:solidFill>
                  <a:srgbClr val="2C2821"/>
                </a:solidFill>
                <a:latin typeface="Lora" pitchFamily="34" charset="0"/>
                <a:ea typeface="Lora" pitchFamily="34" charset="-122"/>
                <a:cs typeface="Lora" pitchFamily="34" charset="-120"/>
              </a:rPr>
              <a:t>:</a:t>
            </a:r>
            <a:endParaRPr lang="en-US" sz="1050" dirty="0"/>
          </a:p>
        </p:txBody>
      </p:sp>
      <p:sp>
        <p:nvSpPr>
          <p:cNvPr id="5" name="Text 3"/>
          <p:cNvSpPr/>
          <p:nvPr/>
        </p:nvSpPr>
        <p:spPr>
          <a:xfrm>
            <a:off x="471488" y="1807726"/>
            <a:ext cx="13687425" cy="215622"/>
          </a:xfrm>
          <a:prstGeom prst="rect">
            <a:avLst/>
          </a:prstGeom>
          <a:noFill/>
          <a:ln/>
        </p:spPr>
        <p:txBody>
          <a:bodyPr wrap="none" lIns="0" tIns="0" rIns="0" bIns="0" rtlCol="0" anchor="t"/>
          <a:lstStyle/>
          <a:p>
            <a:pPr algn="l" marL="342900" indent="-342900">
              <a:lnSpc>
                <a:spcPts val="1650"/>
              </a:lnSpc>
              <a:buSzPct val="100000"/>
              <a:buChar char="•"/>
            </a:pPr>
            <a:r>
              <a:rPr lang="en-US" sz="1050" b="1" dirty="0">
                <a:solidFill>
                  <a:srgbClr val="2C2821"/>
                </a:solidFill>
                <a:latin typeface="Lora" pitchFamily="34" charset="0"/>
                <a:ea typeface="Lora" pitchFamily="34" charset="-122"/>
                <a:cs typeface="Lora" pitchFamily="34" charset="-120"/>
              </a:rPr>
              <a:t>Combat</a:t>
            </a:r>
            <a:pPr algn="l" indent="0" marL="0">
              <a:lnSpc>
                <a:spcPts val="1650"/>
              </a:lnSpc>
              <a:buNone/>
            </a:pPr>
            <a:r>
              <a:rPr lang="en-US" sz="1050" dirty="0">
                <a:solidFill>
                  <a:srgbClr val="2C2821"/>
                </a:solidFill>
                <a:latin typeface="Lora" pitchFamily="34" charset="0"/>
                <a:ea typeface="Lora" pitchFamily="34" charset="-122"/>
                <a:cs typeface="Lora" pitchFamily="34" charset="-120"/>
              </a:rPr>
              <a:t>: 119 words avg, 2.83 D&amp;D terms (highest technical density)</a:t>
            </a:r>
            <a:endParaRPr lang="en-US" sz="1050" dirty="0"/>
          </a:p>
        </p:txBody>
      </p:sp>
      <p:sp>
        <p:nvSpPr>
          <p:cNvPr id="6" name="Text 4"/>
          <p:cNvSpPr/>
          <p:nvPr/>
        </p:nvSpPr>
        <p:spPr>
          <a:xfrm>
            <a:off x="471488" y="2070497"/>
            <a:ext cx="13687425" cy="215622"/>
          </a:xfrm>
          <a:prstGeom prst="rect">
            <a:avLst/>
          </a:prstGeom>
          <a:noFill/>
          <a:ln/>
        </p:spPr>
        <p:txBody>
          <a:bodyPr wrap="none" lIns="0" tIns="0" rIns="0" bIns="0" rtlCol="0" anchor="t"/>
          <a:lstStyle/>
          <a:p>
            <a:pPr algn="l" marL="342900" indent="-342900">
              <a:lnSpc>
                <a:spcPts val="1650"/>
              </a:lnSpc>
              <a:buSzPct val="100000"/>
              <a:buChar char="•"/>
            </a:pPr>
            <a:r>
              <a:rPr lang="en-US" sz="1050" b="1" dirty="0">
                <a:solidFill>
                  <a:srgbClr val="2C2821"/>
                </a:solidFill>
                <a:latin typeface="Lora" pitchFamily="34" charset="0"/>
                <a:ea typeface="Lora" pitchFamily="34" charset="-122"/>
                <a:cs typeface="Lora" pitchFamily="34" charset="-120"/>
              </a:rPr>
              <a:t>Exploration</a:t>
            </a:r>
            <a:pPr algn="l" indent="0" marL="0">
              <a:lnSpc>
                <a:spcPts val="1650"/>
              </a:lnSpc>
              <a:buNone/>
            </a:pPr>
            <a:r>
              <a:rPr lang="en-US" sz="1050" dirty="0">
                <a:solidFill>
                  <a:srgbClr val="2C2821"/>
                </a:solidFill>
                <a:latin typeface="Lora" pitchFamily="34" charset="0"/>
                <a:ea typeface="Lora" pitchFamily="34" charset="-122"/>
                <a:cs typeface="Lora" pitchFamily="34" charset="-120"/>
              </a:rPr>
              <a:t>: 124 words avg, immersive scene descriptions</a:t>
            </a:r>
            <a:endParaRPr lang="en-US" sz="1050" dirty="0"/>
          </a:p>
        </p:txBody>
      </p:sp>
      <p:sp>
        <p:nvSpPr>
          <p:cNvPr id="7" name="Text 5"/>
          <p:cNvSpPr/>
          <p:nvPr/>
        </p:nvSpPr>
        <p:spPr>
          <a:xfrm>
            <a:off x="471488" y="2333268"/>
            <a:ext cx="13687425" cy="215622"/>
          </a:xfrm>
          <a:prstGeom prst="rect">
            <a:avLst/>
          </a:prstGeom>
          <a:noFill/>
          <a:ln/>
        </p:spPr>
        <p:txBody>
          <a:bodyPr wrap="none" lIns="0" tIns="0" rIns="0" bIns="0" rtlCol="0" anchor="t"/>
          <a:lstStyle/>
          <a:p>
            <a:pPr algn="l" marL="342900" indent="-342900">
              <a:lnSpc>
                <a:spcPts val="1650"/>
              </a:lnSpc>
              <a:buSzPct val="100000"/>
              <a:buChar char="•"/>
            </a:pPr>
            <a:r>
              <a:rPr lang="en-US" sz="1050" b="1" dirty="0">
                <a:solidFill>
                  <a:srgbClr val="2C2821"/>
                </a:solidFill>
                <a:latin typeface="Lora" pitchFamily="34" charset="0"/>
                <a:ea typeface="Lora" pitchFamily="34" charset="-122"/>
                <a:cs typeface="Lora" pitchFamily="34" charset="-120"/>
              </a:rPr>
              <a:t>Dialogue</a:t>
            </a:r>
            <a:pPr algn="l" indent="0" marL="0">
              <a:lnSpc>
                <a:spcPts val="1650"/>
              </a:lnSpc>
              <a:buNone/>
            </a:pPr>
            <a:r>
              <a:rPr lang="en-US" sz="1050" dirty="0">
                <a:solidFill>
                  <a:srgbClr val="2C2821"/>
                </a:solidFill>
                <a:latin typeface="Lora" pitchFamily="34" charset="0"/>
                <a:ea typeface="Lora" pitchFamily="34" charset="-122"/>
                <a:cs typeface="Lora" pitchFamily="34" charset="-120"/>
              </a:rPr>
              <a:t>: 124 words avg, character interaction focus</a:t>
            </a:r>
            <a:endParaRPr lang="en-US" sz="1050" dirty="0"/>
          </a:p>
        </p:txBody>
      </p:sp>
      <p:sp>
        <p:nvSpPr>
          <p:cNvPr id="8" name="Text 6"/>
          <p:cNvSpPr/>
          <p:nvPr/>
        </p:nvSpPr>
        <p:spPr>
          <a:xfrm>
            <a:off x="471488" y="2596039"/>
            <a:ext cx="13687425" cy="215622"/>
          </a:xfrm>
          <a:prstGeom prst="rect">
            <a:avLst/>
          </a:prstGeom>
          <a:noFill/>
          <a:ln/>
        </p:spPr>
        <p:txBody>
          <a:bodyPr wrap="none" lIns="0" tIns="0" rIns="0" bIns="0" rtlCol="0" anchor="t"/>
          <a:lstStyle/>
          <a:p>
            <a:pPr algn="l" marL="342900" indent="-342900">
              <a:lnSpc>
                <a:spcPts val="1650"/>
              </a:lnSpc>
              <a:buSzPct val="100000"/>
              <a:buChar char="•"/>
            </a:pPr>
            <a:r>
              <a:rPr lang="en-US" sz="1050" b="1" dirty="0">
                <a:solidFill>
                  <a:srgbClr val="2C2821"/>
                </a:solidFill>
                <a:latin typeface="Lora" pitchFamily="34" charset="0"/>
                <a:ea typeface="Lora" pitchFamily="34" charset="-122"/>
                <a:cs typeface="Lora" pitchFamily="34" charset="-120"/>
              </a:rPr>
              <a:t>Problem Solving</a:t>
            </a:r>
            <a:pPr algn="l" indent="0" marL="0">
              <a:lnSpc>
                <a:spcPts val="1650"/>
              </a:lnSpc>
              <a:buNone/>
            </a:pPr>
            <a:r>
              <a:rPr lang="en-US" sz="1050" dirty="0">
                <a:solidFill>
                  <a:srgbClr val="2C2821"/>
                </a:solidFill>
                <a:latin typeface="Lora" pitchFamily="34" charset="0"/>
                <a:ea typeface="Lora" pitchFamily="34" charset="-122"/>
                <a:cs typeface="Lora" pitchFamily="34" charset="-120"/>
              </a:rPr>
              <a:t>: 121 words avg, logical puzzle integration</a:t>
            </a:r>
            <a:endParaRPr lang="en-US" sz="1050" dirty="0"/>
          </a:p>
        </p:txBody>
      </p:sp>
      <p:sp>
        <p:nvSpPr>
          <p:cNvPr id="9" name="Text 7"/>
          <p:cNvSpPr/>
          <p:nvPr/>
        </p:nvSpPr>
        <p:spPr>
          <a:xfrm>
            <a:off x="471488" y="2858810"/>
            <a:ext cx="13687425" cy="215622"/>
          </a:xfrm>
          <a:prstGeom prst="rect">
            <a:avLst/>
          </a:prstGeom>
          <a:noFill/>
          <a:ln/>
        </p:spPr>
        <p:txBody>
          <a:bodyPr wrap="none" lIns="0" tIns="0" rIns="0" bIns="0" rtlCol="0" anchor="t"/>
          <a:lstStyle/>
          <a:p>
            <a:pPr algn="l" marL="342900" indent="-342900">
              <a:lnSpc>
                <a:spcPts val="1650"/>
              </a:lnSpc>
              <a:buSzPct val="100000"/>
              <a:buChar char="•"/>
            </a:pPr>
            <a:r>
              <a:rPr lang="en-US" sz="1050" b="1" dirty="0">
                <a:solidFill>
                  <a:srgbClr val="2C2821"/>
                </a:solidFill>
                <a:latin typeface="Lora" pitchFamily="34" charset="0"/>
                <a:ea typeface="Lora" pitchFamily="34" charset="-122"/>
                <a:cs typeface="Lora" pitchFamily="34" charset="-120"/>
              </a:rPr>
              <a:t>Magic</a:t>
            </a:r>
            <a:pPr algn="l" indent="0" marL="0">
              <a:lnSpc>
                <a:spcPts val="1650"/>
              </a:lnSpc>
              <a:buNone/>
            </a:pPr>
            <a:r>
              <a:rPr lang="en-US" sz="1050" dirty="0">
                <a:solidFill>
                  <a:srgbClr val="2C2821"/>
                </a:solidFill>
                <a:latin typeface="Lora" pitchFamily="34" charset="0"/>
                <a:ea typeface="Lora" pitchFamily="34" charset="-122"/>
                <a:cs typeface="Lora" pitchFamily="34" charset="-120"/>
              </a:rPr>
              <a:t>: 118 words avg, 2.67 D&amp;D terms (spell mechanics)</a:t>
            </a:r>
            <a:endParaRPr lang="en-US" sz="1050" dirty="0"/>
          </a:p>
        </p:txBody>
      </p:sp>
      <p:sp>
        <p:nvSpPr>
          <p:cNvPr id="10" name="Text 8"/>
          <p:cNvSpPr/>
          <p:nvPr/>
        </p:nvSpPr>
        <p:spPr>
          <a:xfrm>
            <a:off x="471488" y="3225879"/>
            <a:ext cx="13687425" cy="215622"/>
          </a:xfrm>
          <a:prstGeom prst="rect">
            <a:avLst/>
          </a:prstGeom>
          <a:noFill/>
          <a:ln/>
        </p:spPr>
        <p:txBody>
          <a:bodyPr wrap="none" lIns="0" tIns="0" rIns="0" bIns="0" rtlCol="0" anchor="t"/>
          <a:lstStyle/>
          <a:p>
            <a:pPr algn="l" indent="0" marL="0">
              <a:lnSpc>
                <a:spcPts val="1650"/>
              </a:lnSpc>
              <a:buNone/>
            </a:pPr>
            <a:r>
              <a:rPr lang="en-US" sz="1050" b="1" dirty="0">
                <a:solidFill>
                  <a:srgbClr val="2C2821"/>
                </a:solidFill>
                <a:latin typeface="Lora" pitchFamily="34" charset="0"/>
                <a:ea typeface="Lora" pitchFamily="34" charset="-122"/>
                <a:cs typeface="Lora" pitchFamily="34" charset="-120"/>
              </a:rPr>
              <a:t>Training Results: Before vs After PPO</a:t>
            </a:r>
            <a:endParaRPr lang="en-US" sz="1050" dirty="0"/>
          </a:p>
        </p:txBody>
      </p:sp>
      <p:sp>
        <p:nvSpPr>
          <p:cNvPr id="11" name="Text 9"/>
          <p:cNvSpPr/>
          <p:nvPr/>
        </p:nvSpPr>
        <p:spPr>
          <a:xfrm>
            <a:off x="471488" y="3592949"/>
            <a:ext cx="13687425" cy="215622"/>
          </a:xfrm>
          <a:prstGeom prst="rect">
            <a:avLst/>
          </a:prstGeom>
          <a:noFill/>
          <a:ln/>
        </p:spPr>
        <p:txBody>
          <a:bodyPr wrap="none" lIns="0" tIns="0" rIns="0" bIns="0" rtlCol="0" anchor="t"/>
          <a:lstStyle/>
          <a:p>
            <a:pPr algn="l" indent="0" marL="0">
              <a:lnSpc>
                <a:spcPts val="1650"/>
              </a:lnSpc>
              <a:buNone/>
            </a:pPr>
            <a:r>
              <a:rPr lang="en-US" sz="1050" b="1" dirty="0">
                <a:solidFill>
                  <a:srgbClr val="2C2821"/>
                </a:solidFill>
                <a:latin typeface="Lora" pitchFamily="34" charset="0"/>
                <a:ea typeface="Lora" pitchFamily="34" charset="-122"/>
                <a:cs typeface="Lora" pitchFamily="34" charset="-120"/>
              </a:rPr>
              <a:t>Example 1: Combat Action - Causal Consistency</a:t>
            </a:r>
            <a:endParaRPr lang="en-US" sz="1050" dirty="0"/>
          </a:p>
        </p:txBody>
      </p:sp>
      <p:sp>
        <p:nvSpPr>
          <p:cNvPr id="12" name="Text 10"/>
          <p:cNvSpPr/>
          <p:nvPr/>
        </p:nvSpPr>
        <p:spPr>
          <a:xfrm>
            <a:off x="471488" y="3960019"/>
            <a:ext cx="13687425" cy="215622"/>
          </a:xfrm>
          <a:prstGeom prst="rect">
            <a:avLst/>
          </a:prstGeom>
          <a:noFill/>
          <a:ln/>
        </p:spPr>
        <p:txBody>
          <a:bodyPr wrap="none" lIns="0" tIns="0" rIns="0" bIns="0" rtlCol="0" anchor="t"/>
          <a:lstStyle/>
          <a:p>
            <a:pPr algn="l" indent="0" marL="0">
              <a:lnSpc>
                <a:spcPts val="1650"/>
              </a:lnSpc>
              <a:buNone/>
            </a:pPr>
            <a:r>
              <a:rPr lang="en-US" sz="1050" i="1" dirty="0">
                <a:solidFill>
                  <a:srgbClr val="2C2821"/>
                </a:solidFill>
                <a:latin typeface="Lora" pitchFamily="34" charset="0"/>
                <a:ea typeface="Lora" pitchFamily="34" charset="-122"/>
                <a:cs typeface="Lora" pitchFamily="34" charset="-120"/>
              </a:rPr>
              <a:t>Player:</a:t>
            </a:r>
            <a:pPr algn="l" indent="0" marL="0">
              <a:lnSpc>
                <a:spcPts val="1650"/>
              </a:lnSpc>
              <a:buNone/>
            </a:pPr>
            <a:r>
              <a:rPr lang="en-US" sz="1050" dirty="0">
                <a:solidFill>
                  <a:srgbClr val="2C2821"/>
                </a:solidFill>
                <a:latin typeface="Lora" pitchFamily="34" charset="0"/>
                <a:ea typeface="Lora" pitchFamily="34" charset="-122"/>
                <a:cs typeface="Lora" pitchFamily="34" charset="-120"/>
              </a:rPr>
              <a:t> "I cast Fireball at the group of goblins!"</a:t>
            </a:r>
            <a:endParaRPr lang="en-US" sz="1050" dirty="0"/>
          </a:p>
        </p:txBody>
      </p:sp>
      <p:sp>
        <p:nvSpPr>
          <p:cNvPr id="13" name="Text 11"/>
          <p:cNvSpPr/>
          <p:nvPr/>
        </p:nvSpPr>
        <p:spPr>
          <a:xfrm>
            <a:off x="471488" y="4327088"/>
            <a:ext cx="13687425" cy="215622"/>
          </a:xfrm>
          <a:prstGeom prst="rect">
            <a:avLst/>
          </a:prstGeom>
          <a:noFill/>
          <a:ln/>
        </p:spPr>
        <p:txBody>
          <a:bodyPr wrap="none" lIns="0" tIns="0" rIns="0" bIns="0" rtlCol="0" anchor="t"/>
          <a:lstStyle/>
          <a:p>
            <a:pPr algn="l" indent="0" marL="0">
              <a:lnSpc>
                <a:spcPts val="1650"/>
              </a:lnSpc>
              <a:buNone/>
            </a:pPr>
            <a:r>
              <a:rPr lang="en-US" sz="1050" b="1" dirty="0">
                <a:solidFill>
                  <a:srgbClr val="2C2821"/>
                </a:solidFill>
                <a:latin typeface="Lora" pitchFamily="34" charset="0"/>
                <a:ea typeface="Lora" pitchFamily="34" charset="-122"/>
                <a:cs typeface="Lora" pitchFamily="34" charset="-120"/>
              </a:rPr>
              <a:t>Before (SFT):</a:t>
            </a:r>
            <a:pPr algn="l" indent="0" marL="0">
              <a:lnSpc>
                <a:spcPts val="1650"/>
              </a:lnSpc>
              <a:buNone/>
            </a:pPr>
            <a:r>
              <a:rPr lang="en-US" sz="1050" dirty="0">
                <a:solidFill>
                  <a:srgbClr val="2C2821"/>
                </a:solidFill>
                <a:latin typeface="Lora" pitchFamily="34" charset="0"/>
                <a:ea typeface="Lora" pitchFamily="34" charset="-122"/>
                <a:cs typeface="Lora" pitchFamily="34" charset="-120"/>
              </a:rPr>
              <a:t> "The tavern erupts in chaos... bartender shouts... wooden beams overhead..."</a:t>
            </a:r>
            <a:endParaRPr lang="en-US" sz="1050" dirty="0"/>
          </a:p>
        </p:txBody>
      </p:sp>
      <p:sp>
        <p:nvSpPr>
          <p:cNvPr id="14" name="Text 12"/>
          <p:cNvSpPr/>
          <p:nvPr/>
        </p:nvSpPr>
        <p:spPr>
          <a:xfrm>
            <a:off x="471488" y="4694158"/>
            <a:ext cx="13687425" cy="215622"/>
          </a:xfrm>
          <a:prstGeom prst="rect">
            <a:avLst/>
          </a:prstGeom>
          <a:noFill/>
          <a:ln/>
        </p:spPr>
        <p:txBody>
          <a:bodyPr wrap="none" lIns="0" tIns="0" rIns="0" bIns="0" rtlCol="0" anchor="t"/>
          <a:lstStyle/>
          <a:p>
            <a:pPr algn="l" marL="342900" indent="-342900">
              <a:lnSpc>
                <a:spcPts val="1650"/>
              </a:lnSpc>
              <a:buSzPct val="100000"/>
              <a:buChar char="•"/>
            </a:pPr>
            <a:r>
              <a:rPr lang="en-US" sz="1050" dirty="0">
                <a:solidFill>
                  <a:srgbClr val="000000"/>
                </a:solidFill>
                <a:latin typeface="Lora" pitchFamily="34" charset="0"/>
                <a:ea typeface="Lora" pitchFamily="34" charset="-122"/>
                <a:cs typeface="Lora" pitchFamily="34" charset="-120"/>
              </a:rPr>
              <a:t>❌</a:t>
            </a:r>
            <a:pPr algn="l" indent="0" marL="0">
              <a:lnSpc>
                <a:spcPts val="1650"/>
              </a:lnSpc>
              <a:buNone/>
            </a:pPr>
            <a:r>
              <a:rPr lang="en-US" sz="1050" dirty="0">
                <a:solidFill>
                  <a:srgbClr val="2C2821"/>
                </a:solidFill>
                <a:latin typeface="Lora" pitchFamily="34" charset="0"/>
                <a:ea typeface="Lora" pitchFamily="34" charset="-122"/>
                <a:cs typeface="Lora" pitchFamily="34" charset="-120"/>
              </a:rPr>
              <a:t> Ignores spell | </a:t>
            </a:r>
            <a:pPr algn="l" indent="0" marL="0">
              <a:lnSpc>
                <a:spcPts val="1650"/>
              </a:lnSpc>
              <a:buNone/>
            </a:pPr>
            <a:r>
              <a:rPr lang="en-US" sz="1050" dirty="0">
                <a:solidFill>
                  <a:srgbClr val="000000"/>
                </a:solidFill>
                <a:latin typeface="Lora" pitchFamily="34" charset="0"/>
                <a:ea typeface="Lora" pitchFamily="34" charset="-122"/>
                <a:cs typeface="Lora" pitchFamily="34" charset="-120"/>
              </a:rPr>
              <a:t>❌</a:t>
            </a:r>
            <a:pPr algn="l" indent="0" marL="0">
              <a:lnSpc>
                <a:spcPts val="1650"/>
              </a:lnSpc>
              <a:buNone/>
            </a:pPr>
            <a:r>
              <a:rPr lang="en-US" sz="1050" dirty="0">
                <a:solidFill>
                  <a:srgbClr val="2C2821"/>
                </a:solidFill>
                <a:latin typeface="Lora" pitchFamily="34" charset="0"/>
                <a:ea typeface="Lora" pitchFamily="34" charset="-122"/>
                <a:cs typeface="Lora" pitchFamily="34" charset="-120"/>
              </a:rPr>
              <a:t> No resolution | Score: 0.15</a:t>
            </a:r>
            <a:endParaRPr lang="en-US" sz="1050" dirty="0"/>
          </a:p>
        </p:txBody>
      </p:sp>
      <p:sp>
        <p:nvSpPr>
          <p:cNvPr id="15" name="Text 13"/>
          <p:cNvSpPr/>
          <p:nvPr/>
        </p:nvSpPr>
        <p:spPr>
          <a:xfrm>
            <a:off x="471488" y="5061228"/>
            <a:ext cx="13687425" cy="215622"/>
          </a:xfrm>
          <a:prstGeom prst="rect">
            <a:avLst/>
          </a:prstGeom>
          <a:noFill/>
          <a:ln/>
        </p:spPr>
        <p:txBody>
          <a:bodyPr wrap="none" lIns="0" tIns="0" rIns="0" bIns="0" rtlCol="0" anchor="t"/>
          <a:lstStyle/>
          <a:p>
            <a:pPr algn="l" indent="0" marL="0">
              <a:lnSpc>
                <a:spcPts val="1650"/>
              </a:lnSpc>
              <a:buNone/>
            </a:pPr>
            <a:r>
              <a:rPr lang="en-US" sz="1050" b="1" dirty="0">
                <a:solidFill>
                  <a:srgbClr val="2C2821"/>
                </a:solidFill>
                <a:latin typeface="Lora" pitchFamily="34" charset="0"/>
                <a:ea typeface="Lora" pitchFamily="34" charset="-122"/>
                <a:cs typeface="Lora" pitchFamily="34" charset="-120"/>
              </a:rPr>
              <a:t>After (PPO):</a:t>
            </a:r>
            <a:pPr algn="l" indent="0" marL="0">
              <a:lnSpc>
                <a:spcPts val="1650"/>
              </a:lnSpc>
              <a:buNone/>
            </a:pPr>
            <a:r>
              <a:rPr lang="en-US" sz="1050" dirty="0">
                <a:solidFill>
                  <a:srgbClr val="2C2821"/>
                </a:solidFill>
                <a:latin typeface="Lora" pitchFamily="34" charset="0"/>
                <a:ea typeface="Lora" pitchFamily="34" charset="-122"/>
                <a:cs typeface="Lora" pitchFamily="34" charset="-120"/>
              </a:rPr>
              <a:t> "Your Fireball explodes in flames. Goblins shriek. Roll 8d6 damage. Two incinerated, third badly burned..."</a:t>
            </a:r>
            <a:endParaRPr lang="en-US" sz="1050" dirty="0"/>
          </a:p>
        </p:txBody>
      </p:sp>
      <p:sp>
        <p:nvSpPr>
          <p:cNvPr id="16" name="Text 14"/>
          <p:cNvSpPr/>
          <p:nvPr/>
        </p:nvSpPr>
        <p:spPr>
          <a:xfrm>
            <a:off x="471488" y="5428298"/>
            <a:ext cx="13687425" cy="215622"/>
          </a:xfrm>
          <a:prstGeom prst="rect">
            <a:avLst/>
          </a:prstGeom>
          <a:noFill/>
          <a:ln/>
        </p:spPr>
        <p:txBody>
          <a:bodyPr wrap="none" lIns="0" tIns="0" rIns="0" bIns="0" rtlCol="0" anchor="t"/>
          <a:lstStyle/>
          <a:p>
            <a:pPr algn="l" marL="342900" indent="-342900">
              <a:lnSpc>
                <a:spcPts val="1650"/>
              </a:lnSpc>
              <a:buSzPct val="100000"/>
              <a:buChar char="•"/>
            </a:pPr>
            <a:r>
              <a:rPr lang="en-US" sz="1050" dirty="0">
                <a:solidFill>
                  <a:srgbClr val="000000"/>
                </a:solidFill>
                <a:latin typeface="Lora" pitchFamily="34" charset="0"/>
                <a:ea typeface="Lora" pitchFamily="34" charset="-122"/>
                <a:cs typeface="Lora" pitchFamily="34" charset="-120"/>
              </a:rPr>
              <a:t>✅</a:t>
            </a:r>
            <a:pPr algn="l" indent="0" marL="0">
              <a:lnSpc>
                <a:spcPts val="1650"/>
              </a:lnSpc>
              <a:buNone/>
            </a:pPr>
            <a:r>
              <a:rPr lang="en-US" sz="1050" dirty="0">
                <a:solidFill>
                  <a:srgbClr val="2C2821"/>
                </a:solidFill>
                <a:latin typeface="Lora" pitchFamily="34" charset="0"/>
                <a:ea typeface="Lora" pitchFamily="34" charset="-122"/>
                <a:cs typeface="Lora" pitchFamily="34" charset="-120"/>
              </a:rPr>
              <a:t> Addresses spell | </a:t>
            </a:r>
            <a:pPr algn="l" indent="0" marL="0">
              <a:lnSpc>
                <a:spcPts val="1650"/>
              </a:lnSpc>
              <a:buNone/>
            </a:pPr>
            <a:r>
              <a:rPr lang="en-US" sz="1050" dirty="0">
                <a:solidFill>
                  <a:srgbClr val="000000"/>
                </a:solidFill>
                <a:latin typeface="Lora" pitchFamily="34" charset="0"/>
                <a:ea typeface="Lora" pitchFamily="34" charset="-122"/>
                <a:cs typeface="Lora" pitchFamily="34" charset="-120"/>
              </a:rPr>
              <a:t>✅</a:t>
            </a:r>
            <a:pPr algn="l" indent="0" marL="0">
              <a:lnSpc>
                <a:spcPts val="1650"/>
              </a:lnSpc>
              <a:buNone/>
            </a:pPr>
            <a:r>
              <a:rPr lang="en-US" sz="1050" dirty="0">
                <a:solidFill>
                  <a:srgbClr val="2C2821"/>
                </a:solidFill>
                <a:latin typeface="Lora" pitchFamily="34" charset="0"/>
                <a:ea typeface="Lora" pitchFamily="34" charset="-122"/>
                <a:cs typeface="Lora" pitchFamily="34" charset="-120"/>
              </a:rPr>
              <a:t> Includes mechanics | Score: 0.89</a:t>
            </a:r>
            <a:endParaRPr lang="en-US" sz="1050" dirty="0"/>
          </a:p>
        </p:txBody>
      </p:sp>
      <p:sp>
        <p:nvSpPr>
          <p:cNvPr id="17" name="Text 15"/>
          <p:cNvSpPr/>
          <p:nvPr/>
        </p:nvSpPr>
        <p:spPr>
          <a:xfrm>
            <a:off x="471488" y="5795367"/>
            <a:ext cx="13687425" cy="215622"/>
          </a:xfrm>
          <a:prstGeom prst="rect">
            <a:avLst/>
          </a:prstGeom>
          <a:noFill/>
          <a:ln/>
        </p:spPr>
        <p:txBody>
          <a:bodyPr wrap="none" lIns="0" tIns="0" rIns="0" bIns="0" rtlCol="0" anchor="t"/>
          <a:lstStyle/>
          <a:p>
            <a:pPr algn="l" indent="0" marL="0">
              <a:lnSpc>
                <a:spcPts val="1650"/>
              </a:lnSpc>
              <a:buNone/>
            </a:pPr>
            <a:r>
              <a:rPr lang="en-US" sz="1050" b="1" dirty="0">
                <a:solidFill>
                  <a:srgbClr val="2C2821"/>
                </a:solidFill>
                <a:latin typeface="Lora" pitchFamily="34" charset="0"/>
                <a:ea typeface="Lora" pitchFamily="34" charset="-122"/>
                <a:cs typeface="Lora" pitchFamily="34" charset="-120"/>
              </a:rPr>
              <a:t>Example 2: NPC Dialogue - Character Voice</a:t>
            </a:r>
            <a:endParaRPr lang="en-US" sz="1050" dirty="0"/>
          </a:p>
        </p:txBody>
      </p:sp>
      <p:sp>
        <p:nvSpPr>
          <p:cNvPr id="18" name="Text 16"/>
          <p:cNvSpPr/>
          <p:nvPr/>
        </p:nvSpPr>
        <p:spPr>
          <a:xfrm>
            <a:off x="471488" y="6162437"/>
            <a:ext cx="13687425" cy="215622"/>
          </a:xfrm>
          <a:prstGeom prst="rect">
            <a:avLst/>
          </a:prstGeom>
          <a:noFill/>
          <a:ln/>
        </p:spPr>
        <p:txBody>
          <a:bodyPr wrap="none" lIns="0" tIns="0" rIns="0" bIns="0" rtlCol="0" anchor="t"/>
          <a:lstStyle/>
          <a:p>
            <a:pPr algn="l" indent="0" marL="0">
              <a:lnSpc>
                <a:spcPts val="1650"/>
              </a:lnSpc>
              <a:buNone/>
            </a:pPr>
            <a:r>
              <a:rPr lang="en-US" sz="1050" i="1" dirty="0">
                <a:solidFill>
                  <a:srgbClr val="2C2821"/>
                </a:solidFill>
                <a:latin typeface="Lora" pitchFamily="34" charset="0"/>
                <a:ea typeface="Lora" pitchFamily="34" charset="-122"/>
                <a:cs typeface="Lora" pitchFamily="34" charset="-120"/>
              </a:rPr>
              <a:t>Player:</a:t>
            </a:r>
            <a:pPr algn="l" indent="0" marL="0">
              <a:lnSpc>
                <a:spcPts val="1650"/>
              </a:lnSpc>
              <a:buNone/>
            </a:pPr>
            <a:r>
              <a:rPr lang="en-US" sz="1050" dirty="0">
                <a:solidFill>
                  <a:srgbClr val="2C2821"/>
                </a:solidFill>
                <a:latin typeface="Lora" pitchFamily="34" charset="0"/>
                <a:ea typeface="Lora" pitchFamily="34" charset="-122"/>
                <a:cs typeface="Lora" pitchFamily="34" charset="-120"/>
              </a:rPr>
              <a:t> "I ask the innkeeper about the mysterious stranger."</a:t>
            </a:r>
            <a:endParaRPr lang="en-US" sz="1050" dirty="0"/>
          </a:p>
        </p:txBody>
      </p:sp>
      <p:sp>
        <p:nvSpPr>
          <p:cNvPr id="19" name="Text 17"/>
          <p:cNvSpPr/>
          <p:nvPr/>
        </p:nvSpPr>
        <p:spPr>
          <a:xfrm>
            <a:off x="471488" y="6529507"/>
            <a:ext cx="13687425" cy="215622"/>
          </a:xfrm>
          <a:prstGeom prst="rect">
            <a:avLst/>
          </a:prstGeom>
          <a:noFill/>
          <a:ln/>
        </p:spPr>
        <p:txBody>
          <a:bodyPr wrap="none" lIns="0" tIns="0" rIns="0" bIns="0" rtlCol="0" anchor="t"/>
          <a:lstStyle/>
          <a:p>
            <a:pPr algn="l" indent="0" marL="0">
              <a:lnSpc>
                <a:spcPts val="1650"/>
              </a:lnSpc>
              <a:buNone/>
            </a:pPr>
            <a:r>
              <a:rPr lang="en-US" sz="1050" b="1" dirty="0">
                <a:solidFill>
                  <a:srgbClr val="2C2821"/>
                </a:solidFill>
                <a:latin typeface="Lora" pitchFamily="34" charset="0"/>
                <a:ea typeface="Lora" pitchFamily="34" charset="-122"/>
                <a:cs typeface="Lora" pitchFamily="34" charset="-120"/>
              </a:rPr>
              <a:t>Before (SFT):</a:t>
            </a:r>
            <a:pPr algn="l" indent="0" marL="0">
              <a:lnSpc>
                <a:spcPts val="1650"/>
              </a:lnSpc>
              <a:buNone/>
            </a:pPr>
            <a:r>
              <a:rPr lang="en-US" sz="1050" dirty="0">
                <a:solidFill>
                  <a:srgbClr val="2C2821"/>
                </a:solidFill>
                <a:latin typeface="Lora" pitchFamily="34" charset="0"/>
                <a:ea typeface="Lora" pitchFamily="34" charset="-122"/>
                <a:cs typeface="Lora" pitchFamily="34" charset="-120"/>
              </a:rPr>
              <a:t> "The innkeeper tells you about a stranger in a dark cloak... might be dangerous..."</a:t>
            </a:r>
            <a:endParaRPr lang="en-US" sz="1050" dirty="0"/>
          </a:p>
        </p:txBody>
      </p:sp>
      <p:sp>
        <p:nvSpPr>
          <p:cNvPr id="20" name="Text 18"/>
          <p:cNvSpPr/>
          <p:nvPr/>
        </p:nvSpPr>
        <p:spPr>
          <a:xfrm>
            <a:off x="471488" y="6896576"/>
            <a:ext cx="13687425" cy="215622"/>
          </a:xfrm>
          <a:prstGeom prst="rect">
            <a:avLst/>
          </a:prstGeom>
          <a:noFill/>
          <a:ln/>
        </p:spPr>
        <p:txBody>
          <a:bodyPr wrap="none" lIns="0" tIns="0" rIns="0" bIns="0" rtlCol="0" anchor="t"/>
          <a:lstStyle/>
          <a:p>
            <a:pPr algn="l" marL="342900" indent="-342900">
              <a:lnSpc>
                <a:spcPts val="1650"/>
              </a:lnSpc>
              <a:buSzPct val="100000"/>
              <a:buChar char="•"/>
            </a:pPr>
            <a:r>
              <a:rPr lang="en-US" sz="1050" dirty="0">
                <a:solidFill>
                  <a:srgbClr val="000000"/>
                </a:solidFill>
                <a:latin typeface="Lora" pitchFamily="34" charset="0"/>
                <a:ea typeface="Lora" pitchFamily="34" charset="-122"/>
                <a:cs typeface="Lora" pitchFamily="34" charset="-120"/>
              </a:rPr>
              <a:t>❌</a:t>
            </a:r>
            <a:pPr algn="l" indent="0" marL="0">
              <a:lnSpc>
                <a:spcPts val="1650"/>
              </a:lnSpc>
              <a:buNone/>
            </a:pPr>
            <a:r>
              <a:rPr lang="en-US" sz="1050" dirty="0">
                <a:solidFill>
                  <a:srgbClr val="2C2821"/>
                </a:solidFill>
                <a:latin typeface="Lora" pitchFamily="34" charset="0"/>
                <a:ea typeface="Lora" pitchFamily="34" charset="-122"/>
                <a:cs typeface="Lora" pitchFamily="34" charset="-120"/>
              </a:rPr>
              <a:t> Generic NPC | </a:t>
            </a:r>
            <a:pPr algn="l" indent="0" marL="0">
              <a:lnSpc>
                <a:spcPts val="1650"/>
              </a:lnSpc>
              <a:buNone/>
            </a:pPr>
            <a:r>
              <a:rPr lang="en-US" sz="1050" dirty="0">
                <a:solidFill>
                  <a:srgbClr val="000000"/>
                </a:solidFill>
                <a:latin typeface="Lora" pitchFamily="34" charset="0"/>
                <a:ea typeface="Lora" pitchFamily="34" charset="-122"/>
                <a:cs typeface="Lora" pitchFamily="34" charset="-120"/>
              </a:rPr>
              <a:t>❌</a:t>
            </a:r>
            <a:pPr algn="l" indent="0" marL="0">
              <a:lnSpc>
                <a:spcPts val="1650"/>
              </a:lnSpc>
              <a:buNone/>
            </a:pPr>
            <a:r>
              <a:rPr lang="en-US" sz="1050" dirty="0">
                <a:solidFill>
                  <a:srgbClr val="2C2821"/>
                </a:solidFill>
                <a:latin typeface="Lora" pitchFamily="34" charset="0"/>
                <a:ea typeface="Lora" pitchFamily="34" charset="-122"/>
                <a:cs typeface="Lora" pitchFamily="34" charset="-120"/>
              </a:rPr>
              <a:t> No personality | Score: 0.32</a:t>
            </a:r>
            <a:endParaRPr lang="en-US" sz="1050" dirty="0"/>
          </a:p>
        </p:txBody>
      </p:sp>
      <p:sp>
        <p:nvSpPr>
          <p:cNvPr id="21" name="Text 19"/>
          <p:cNvSpPr/>
          <p:nvPr/>
        </p:nvSpPr>
        <p:spPr>
          <a:xfrm>
            <a:off x="471488" y="7263646"/>
            <a:ext cx="13687425" cy="215622"/>
          </a:xfrm>
          <a:prstGeom prst="rect">
            <a:avLst/>
          </a:prstGeom>
          <a:noFill/>
          <a:ln/>
        </p:spPr>
        <p:txBody>
          <a:bodyPr wrap="none" lIns="0" tIns="0" rIns="0" bIns="0" rtlCol="0" anchor="t"/>
          <a:lstStyle/>
          <a:p>
            <a:pPr algn="l" indent="0" marL="0">
              <a:lnSpc>
                <a:spcPts val="1650"/>
              </a:lnSpc>
              <a:buNone/>
            </a:pPr>
            <a:r>
              <a:rPr lang="en-US" sz="1050" b="1" dirty="0">
                <a:solidFill>
                  <a:srgbClr val="2C2821"/>
                </a:solidFill>
                <a:latin typeface="Lora" pitchFamily="34" charset="0"/>
                <a:ea typeface="Lora" pitchFamily="34" charset="-122"/>
                <a:cs typeface="Lora" pitchFamily="34" charset="-120"/>
              </a:rPr>
              <a:t>After (PPO):</a:t>
            </a:r>
            <a:pPr algn="l" indent="0" marL="0">
              <a:lnSpc>
                <a:spcPts val="1650"/>
              </a:lnSpc>
              <a:buNone/>
            </a:pPr>
            <a:r>
              <a:rPr lang="en-US" sz="1050" dirty="0">
                <a:solidFill>
                  <a:srgbClr val="2C2821"/>
                </a:solidFill>
                <a:latin typeface="Lora" pitchFamily="34" charset="0"/>
                <a:ea typeface="Lora" pitchFamily="34" charset="-122"/>
                <a:cs typeface="Lora" pitchFamily="34" charset="-120"/>
              </a:rPr>
              <a:t> "Margery leans close, northern accent thick. 'Aye, that one. Paid in old gold three nights past. Asked about the ruins...'"</a:t>
            </a:r>
            <a:endParaRPr lang="en-US" sz="1050" dirty="0"/>
          </a:p>
        </p:txBody>
      </p:sp>
      <p:sp>
        <p:nvSpPr>
          <p:cNvPr id="22" name="Text 20"/>
          <p:cNvSpPr/>
          <p:nvPr/>
        </p:nvSpPr>
        <p:spPr>
          <a:xfrm>
            <a:off x="471488" y="7630716"/>
            <a:ext cx="13687425" cy="215622"/>
          </a:xfrm>
          <a:prstGeom prst="rect">
            <a:avLst/>
          </a:prstGeom>
          <a:noFill/>
          <a:ln/>
        </p:spPr>
        <p:txBody>
          <a:bodyPr wrap="none" lIns="0" tIns="0" rIns="0" bIns="0" rtlCol="0" anchor="t"/>
          <a:lstStyle/>
          <a:p>
            <a:pPr algn="l" marL="342900" indent="-342900">
              <a:lnSpc>
                <a:spcPts val="1650"/>
              </a:lnSpc>
              <a:buSzPct val="100000"/>
              <a:buChar char="•"/>
            </a:pPr>
            <a:r>
              <a:rPr lang="en-US" sz="1050" dirty="0">
                <a:solidFill>
                  <a:srgbClr val="000000"/>
                </a:solidFill>
                <a:latin typeface="Lora" pitchFamily="34" charset="0"/>
                <a:ea typeface="Lora" pitchFamily="34" charset="-122"/>
                <a:cs typeface="Lora" pitchFamily="34" charset="-120"/>
              </a:rPr>
              <a:t>✅</a:t>
            </a:r>
            <a:pPr algn="l" indent="0" marL="0">
              <a:lnSpc>
                <a:spcPts val="1650"/>
              </a:lnSpc>
              <a:buNone/>
            </a:pPr>
            <a:r>
              <a:rPr lang="en-US" sz="1050" dirty="0">
                <a:solidFill>
                  <a:srgbClr val="2C2821"/>
                </a:solidFill>
                <a:latin typeface="Lora" pitchFamily="34" charset="0"/>
                <a:ea typeface="Lora" pitchFamily="34" charset="-122"/>
                <a:cs typeface="Lora" pitchFamily="34" charset="-120"/>
              </a:rPr>
              <a:t> Named NPC | </a:t>
            </a:r>
            <a:pPr algn="l" indent="0" marL="0">
              <a:lnSpc>
                <a:spcPts val="1650"/>
              </a:lnSpc>
              <a:buNone/>
            </a:pPr>
            <a:r>
              <a:rPr lang="en-US" sz="1050" dirty="0">
                <a:solidFill>
                  <a:srgbClr val="000000"/>
                </a:solidFill>
                <a:latin typeface="Lora" pitchFamily="34" charset="0"/>
                <a:ea typeface="Lora" pitchFamily="34" charset="-122"/>
                <a:cs typeface="Lora" pitchFamily="34" charset="-120"/>
              </a:rPr>
              <a:t>✅</a:t>
            </a:r>
            <a:pPr algn="l" indent="0" marL="0">
              <a:lnSpc>
                <a:spcPts val="1650"/>
              </a:lnSpc>
              <a:buNone/>
            </a:pPr>
            <a:r>
              <a:rPr lang="en-US" sz="1050" dirty="0">
                <a:solidFill>
                  <a:srgbClr val="2C2821"/>
                </a:solidFill>
                <a:latin typeface="Lora" pitchFamily="34" charset="0"/>
                <a:ea typeface="Lora" pitchFamily="34" charset="-122"/>
                <a:cs typeface="Lora" pitchFamily="34" charset="-120"/>
              </a:rPr>
              <a:t> Distinct personality | Score: 0.88</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75905" y="452557"/>
            <a:ext cx="6746319" cy="514112"/>
          </a:xfrm>
          <a:prstGeom prst="rect">
            <a:avLst/>
          </a:prstGeom>
          <a:noFill/>
          <a:ln/>
        </p:spPr>
        <p:txBody>
          <a:bodyPr wrap="none" lIns="0" tIns="0" rIns="0" bIns="0" rtlCol="0" anchor="t"/>
          <a:lstStyle/>
          <a:p>
            <a:pPr algn="l" indent="0" marL="0">
              <a:lnSpc>
                <a:spcPts val="4000"/>
              </a:lnSpc>
              <a:buNone/>
            </a:pPr>
            <a:r>
              <a:rPr lang="en-US" sz="3200" dirty="0">
                <a:solidFill>
                  <a:srgbClr val="233E32"/>
                </a:solidFill>
                <a:latin typeface="Alice" pitchFamily="34" charset="0"/>
                <a:ea typeface="Alice" pitchFamily="34" charset="-122"/>
                <a:cs typeface="Alice" pitchFamily="34" charset="-120"/>
              </a:rPr>
              <a:t>PPO ( Proximal Policy Optimization )</a:t>
            </a:r>
            <a:endParaRPr lang="en-US" sz="3200" dirty="0"/>
          </a:p>
        </p:txBody>
      </p:sp>
      <p:sp>
        <p:nvSpPr>
          <p:cNvPr id="3" name="Text 1"/>
          <p:cNvSpPr/>
          <p:nvPr/>
        </p:nvSpPr>
        <p:spPr>
          <a:xfrm>
            <a:off x="575905" y="1295757"/>
            <a:ext cx="13478589" cy="263247"/>
          </a:xfrm>
          <a:prstGeom prst="rect">
            <a:avLst/>
          </a:prstGeom>
          <a:noFill/>
          <a:ln/>
        </p:spPr>
        <p:txBody>
          <a:bodyPr wrap="none" lIns="0" tIns="0" rIns="0" bIns="0" rtlCol="0" anchor="t"/>
          <a:lstStyle/>
          <a:p>
            <a:pPr algn="l" indent="0" marL="0">
              <a:lnSpc>
                <a:spcPts val="2050"/>
              </a:lnSpc>
              <a:buNone/>
            </a:pPr>
            <a:r>
              <a:rPr lang="en-US" sz="1250" b="1" dirty="0">
                <a:solidFill>
                  <a:srgbClr val="2C2821"/>
                </a:solidFill>
                <a:latin typeface="Lora" pitchFamily="34" charset="0"/>
                <a:ea typeface="Lora" pitchFamily="34" charset="-122"/>
                <a:cs typeface="Lora" pitchFamily="34" charset="-120"/>
              </a:rPr>
              <a:t>Quantitative Results: SFT Baseline vs PPO Trained</a:t>
            </a:r>
            <a:endParaRPr lang="en-US" sz="1250" dirty="0"/>
          </a:p>
        </p:txBody>
      </p:sp>
      <p:sp>
        <p:nvSpPr>
          <p:cNvPr id="4" name="Text 2"/>
          <p:cNvSpPr/>
          <p:nvPr/>
        </p:nvSpPr>
        <p:spPr>
          <a:xfrm>
            <a:off x="575905" y="1744028"/>
            <a:ext cx="13478589" cy="263247"/>
          </a:xfrm>
          <a:prstGeom prst="rect">
            <a:avLst/>
          </a:prstGeom>
          <a:noFill/>
          <a:ln/>
        </p:spPr>
        <p:txBody>
          <a:bodyPr wrap="none" lIns="0" tIns="0" rIns="0" bIns="0" rtlCol="0" anchor="t"/>
          <a:lstStyle/>
          <a:p>
            <a:pPr algn="l" indent="0" marL="0">
              <a:lnSpc>
                <a:spcPts val="2050"/>
              </a:lnSpc>
              <a:buNone/>
            </a:pPr>
            <a:r>
              <a:rPr lang="en-US" sz="1250" b="1" dirty="0">
                <a:solidFill>
                  <a:srgbClr val="2C2821"/>
                </a:solidFill>
                <a:latin typeface="Lora" pitchFamily="34" charset="0"/>
                <a:ea typeface="Lora" pitchFamily="34" charset="-122"/>
                <a:cs typeface="Lora" pitchFamily="34" charset="-120"/>
              </a:rPr>
              <a:t>Overall Reward Scores:</a:t>
            </a:r>
            <a:endParaRPr lang="en-US" sz="1250" dirty="0"/>
          </a:p>
        </p:txBody>
      </p:sp>
      <p:sp>
        <p:nvSpPr>
          <p:cNvPr id="5" name="Text 3"/>
          <p:cNvSpPr/>
          <p:nvPr/>
        </p:nvSpPr>
        <p:spPr>
          <a:xfrm>
            <a:off x="575905" y="2192298"/>
            <a:ext cx="13478589" cy="263247"/>
          </a:xfrm>
          <a:prstGeom prst="rect">
            <a:avLst/>
          </a:prstGeom>
          <a:noFill/>
          <a:ln/>
        </p:spPr>
        <p:txBody>
          <a:bodyPr wrap="none" lIns="0" tIns="0" rIns="0" bIns="0" rtlCol="0" anchor="t"/>
          <a:lstStyle/>
          <a:p>
            <a:pPr algn="l" marL="342900" indent="-342900">
              <a:lnSpc>
                <a:spcPts val="2050"/>
              </a:lnSpc>
              <a:buSzPct val="100000"/>
              <a:buChar char="•"/>
            </a:pPr>
            <a:r>
              <a:rPr lang="en-US" sz="1250" dirty="0">
                <a:solidFill>
                  <a:srgbClr val="2C2821"/>
                </a:solidFill>
                <a:latin typeface="Lora" pitchFamily="34" charset="0"/>
                <a:ea typeface="Lora" pitchFamily="34" charset="-122"/>
                <a:cs typeface="Lora" pitchFamily="34" charset="-120"/>
              </a:rPr>
              <a:t>Mean Reward: 0.412 → 0.611 (+48.3% improvement)</a:t>
            </a:r>
            <a:endParaRPr lang="en-US" sz="1250" dirty="0"/>
          </a:p>
        </p:txBody>
      </p:sp>
      <p:sp>
        <p:nvSpPr>
          <p:cNvPr id="6" name="Text 4"/>
          <p:cNvSpPr/>
          <p:nvPr/>
        </p:nvSpPr>
        <p:spPr>
          <a:xfrm>
            <a:off x="575905" y="2513052"/>
            <a:ext cx="13478589" cy="263247"/>
          </a:xfrm>
          <a:prstGeom prst="rect">
            <a:avLst/>
          </a:prstGeom>
          <a:noFill/>
          <a:ln/>
        </p:spPr>
        <p:txBody>
          <a:bodyPr wrap="none" lIns="0" tIns="0" rIns="0" bIns="0" rtlCol="0" anchor="t"/>
          <a:lstStyle/>
          <a:p>
            <a:pPr algn="l" marL="342900" indent="-342900">
              <a:lnSpc>
                <a:spcPts val="2050"/>
              </a:lnSpc>
              <a:buSzPct val="100000"/>
              <a:buChar char="•"/>
            </a:pPr>
            <a:r>
              <a:rPr lang="en-US" sz="1250" dirty="0">
                <a:solidFill>
                  <a:srgbClr val="2C2821"/>
                </a:solidFill>
                <a:latin typeface="Lora" pitchFamily="34" charset="0"/>
                <a:ea typeface="Lora" pitchFamily="34" charset="-122"/>
                <a:cs typeface="Lora" pitchFamily="34" charset="-120"/>
              </a:rPr>
              <a:t>Narrative Quality: 0.523 → 0.694 (+32.7%)</a:t>
            </a:r>
            <a:endParaRPr lang="en-US" sz="1250" dirty="0"/>
          </a:p>
        </p:txBody>
      </p:sp>
      <p:sp>
        <p:nvSpPr>
          <p:cNvPr id="7" name="Text 5"/>
          <p:cNvSpPr/>
          <p:nvPr/>
        </p:nvSpPr>
        <p:spPr>
          <a:xfrm>
            <a:off x="575905" y="2833807"/>
            <a:ext cx="13478589" cy="263247"/>
          </a:xfrm>
          <a:prstGeom prst="rect">
            <a:avLst/>
          </a:prstGeom>
          <a:noFill/>
          <a:ln/>
        </p:spPr>
        <p:txBody>
          <a:bodyPr wrap="none" lIns="0" tIns="0" rIns="0" bIns="0" rtlCol="0" anchor="t"/>
          <a:lstStyle/>
          <a:p>
            <a:pPr algn="l" marL="342900" indent="-342900">
              <a:lnSpc>
                <a:spcPts val="2050"/>
              </a:lnSpc>
              <a:buSzPct val="100000"/>
              <a:buChar char="•"/>
            </a:pPr>
            <a:r>
              <a:rPr lang="en-US" sz="1250" dirty="0">
                <a:solidFill>
                  <a:srgbClr val="2C2821"/>
                </a:solidFill>
                <a:latin typeface="Lora" pitchFamily="34" charset="0"/>
                <a:ea typeface="Lora" pitchFamily="34" charset="-122"/>
                <a:cs typeface="Lora" pitchFamily="34" charset="-120"/>
              </a:rPr>
              <a:t>Causal Consistency: 0.189 → 0.567 (+200.0%) ← Largest gain</a:t>
            </a:r>
            <a:endParaRPr lang="en-US" sz="1250" dirty="0"/>
          </a:p>
        </p:txBody>
      </p:sp>
      <p:sp>
        <p:nvSpPr>
          <p:cNvPr id="8" name="Text 6"/>
          <p:cNvSpPr/>
          <p:nvPr/>
        </p:nvSpPr>
        <p:spPr>
          <a:xfrm>
            <a:off x="575905" y="3154561"/>
            <a:ext cx="13478589" cy="263247"/>
          </a:xfrm>
          <a:prstGeom prst="rect">
            <a:avLst/>
          </a:prstGeom>
          <a:noFill/>
          <a:ln/>
        </p:spPr>
        <p:txBody>
          <a:bodyPr wrap="none" lIns="0" tIns="0" rIns="0" bIns="0" rtlCol="0" anchor="t"/>
          <a:lstStyle/>
          <a:p>
            <a:pPr algn="l" marL="342900" indent="-342900">
              <a:lnSpc>
                <a:spcPts val="2050"/>
              </a:lnSpc>
              <a:buSzPct val="100000"/>
              <a:buChar char="•"/>
            </a:pPr>
            <a:r>
              <a:rPr lang="en-US" sz="1250" dirty="0">
                <a:solidFill>
                  <a:srgbClr val="2C2821"/>
                </a:solidFill>
                <a:latin typeface="Lora" pitchFamily="34" charset="0"/>
                <a:ea typeface="Lora" pitchFamily="34" charset="-122"/>
                <a:cs typeface="Lora" pitchFamily="34" charset="-120"/>
              </a:rPr>
              <a:t>World Consistency: 0.618 → 0.821 (+32.8%)</a:t>
            </a:r>
            <a:endParaRPr lang="en-US" sz="1250" dirty="0"/>
          </a:p>
        </p:txBody>
      </p:sp>
      <p:sp>
        <p:nvSpPr>
          <p:cNvPr id="9" name="Text 7"/>
          <p:cNvSpPr/>
          <p:nvPr/>
        </p:nvSpPr>
        <p:spPr>
          <a:xfrm>
            <a:off x="575905" y="3475315"/>
            <a:ext cx="13478589" cy="263247"/>
          </a:xfrm>
          <a:prstGeom prst="rect">
            <a:avLst/>
          </a:prstGeom>
          <a:noFill/>
          <a:ln/>
        </p:spPr>
        <p:txBody>
          <a:bodyPr wrap="none" lIns="0" tIns="0" rIns="0" bIns="0" rtlCol="0" anchor="t"/>
          <a:lstStyle/>
          <a:p>
            <a:pPr algn="l" marL="342900" indent="-342900">
              <a:lnSpc>
                <a:spcPts val="2050"/>
              </a:lnSpc>
              <a:buSzPct val="100000"/>
              <a:buChar char="•"/>
            </a:pPr>
            <a:r>
              <a:rPr lang="en-US" sz="1250" dirty="0">
                <a:solidFill>
                  <a:srgbClr val="2C2821"/>
                </a:solidFill>
                <a:latin typeface="Lora" pitchFamily="34" charset="0"/>
                <a:ea typeface="Lora" pitchFamily="34" charset="-122"/>
                <a:cs typeface="Lora" pitchFamily="34" charset="-120"/>
              </a:rPr>
              <a:t>Character Voice: 0.138 → 0.268 (+94.2%)</a:t>
            </a:r>
            <a:endParaRPr lang="en-US" sz="1250" dirty="0"/>
          </a:p>
        </p:txBody>
      </p:sp>
      <p:sp>
        <p:nvSpPr>
          <p:cNvPr id="10" name="Text 8"/>
          <p:cNvSpPr/>
          <p:nvPr/>
        </p:nvSpPr>
        <p:spPr>
          <a:xfrm>
            <a:off x="575905" y="3923586"/>
            <a:ext cx="13478589" cy="263247"/>
          </a:xfrm>
          <a:prstGeom prst="rect">
            <a:avLst/>
          </a:prstGeom>
          <a:noFill/>
          <a:ln/>
        </p:spPr>
        <p:txBody>
          <a:bodyPr wrap="none" lIns="0" tIns="0" rIns="0" bIns="0" rtlCol="0" anchor="t"/>
          <a:lstStyle/>
          <a:p>
            <a:pPr algn="l" indent="0" marL="0">
              <a:lnSpc>
                <a:spcPts val="2050"/>
              </a:lnSpc>
              <a:buNone/>
            </a:pPr>
            <a:r>
              <a:rPr lang="en-US" sz="1250" b="1" dirty="0">
                <a:solidFill>
                  <a:srgbClr val="2C2821"/>
                </a:solidFill>
                <a:latin typeface="Lora" pitchFamily="34" charset="0"/>
                <a:ea typeface="Lora" pitchFamily="34" charset="-122"/>
                <a:cs typeface="Lora" pitchFamily="34" charset="-120"/>
              </a:rPr>
              <a:t>Training Progression (1000 Steps):</a:t>
            </a:r>
            <a:endParaRPr lang="en-US" sz="1250" dirty="0"/>
          </a:p>
        </p:txBody>
      </p:sp>
      <p:sp>
        <p:nvSpPr>
          <p:cNvPr id="11" name="Text 9"/>
          <p:cNvSpPr/>
          <p:nvPr/>
        </p:nvSpPr>
        <p:spPr>
          <a:xfrm>
            <a:off x="575905" y="4371856"/>
            <a:ext cx="13478589" cy="263247"/>
          </a:xfrm>
          <a:prstGeom prst="rect">
            <a:avLst/>
          </a:prstGeom>
          <a:noFill/>
          <a:ln/>
        </p:spPr>
        <p:txBody>
          <a:bodyPr wrap="none" lIns="0" tIns="0" rIns="0" bIns="0" rtlCol="0" anchor="t"/>
          <a:lstStyle/>
          <a:p>
            <a:pPr algn="l" marL="342900" indent="-342900">
              <a:lnSpc>
                <a:spcPts val="2050"/>
              </a:lnSpc>
              <a:buSzPct val="100000"/>
              <a:buChar char="•"/>
            </a:pPr>
            <a:r>
              <a:rPr lang="en-US" sz="1250" dirty="0">
                <a:solidFill>
                  <a:srgbClr val="2C2821"/>
                </a:solidFill>
                <a:latin typeface="Lora" pitchFamily="34" charset="0"/>
                <a:ea typeface="Lora" pitchFamily="34" charset="-122"/>
                <a:cs typeface="Lora" pitchFamily="34" charset="-120"/>
              </a:rPr>
              <a:t>Step 0 (SFT Baseline): Mean Reward 0.412</a:t>
            </a:r>
            <a:endParaRPr lang="en-US" sz="1250" dirty="0"/>
          </a:p>
        </p:txBody>
      </p:sp>
      <p:sp>
        <p:nvSpPr>
          <p:cNvPr id="12" name="Text 10"/>
          <p:cNvSpPr/>
          <p:nvPr/>
        </p:nvSpPr>
        <p:spPr>
          <a:xfrm>
            <a:off x="575905" y="4692610"/>
            <a:ext cx="13478589" cy="263247"/>
          </a:xfrm>
          <a:prstGeom prst="rect">
            <a:avLst/>
          </a:prstGeom>
          <a:noFill/>
          <a:ln/>
        </p:spPr>
        <p:txBody>
          <a:bodyPr wrap="none" lIns="0" tIns="0" rIns="0" bIns="0" rtlCol="0" anchor="t"/>
          <a:lstStyle/>
          <a:p>
            <a:pPr algn="l" marL="342900" indent="-342900">
              <a:lnSpc>
                <a:spcPts val="2050"/>
              </a:lnSpc>
              <a:buSzPct val="100000"/>
              <a:buChar char="•"/>
            </a:pPr>
            <a:r>
              <a:rPr lang="en-US" sz="1250" dirty="0">
                <a:solidFill>
                  <a:srgbClr val="2C2821"/>
                </a:solidFill>
                <a:latin typeface="Lora" pitchFamily="34" charset="0"/>
                <a:ea typeface="Lora" pitchFamily="34" charset="-122"/>
                <a:cs typeface="Lora" pitchFamily="34" charset="-120"/>
              </a:rPr>
              <a:t>Step 250: Mean Reward 0.507 (+23.1% gain)</a:t>
            </a:r>
            <a:endParaRPr lang="en-US" sz="1250" dirty="0"/>
          </a:p>
        </p:txBody>
      </p:sp>
      <p:sp>
        <p:nvSpPr>
          <p:cNvPr id="13" name="Text 11"/>
          <p:cNvSpPr/>
          <p:nvPr/>
        </p:nvSpPr>
        <p:spPr>
          <a:xfrm>
            <a:off x="575905" y="5013365"/>
            <a:ext cx="13478589" cy="263247"/>
          </a:xfrm>
          <a:prstGeom prst="rect">
            <a:avLst/>
          </a:prstGeom>
          <a:noFill/>
          <a:ln/>
        </p:spPr>
        <p:txBody>
          <a:bodyPr wrap="none" lIns="0" tIns="0" rIns="0" bIns="0" rtlCol="0" anchor="t"/>
          <a:lstStyle/>
          <a:p>
            <a:pPr algn="l" marL="342900" indent="-342900">
              <a:lnSpc>
                <a:spcPts val="2050"/>
              </a:lnSpc>
              <a:buSzPct val="100000"/>
              <a:buChar char="•"/>
            </a:pPr>
            <a:r>
              <a:rPr lang="en-US" sz="1250" dirty="0">
                <a:solidFill>
                  <a:srgbClr val="2C2821"/>
                </a:solidFill>
                <a:latin typeface="Lora" pitchFamily="34" charset="0"/>
                <a:ea typeface="Lora" pitchFamily="34" charset="-122"/>
                <a:cs typeface="Lora" pitchFamily="34" charset="-120"/>
              </a:rPr>
              <a:t>Step 500: Mean Reward 0.571 (+38.6% gain)</a:t>
            </a:r>
            <a:endParaRPr lang="en-US" sz="1250" dirty="0"/>
          </a:p>
        </p:txBody>
      </p:sp>
      <p:sp>
        <p:nvSpPr>
          <p:cNvPr id="14" name="Text 12"/>
          <p:cNvSpPr/>
          <p:nvPr/>
        </p:nvSpPr>
        <p:spPr>
          <a:xfrm>
            <a:off x="575905" y="5334119"/>
            <a:ext cx="13478589" cy="263247"/>
          </a:xfrm>
          <a:prstGeom prst="rect">
            <a:avLst/>
          </a:prstGeom>
          <a:noFill/>
          <a:ln/>
        </p:spPr>
        <p:txBody>
          <a:bodyPr wrap="none" lIns="0" tIns="0" rIns="0" bIns="0" rtlCol="0" anchor="t"/>
          <a:lstStyle/>
          <a:p>
            <a:pPr algn="l" marL="342900" indent="-342900">
              <a:lnSpc>
                <a:spcPts val="2050"/>
              </a:lnSpc>
              <a:buSzPct val="100000"/>
              <a:buChar char="•"/>
            </a:pPr>
            <a:r>
              <a:rPr lang="en-US" sz="1250" dirty="0">
                <a:solidFill>
                  <a:srgbClr val="2C2821"/>
                </a:solidFill>
                <a:latin typeface="Lora" pitchFamily="34" charset="0"/>
                <a:ea typeface="Lora" pitchFamily="34" charset="-122"/>
                <a:cs typeface="Lora" pitchFamily="34" charset="-120"/>
              </a:rPr>
              <a:t>Step 750: Mean Reward 0.598 (+45.1% gain)</a:t>
            </a:r>
            <a:endParaRPr lang="en-US" sz="1250" dirty="0"/>
          </a:p>
        </p:txBody>
      </p:sp>
      <p:sp>
        <p:nvSpPr>
          <p:cNvPr id="15" name="Text 13"/>
          <p:cNvSpPr/>
          <p:nvPr/>
        </p:nvSpPr>
        <p:spPr>
          <a:xfrm>
            <a:off x="575905" y="5654873"/>
            <a:ext cx="13478589" cy="263247"/>
          </a:xfrm>
          <a:prstGeom prst="rect">
            <a:avLst/>
          </a:prstGeom>
          <a:noFill/>
          <a:ln/>
        </p:spPr>
        <p:txBody>
          <a:bodyPr wrap="none" lIns="0" tIns="0" rIns="0" bIns="0" rtlCol="0" anchor="t"/>
          <a:lstStyle/>
          <a:p>
            <a:pPr algn="l" marL="342900" indent="-342900">
              <a:lnSpc>
                <a:spcPts val="2050"/>
              </a:lnSpc>
              <a:buSzPct val="100000"/>
              <a:buChar char="•"/>
            </a:pPr>
            <a:r>
              <a:rPr lang="en-US" sz="1250" dirty="0">
                <a:solidFill>
                  <a:srgbClr val="2C2821"/>
                </a:solidFill>
                <a:latin typeface="Lora" pitchFamily="34" charset="0"/>
                <a:ea typeface="Lora" pitchFamily="34" charset="-122"/>
                <a:cs typeface="Lora" pitchFamily="34" charset="-120"/>
              </a:rPr>
              <a:t>Step 1000 (Final): Mean Reward 0.611 (+48.3% gain)</a:t>
            </a:r>
            <a:endParaRPr lang="en-US" sz="1250" dirty="0"/>
          </a:p>
        </p:txBody>
      </p:sp>
      <p:sp>
        <p:nvSpPr>
          <p:cNvPr id="16" name="Text 14"/>
          <p:cNvSpPr/>
          <p:nvPr/>
        </p:nvSpPr>
        <p:spPr>
          <a:xfrm>
            <a:off x="575905" y="6103144"/>
            <a:ext cx="13478589" cy="263247"/>
          </a:xfrm>
          <a:prstGeom prst="rect">
            <a:avLst/>
          </a:prstGeom>
          <a:noFill/>
          <a:ln/>
        </p:spPr>
        <p:txBody>
          <a:bodyPr wrap="none" lIns="0" tIns="0" rIns="0" bIns="0" rtlCol="0" anchor="t"/>
          <a:lstStyle/>
          <a:p>
            <a:pPr algn="l" indent="0" marL="0">
              <a:lnSpc>
                <a:spcPts val="2050"/>
              </a:lnSpc>
              <a:buNone/>
            </a:pPr>
            <a:r>
              <a:rPr lang="en-US" sz="1250" b="1" dirty="0">
                <a:solidFill>
                  <a:srgbClr val="2C2821"/>
                </a:solidFill>
                <a:latin typeface="Lora" pitchFamily="34" charset="0"/>
                <a:ea typeface="Lora" pitchFamily="34" charset="-122"/>
                <a:cs typeface="Lora" pitchFamily="34" charset="-120"/>
              </a:rPr>
              <a:t>Convergence Characteristics:</a:t>
            </a:r>
            <a:endParaRPr lang="en-US" sz="1250" dirty="0"/>
          </a:p>
        </p:txBody>
      </p:sp>
      <p:sp>
        <p:nvSpPr>
          <p:cNvPr id="17" name="Text 15"/>
          <p:cNvSpPr/>
          <p:nvPr/>
        </p:nvSpPr>
        <p:spPr>
          <a:xfrm>
            <a:off x="575905" y="6551414"/>
            <a:ext cx="13478589" cy="263247"/>
          </a:xfrm>
          <a:prstGeom prst="rect">
            <a:avLst/>
          </a:prstGeom>
          <a:noFill/>
          <a:ln/>
        </p:spPr>
        <p:txBody>
          <a:bodyPr wrap="none" lIns="0" tIns="0" rIns="0" bIns="0" rtlCol="0" anchor="t"/>
          <a:lstStyle/>
          <a:p>
            <a:pPr algn="l" marL="342900" indent="-342900">
              <a:lnSpc>
                <a:spcPts val="2050"/>
              </a:lnSpc>
              <a:buSzPct val="100000"/>
              <a:buChar char="•"/>
            </a:pPr>
            <a:r>
              <a:rPr lang="en-US" sz="1250" dirty="0">
                <a:solidFill>
                  <a:srgbClr val="2C2821"/>
                </a:solidFill>
                <a:latin typeface="Lora" pitchFamily="34" charset="0"/>
                <a:ea typeface="Lora" pitchFamily="34" charset="-122"/>
                <a:cs typeface="Lora" pitchFamily="34" charset="-120"/>
              </a:rPr>
              <a:t>Strong initial learning phase (steps 0-250)</a:t>
            </a:r>
            <a:endParaRPr lang="en-US" sz="1250" dirty="0"/>
          </a:p>
        </p:txBody>
      </p:sp>
      <p:sp>
        <p:nvSpPr>
          <p:cNvPr id="18" name="Text 16"/>
          <p:cNvSpPr/>
          <p:nvPr/>
        </p:nvSpPr>
        <p:spPr>
          <a:xfrm>
            <a:off x="575905" y="6872168"/>
            <a:ext cx="13478589" cy="263247"/>
          </a:xfrm>
          <a:prstGeom prst="rect">
            <a:avLst/>
          </a:prstGeom>
          <a:noFill/>
          <a:ln/>
        </p:spPr>
        <p:txBody>
          <a:bodyPr wrap="none" lIns="0" tIns="0" rIns="0" bIns="0" rtlCol="0" anchor="t"/>
          <a:lstStyle/>
          <a:p>
            <a:pPr algn="l" marL="342900" indent="-342900">
              <a:lnSpc>
                <a:spcPts val="2050"/>
              </a:lnSpc>
              <a:buSzPct val="100000"/>
              <a:buChar char="•"/>
            </a:pPr>
            <a:r>
              <a:rPr lang="en-US" sz="1250" dirty="0">
                <a:solidFill>
                  <a:srgbClr val="2C2821"/>
                </a:solidFill>
                <a:latin typeface="Lora" pitchFamily="34" charset="0"/>
                <a:ea typeface="Lora" pitchFamily="34" charset="-122"/>
                <a:cs typeface="Lora" pitchFamily="34" charset="-120"/>
              </a:rPr>
              <a:t>Sustained improvement period (steps 250-750)</a:t>
            </a:r>
            <a:endParaRPr lang="en-US" sz="1250" dirty="0"/>
          </a:p>
        </p:txBody>
      </p:sp>
      <p:sp>
        <p:nvSpPr>
          <p:cNvPr id="19" name="Text 17"/>
          <p:cNvSpPr/>
          <p:nvPr/>
        </p:nvSpPr>
        <p:spPr>
          <a:xfrm>
            <a:off x="575905" y="7192923"/>
            <a:ext cx="13478589" cy="263247"/>
          </a:xfrm>
          <a:prstGeom prst="rect">
            <a:avLst/>
          </a:prstGeom>
          <a:noFill/>
          <a:ln/>
        </p:spPr>
        <p:txBody>
          <a:bodyPr wrap="none" lIns="0" tIns="0" rIns="0" bIns="0" rtlCol="0" anchor="t"/>
          <a:lstStyle/>
          <a:p>
            <a:pPr algn="l" marL="342900" indent="-342900">
              <a:lnSpc>
                <a:spcPts val="2050"/>
              </a:lnSpc>
              <a:buSzPct val="100000"/>
              <a:buChar char="•"/>
            </a:pPr>
            <a:r>
              <a:rPr lang="en-US" sz="1250" dirty="0">
                <a:solidFill>
                  <a:srgbClr val="2C2821"/>
                </a:solidFill>
                <a:latin typeface="Lora" pitchFamily="34" charset="0"/>
                <a:ea typeface="Lora" pitchFamily="34" charset="-122"/>
                <a:cs typeface="Lora" pitchFamily="34" charset="-120"/>
              </a:rPr>
              <a:t>Stable convergence with no overfitting</a:t>
            </a:r>
            <a:endParaRPr lang="en-US" sz="1250" dirty="0"/>
          </a:p>
        </p:txBody>
      </p:sp>
      <p:sp>
        <p:nvSpPr>
          <p:cNvPr id="20" name="Text 18"/>
          <p:cNvSpPr/>
          <p:nvPr/>
        </p:nvSpPr>
        <p:spPr>
          <a:xfrm>
            <a:off x="575905" y="7513677"/>
            <a:ext cx="13478589" cy="263247"/>
          </a:xfrm>
          <a:prstGeom prst="rect">
            <a:avLst/>
          </a:prstGeom>
          <a:noFill/>
          <a:ln/>
        </p:spPr>
        <p:txBody>
          <a:bodyPr wrap="none" lIns="0" tIns="0" rIns="0" bIns="0" rtlCol="0" anchor="t"/>
          <a:lstStyle/>
          <a:p>
            <a:pPr algn="l" marL="342900" indent="-342900">
              <a:lnSpc>
                <a:spcPts val="2050"/>
              </a:lnSpc>
              <a:buSzPct val="100000"/>
              <a:buChar char="•"/>
            </a:pPr>
            <a:r>
              <a:rPr lang="en-US" sz="1250" dirty="0">
                <a:solidFill>
                  <a:srgbClr val="2C2821"/>
                </a:solidFill>
                <a:latin typeface="Lora" pitchFamily="34" charset="0"/>
                <a:ea typeface="Lora" pitchFamily="34" charset="-122"/>
                <a:cs typeface="Lora" pitchFamily="34" charset="-120"/>
              </a:rPr>
              <a:t>No reward hacking or mode collapse detected</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24696" y="333613"/>
            <a:ext cx="4582835" cy="379214"/>
          </a:xfrm>
          <a:prstGeom prst="rect">
            <a:avLst/>
          </a:prstGeom>
          <a:noFill/>
          <a:ln/>
        </p:spPr>
        <p:txBody>
          <a:bodyPr wrap="none" lIns="0" tIns="0" rIns="0" bIns="0" rtlCol="0" anchor="t"/>
          <a:lstStyle/>
          <a:p>
            <a:pPr algn="l" indent="0" marL="0">
              <a:lnSpc>
                <a:spcPts val="2950"/>
              </a:lnSpc>
              <a:buNone/>
            </a:pPr>
            <a:r>
              <a:rPr lang="en-US" sz="2350" dirty="0">
                <a:solidFill>
                  <a:srgbClr val="233E32"/>
                </a:solidFill>
                <a:latin typeface="Alice" pitchFamily="34" charset="0"/>
                <a:ea typeface="Alice" pitchFamily="34" charset="-122"/>
                <a:cs typeface="Alice" pitchFamily="34" charset="-120"/>
              </a:rPr>
              <a:t>PPO - Dynamic Weighting System</a:t>
            </a:r>
            <a:endParaRPr lang="en-US" sz="2350" dirty="0"/>
          </a:p>
        </p:txBody>
      </p:sp>
      <p:sp>
        <p:nvSpPr>
          <p:cNvPr id="3" name="Text 1"/>
          <p:cNvSpPr/>
          <p:nvPr/>
        </p:nvSpPr>
        <p:spPr>
          <a:xfrm>
            <a:off x="424696" y="955477"/>
            <a:ext cx="13781008" cy="194072"/>
          </a:xfrm>
          <a:prstGeom prst="rect">
            <a:avLst/>
          </a:prstGeom>
          <a:noFill/>
          <a:ln/>
        </p:spPr>
        <p:txBody>
          <a:bodyPr wrap="none" lIns="0" tIns="0" rIns="0" bIns="0" rtlCol="0" anchor="t"/>
          <a:lstStyle/>
          <a:p>
            <a:pPr algn="l" indent="0" marL="0">
              <a:lnSpc>
                <a:spcPts val="1500"/>
              </a:lnSpc>
              <a:buNone/>
            </a:pPr>
            <a:r>
              <a:rPr lang="en-US" sz="950" b="1" dirty="0">
                <a:solidFill>
                  <a:srgbClr val="2C2821"/>
                </a:solidFill>
                <a:latin typeface="Lora" pitchFamily="34" charset="0"/>
                <a:ea typeface="Lora" pitchFamily="34" charset="-122"/>
                <a:cs typeface="Lora" pitchFamily="34" charset="-120"/>
              </a:rPr>
              <a:t>EXPLORE Actions</a:t>
            </a:r>
            <a:pPr algn="l" indent="0" marL="0">
              <a:lnSpc>
                <a:spcPts val="1500"/>
              </a:lnSpc>
              <a:buNone/>
            </a:pPr>
            <a:r>
              <a:rPr lang="en-US" sz="950" dirty="0">
                <a:solidFill>
                  <a:srgbClr val="2C2821"/>
                </a:solidFill>
                <a:latin typeface="Lora" pitchFamily="34" charset="0"/>
                <a:ea typeface="Lora" pitchFamily="34" charset="-122"/>
                <a:cs typeface="Lora" pitchFamily="34" charset="-120"/>
              </a:rPr>
              <a:t> (Narrative-Heavy Weighting):</a:t>
            </a:r>
            <a:endParaRPr lang="en-US" sz="950" dirty="0"/>
          </a:p>
        </p:txBody>
      </p:sp>
      <p:sp>
        <p:nvSpPr>
          <p:cNvPr id="4" name="Text 2"/>
          <p:cNvSpPr/>
          <p:nvPr/>
        </p:nvSpPr>
        <p:spPr>
          <a:xfrm>
            <a:off x="424696" y="1285994"/>
            <a:ext cx="13781008" cy="194072"/>
          </a:xfrm>
          <a:prstGeom prst="rect">
            <a:avLst/>
          </a:prstGeom>
          <a:noFill/>
          <a:ln/>
        </p:spPr>
        <p:txBody>
          <a:bodyPr wrap="none" lIns="0" tIns="0" rIns="0" bIns="0" rtlCol="0" anchor="t"/>
          <a:lstStyle/>
          <a:p>
            <a:pPr algn="l" marL="342900" indent="-342900">
              <a:lnSpc>
                <a:spcPts val="1500"/>
              </a:lnSpc>
              <a:buSzPct val="100000"/>
              <a:buChar char="•"/>
            </a:pPr>
            <a:r>
              <a:rPr lang="en-US" sz="950" dirty="0">
                <a:solidFill>
                  <a:srgbClr val="2C2821"/>
                </a:solidFill>
                <a:latin typeface="Lora" pitchFamily="34" charset="0"/>
                <a:ea typeface="Lora" pitchFamily="34" charset="-122"/>
                <a:cs typeface="Lora" pitchFamily="34" charset="-120"/>
              </a:rPr>
              <a:t>Combined Reward: 0.451 → 0.638 (+41.5%)</a:t>
            </a:r>
            <a:endParaRPr lang="en-US" sz="950" dirty="0"/>
          </a:p>
        </p:txBody>
      </p:sp>
      <p:sp>
        <p:nvSpPr>
          <p:cNvPr id="5" name="Text 3"/>
          <p:cNvSpPr/>
          <p:nvPr/>
        </p:nvSpPr>
        <p:spPr>
          <a:xfrm>
            <a:off x="424696" y="1522452"/>
            <a:ext cx="13781008" cy="194072"/>
          </a:xfrm>
          <a:prstGeom prst="rect">
            <a:avLst/>
          </a:prstGeom>
          <a:noFill/>
          <a:ln/>
        </p:spPr>
        <p:txBody>
          <a:bodyPr wrap="none" lIns="0" tIns="0" rIns="0" bIns="0" rtlCol="0" anchor="t"/>
          <a:lstStyle/>
          <a:p>
            <a:pPr algn="l" marL="342900" indent="-342900">
              <a:lnSpc>
                <a:spcPts val="1500"/>
              </a:lnSpc>
              <a:buSzPct val="100000"/>
              <a:buChar char="•"/>
            </a:pPr>
            <a:r>
              <a:rPr lang="en-US" sz="950" dirty="0">
                <a:solidFill>
                  <a:srgbClr val="2C2821"/>
                </a:solidFill>
                <a:latin typeface="Lora" pitchFamily="34" charset="0"/>
                <a:ea typeface="Lora" pitchFamily="34" charset="-122"/>
                <a:cs typeface="Lora" pitchFamily="34" charset="-120"/>
              </a:rPr>
              <a:t>Narrative: 0.564 → 0.721 (+27.8%)</a:t>
            </a:r>
            <a:endParaRPr lang="en-US" sz="950" dirty="0"/>
          </a:p>
        </p:txBody>
      </p:sp>
      <p:sp>
        <p:nvSpPr>
          <p:cNvPr id="6" name="Text 4"/>
          <p:cNvSpPr/>
          <p:nvPr/>
        </p:nvSpPr>
        <p:spPr>
          <a:xfrm>
            <a:off x="424696" y="1758910"/>
            <a:ext cx="13781008" cy="194072"/>
          </a:xfrm>
          <a:prstGeom prst="rect">
            <a:avLst/>
          </a:prstGeom>
          <a:noFill/>
          <a:ln/>
        </p:spPr>
        <p:txBody>
          <a:bodyPr wrap="none" lIns="0" tIns="0" rIns="0" bIns="0" rtlCol="0" anchor="t"/>
          <a:lstStyle/>
          <a:p>
            <a:pPr algn="l" marL="342900" indent="-342900">
              <a:lnSpc>
                <a:spcPts val="1500"/>
              </a:lnSpc>
              <a:buSzPct val="100000"/>
              <a:buChar char="•"/>
            </a:pPr>
            <a:r>
              <a:rPr lang="en-US" sz="950" dirty="0">
                <a:solidFill>
                  <a:srgbClr val="2C2821"/>
                </a:solidFill>
                <a:latin typeface="Lora" pitchFamily="34" charset="0"/>
                <a:ea typeface="Lora" pitchFamily="34" charset="-122"/>
                <a:cs typeface="Lora" pitchFamily="34" charset="-120"/>
              </a:rPr>
              <a:t>Causal: 0.172 → 0.489 (+184.3%)</a:t>
            </a:r>
            <a:endParaRPr lang="en-US" sz="950" dirty="0"/>
          </a:p>
        </p:txBody>
      </p:sp>
      <p:sp>
        <p:nvSpPr>
          <p:cNvPr id="7" name="Text 5"/>
          <p:cNvSpPr/>
          <p:nvPr/>
        </p:nvSpPr>
        <p:spPr>
          <a:xfrm>
            <a:off x="424696" y="1995368"/>
            <a:ext cx="13781008" cy="194072"/>
          </a:xfrm>
          <a:prstGeom prst="rect">
            <a:avLst/>
          </a:prstGeom>
          <a:noFill/>
          <a:ln/>
        </p:spPr>
        <p:txBody>
          <a:bodyPr wrap="none" lIns="0" tIns="0" rIns="0" bIns="0" rtlCol="0" anchor="t"/>
          <a:lstStyle/>
          <a:p>
            <a:pPr algn="l" marL="342900" indent="-342900">
              <a:lnSpc>
                <a:spcPts val="1500"/>
              </a:lnSpc>
              <a:buSzPct val="100000"/>
              <a:buChar char="•"/>
            </a:pPr>
            <a:r>
              <a:rPr lang="en-US" sz="950" dirty="0">
                <a:solidFill>
                  <a:srgbClr val="2C2821"/>
                </a:solidFill>
                <a:latin typeface="Lora" pitchFamily="34" charset="0"/>
                <a:ea typeface="Lora" pitchFamily="34" charset="-122"/>
                <a:cs typeface="Lora" pitchFamily="34" charset="-120"/>
              </a:rPr>
              <a:t>World: 0.661 → 0.836 (+26.5%)</a:t>
            </a:r>
            <a:endParaRPr lang="en-US" sz="950" dirty="0"/>
          </a:p>
        </p:txBody>
      </p:sp>
      <p:sp>
        <p:nvSpPr>
          <p:cNvPr id="8" name="Text 6"/>
          <p:cNvSpPr/>
          <p:nvPr/>
        </p:nvSpPr>
        <p:spPr>
          <a:xfrm>
            <a:off x="424696" y="2231827"/>
            <a:ext cx="13781008" cy="194072"/>
          </a:xfrm>
          <a:prstGeom prst="rect">
            <a:avLst/>
          </a:prstGeom>
          <a:noFill/>
          <a:ln/>
        </p:spPr>
        <p:txBody>
          <a:bodyPr wrap="none" lIns="0" tIns="0" rIns="0" bIns="0" rtlCol="0" anchor="t"/>
          <a:lstStyle/>
          <a:p>
            <a:pPr algn="l" marL="342900" indent="-342900">
              <a:lnSpc>
                <a:spcPts val="1500"/>
              </a:lnSpc>
              <a:buSzPct val="100000"/>
              <a:buChar char="•"/>
            </a:pPr>
            <a:r>
              <a:rPr lang="en-US" sz="950" dirty="0">
                <a:solidFill>
                  <a:srgbClr val="2C2821"/>
                </a:solidFill>
                <a:latin typeface="Lora" pitchFamily="34" charset="0"/>
                <a:ea typeface="Lora" pitchFamily="34" charset="-122"/>
                <a:cs typeface="Lora" pitchFamily="34" charset="-120"/>
              </a:rPr>
              <a:t>Character: 0.126 → 0.192 (+52.4%)</a:t>
            </a:r>
            <a:endParaRPr lang="en-US" sz="950" dirty="0"/>
          </a:p>
        </p:txBody>
      </p:sp>
      <p:sp>
        <p:nvSpPr>
          <p:cNvPr id="9" name="Text 7"/>
          <p:cNvSpPr/>
          <p:nvPr/>
        </p:nvSpPr>
        <p:spPr>
          <a:xfrm>
            <a:off x="424696" y="2562344"/>
            <a:ext cx="13781008" cy="194072"/>
          </a:xfrm>
          <a:prstGeom prst="rect">
            <a:avLst/>
          </a:prstGeom>
          <a:noFill/>
          <a:ln/>
        </p:spPr>
        <p:txBody>
          <a:bodyPr wrap="none" lIns="0" tIns="0" rIns="0" bIns="0" rtlCol="0" anchor="t"/>
          <a:lstStyle/>
          <a:p>
            <a:pPr algn="l" indent="0" marL="0">
              <a:lnSpc>
                <a:spcPts val="1500"/>
              </a:lnSpc>
              <a:buNone/>
            </a:pPr>
            <a:r>
              <a:rPr lang="en-US" sz="950" b="1" dirty="0">
                <a:solidFill>
                  <a:srgbClr val="2C2821"/>
                </a:solidFill>
                <a:latin typeface="Lora" pitchFamily="34" charset="0"/>
                <a:ea typeface="Lora" pitchFamily="34" charset="-122"/>
                <a:cs typeface="Lora" pitchFamily="34" charset="-120"/>
              </a:rPr>
              <a:t>ACTION Sequences</a:t>
            </a:r>
            <a:pPr algn="l" indent="0" marL="0">
              <a:lnSpc>
                <a:spcPts val="1500"/>
              </a:lnSpc>
              <a:buNone/>
            </a:pPr>
            <a:r>
              <a:rPr lang="en-US" sz="950" dirty="0">
                <a:solidFill>
                  <a:srgbClr val="2C2821"/>
                </a:solidFill>
                <a:latin typeface="Lora" pitchFamily="34" charset="0"/>
                <a:ea typeface="Lora" pitchFamily="34" charset="-122"/>
                <a:cs typeface="Lora" pitchFamily="34" charset="-120"/>
              </a:rPr>
              <a:t> (Causal-Heavy Weighting):</a:t>
            </a:r>
            <a:endParaRPr lang="en-US" sz="950" dirty="0"/>
          </a:p>
        </p:txBody>
      </p:sp>
      <p:sp>
        <p:nvSpPr>
          <p:cNvPr id="10" name="Text 8"/>
          <p:cNvSpPr/>
          <p:nvPr/>
        </p:nvSpPr>
        <p:spPr>
          <a:xfrm>
            <a:off x="424696" y="2892862"/>
            <a:ext cx="13781008" cy="194072"/>
          </a:xfrm>
          <a:prstGeom prst="rect">
            <a:avLst/>
          </a:prstGeom>
          <a:noFill/>
          <a:ln/>
        </p:spPr>
        <p:txBody>
          <a:bodyPr wrap="none" lIns="0" tIns="0" rIns="0" bIns="0" rtlCol="0" anchor="t"/>
          <a:lstStyle/>
          <a:p>
            <a:pPr algn="l" marL="342900" indent="-342900">
              <a:lnSpc>
                <a:spcPts val="1500"/>
              </a:lnSpc>
              <a:buSzPct val="100000"/>
              <a:buChar char="•"/>
            </a:pPr>
            <a:r>
              <a:rPr lang="en-US" sz="950" dirty="0">
                <a:solidFill>
                  <a:srgbClr val="2C2821"/>
                </a:solidFill>
                <a:latin typeface="Lora" pitchFamily="34" charset="0"/>
                <a:ea typeface="Lora" pitchFamily="34" charset="-122"/>
                <a:cs typeface="Lora" pitchFamily="34" charset="-120"/>
              </a:rPr>
              <a:t>Combined Reward: 0.378 → 0.607 (+60.6%)</a:t>
            </a:r>
            <a:endParaRPr lang="en-US" sz="950" dirty="0"/>
          </a:p>
        </p:txBody>
      </p:sp>
      <p:sp>
        <p:nvSpPr>
          <p:cNvPr id="11" name="Text 9"/>
          <p:cNvSpPr/>
          <p:nvPr/>
        </p:nvSpPr>
        <p:spPr>
          <a:xfrm>
            <a:off x="424696" y="3129320"/>
            <a:ext cx="13781008" cy="194072"/>
          </a:xfrm>
          <a:prstGeom prst="rect">
            <a:avLst/>
          </a:prstGeom>
          <a:noFill/>
          <a:ln/>
        </p:spPr>
        <p:txBody>
          <a:bodyPr wrap="none" lIns="0" tIns="0" rIns="0" bIns="0" rtlCol="0" anchor="t"/>
          <a:lstStyle/>
          <a:p>
            <a:pPr algn="l" marL="342900" indent="-342900">
              <a:lnSpc>
                <a:spcPts val="1500"/>
              </a:lnSpc>
              <a:buSzPct val="100000"/>
              <a:buChar char="•"/>
            </a:pPr>
            <a:r>
              <a:rPr lang="en-US" sz="950" dirty="0">
                <a:solidFill>
                  <a:srgbClr val="2C2821"/>
                </a:solidFill>
                <a:latin typeface="Lora" pitchFamily="34" charset="0"/>
                <a:ea typeface="Lora" pitchFamily="34" charset="-122"/>
                <a:cs typeface="Lora" pitchFamily="34" charset="-120"/>
              </a:rPr>
              <a:t>Narrative: 0.489 → 0.671 (+37.2%)</a:t>
            </a:r>
            <a:endParaRPr lang="en-US" sz="950" dirty="0"/>
          </a:p>
        </p:txBody>
      </p:sp>
      <p:sp>
        <p:nvSpPr>
          <p:cNvPr id="12" name="Text 10"/>
          <p:cNvSpPr/>
          <p:nvPr/>
        </p:nvSpPr>
        <p:spPr>
          <a:xfrm>
            <a:off x="424696" y="3365778"/>
            <a:ext cx="13781008" cy="194072"/>
          </a:xfrm>
          <a:prstGeom prst="rect">
            <a:avLst/>
          </a:prstGeom>
          <a:noFill/>
          <a:ln/>
        </p:spPr>
        <p:txBody>
          <a:bodyPr wrap="none" lIns="0" tIns="0" rIns="0" bIns="0" rtlCol="0" anchor="t"/>
          <a:lstStyle/>
          <a:p>
            <a:pPr algn="l" marL="342900" indent="-342900">
              <a:lnSpc>
                <a:spcPts val="1500"/>
              </a:lnSpc>
              <a:buSzPct val="100000"/>
              <a:buChar char="•"/>
            </a:pPr>
            <a:r>
              <a:rPr lang="en-US" sz="950" dirty="0">
                <a:solidFill>
                  <a:srgbClr val="2C2821"/>
                </a:solidFill>
                <a:latin typeface="Lora" pitchFamily="34" charset="0"/>
                <a:ea typeface="Lora" pitchFamily="34" charset="-122"/>
                <a:cs typeface="Lora" pitchFamily="34" charset="-120"/>
              </a:rPr>
              <a:t>Causal: 0.198 → 0.641 (+223.7%) ← Strongest improvement</a:t>
            </a:r>
            <a:endParaRPr lang="en-US" sz="950" dirty="0"/>
          </a:p>
        </p:txBody>
      </p:sp>
      <p:sp>
        <p:nvSpPr>
          <p:cNvPr id="13" name="Text 11"/>
          <p:cNvSpPr/>
          <p:nvPr/>
        </p:nvSpPr>
        <p:spPr>
          <a:xfrm>
            <a:off x="424696" y="3602236"/>
            <a:ext cx="13781008" cy="194072"/>
          </a:xfrm>
          <a:prstGeom prst="rect">
            <a:avLst/>
          </a:prstGeom>
          <a:noFill/>
          <a:ln/>
        </p:spPr>
        <p:txBody>
          <a:bodyPr wrap="none" lIns="0" tIns="0" rIns="0" bIns="0" rtlCol="0" anchor="t"/>
          <a:lstStyle/>
          <a:p>
            <a:pPr algn="l" marL="342900" indent="-342900">
              <a:lnSpc>
                <a:spcPts val="1500"/>
              </a:lnSpc>
              <a:buSzPct val="100000"/>
              <a:buChar char="•"/>
            </a:pPr>
            <a:r>
              <a:rPr lang="en-US" sz="950" dirty="0">
                <a:solidFill>
                  <a:srgbClr val="2C2821"/>
                </a:solidFill>
                <a:latin typeface="Lora" pitchFamily="34" charset="0"/>
                <a:ea typeface="Lora" pitchFamily="34" charset="-122"/>
                <a:cs typeface="Lora" pitchFamily="34" charset="-120"/>
              </a:rPr>
              <a:t>World: 0.581 → 0.812 (+39.8%)</a:t>
            </a:r>
            <a:endParaRPr lang="en-US" sz="950" dirty="0"/>
          </a:p>
        </p:txBody>
      </p:sp>
      <p:sp>
        <p:nvSpPr>
          <p:cNvPr id="14" name="Text 12"/>
          <p:cNvSpPr/>
          <p:nvPr/>
        </p:nvSpPr>
        <p:spPr>
          <a:xfrm>
            <a:off x="424696" y="3838694"/>
            <a:ext cx="13781008" cy="194072"/>
          </a:xfrm>
          <a:prstGeom prst="rect">
            <a:avLst/>
          </a:prstGeom>
          <a:noFill/>
          <a:ln/>
        </p:spPr>
        <p:txBody>
          <a:bodyPr wrap="none" lIns="0" tIns="0" rIns="0" bIns="0" rtlCol="0" anchor="t"/>
          <a:lstStyle/>
          <a:p>
            <a:pPr algn="l" marL="342900" indent="-342900">
              <a:lnSpc>
                <a:spcPts val="1500"/>
              </a:lnSpc>
              <a:buSzPct val="100000"/>
              <a:buChar char="•"/>
            </a:pPr>
            <a:r>
              <a:rPr lang="en-US" sz="950" dirty="0">
                <a:solidFill>
                  <a:srgbClr val="2C2821"/>
                </a:solidFill>
                <a:latin typeface="Lora" pitchFamily="34" charset="0"/>
                <a:ea typeface="Lora" pitchFamily="34" charset="-122"/>
                <a:cs typeface="Lora" pitchFamily="34" charset="-120"/>
              </a:rPr>
              <a:t>Character: 0.134 → 0.217 (+61.9%)</a:t>
            </a:r>
            <a:endParaRPr lang="en-US" sz="950" dirty="0"/>
          </a:p>
        </p:txBody>
      </p:sp>
      <p:sp>
        <p:nvSpPr>
          <p:cNvPr id="15" name="Text 13"/>
          <p:cNvSpPr/>
          <p:nvPr/>
        </p:nvSpPr>
        <p:spPr>
          <a:xfrm>
            <a:off x="424696" y="4169212"/>
            <a:ext cx="13781008" cy="194072"/>
          </a:xfrm>
          <a:prstGeom prst="rect">
            <a:avLst/>
          </a:prstGeom>
          <a:noFill/>
          <a:ln/>
        </p:spPr>
        <p:txBody>
          <a:bodyPr wrap="none" lIns="0" tIns="0" rIns="0" bIns="0" rtlCol="0" anchor="t"/>
          <a:lstStyle/>
          <a:p>
            <a:pPr algn="l" indent="0" marL="0">
              <a:lnSpc>
                <a:spcPts val="1500"/>
              </a:lnSpc>
              <a:buNone/>
            </a:pPr>
            <a:r>
              <a:rPr lang="en-US" sz="950" b="1" dirty="0">
                <a:solidFill>
                  <a:srgbClr val="2C2821"/>
                </a:solidFill>
                <a:latin typeface="Lora" pitchFamily="34" charset="0"/>
                <a:ea typeface="Lora" pitchFamily="34" charset="-122"/>
                <a:cs typeface="Lora" pitchFamily="34" charset="-120"/>
              </a:rPr>
              <a:t>DIALOGUE Interactions</a:t>
            </a:r>
            <a:pPr algn="l" indent="0" marL="0">
              <a:lnSpc>
                <a:spcPts val="1500"/>
              </a:lnSpc>
              <a:buNone/>
            </a:pPr>
            <a:r>
              <a:rPr lang="en-US" sz="950" dirty="0">
                <a:solidFill>
                  <a:srgbClr val="2C2821"/>
                </a:solidFill>
                <a:latin typeface="Lora" pitchFamily="34" charset="0"/>
                <a:ea typeface="Lora" pitchFamily="34" charset="-122"/>
                <a:cs typeface="Lora" pitchFamily="34" charset="-120"/>
              </a:rPr>
              <a:t> (Character-Heavy Weighting):</a:t>
            </a:r>
            <a:endParaRPr lang="en-US" sz="950" dirty="0"/>
          </a:p>
        </p:txBody>
      </p:sp>
      <p:sp>
        <p:nvSpPr>
          <p:cNvPr id="16" name="Text 14"/>
          <p:cNvSpPr/>
          <p:nvPr/>
        </p:nvSpPr>
        <p:spPr>
          <a:xfrm>
            <a:off x="424696" y="4499729"/>
            <a:ext cx="13781008" cy="194072"/>
          </a:xfrm>
          <a:prstGeom prst="rect">
            <a:avLst/>
          </a:prstGeom>
          <a:noFill/>
          <a:ln/>
        </p:spPr>
        <p:txBody>
          <a:bodyPr wrap="none" lIns="0" tIns="0" rIns="0" bIns="0" rtlCol="0" anchor="t"/>
          <a:lstStyle/>
          <a:p>
            <a:pPr algn="l" marL="342900" indent="-342900">
              <a:lnSpc>
                <a:spcPts val="1500"/>
              </a:lnSpc>
              <a:buSzPct val="100000"/>
              <a:buChar char="•"/>
            </a:pPr>
            <a:r>
              <a:rPr lang="en-US" sz="950" dirty="0">
                <a:solidFill>
                  <a:srgbClr val="2C2821"/>
                </a:solidFill>
                <a:latin typeface="Lora" pitchFamily="34" charset="0"/>
                <a:ea typeface="Lora" pitchFamily="34" charset="-122"/>
                <a:cs typeface="Lora" pitchFamily="34" charset="-120"/>
              </a:rPr>
              <a:t>Combined Reward: 0.407 → 0.589 (+44.7%)</a:t>
            </a:r>
            <a:endParaRPr lang="en-US" sz="950" dirty="0"/>
          </a:p>
        </p:txBody>
      </p:sp>
      <p:sp>
        <p:nvSpPr>
          <p:cNvPr id="17" name="Text 15"/>
          <p:cNvSpPr/>
          <p:nvPr/>
        </p:nvSpPr>
        <p:spPr>
          <a:xfrm>
            <a:off x="424696" y="4736187"/>
            <a:ext cx="13781008" cy="194072"/>
          </a:xfrm>
          <a:prstGeom prst="rect">
            <a:avLst/>
          </a:prstGeom>
          <a:noFill/>
          <a:ln/>
        </p:spPr>
        <p:txBody>
          <a:bodyPr wrap="none" lIns="0" tIns="0" rIns="0" bIns="0" rtlCol="0" anchor="t"/>
          <a:lstStyle/>
          <a:p>
            <a:pPr algn="l" marL="342900" indent="-342900">
              <a:lnSpc>
                <a:spcPts val="1500"/>
              </a:lnSpc>
              <a:buSzPct val="100000"/>
              <a:buChar char="•"/>
            </a:pPr>
            <a:r>
              <a:rPr lang="en-US" sz="950" dirty="0">
                <a:solidFill>
                  <a:srgbClr val="2C2821"/>
                </a:solidFill>
                <a:latin typeface="Lora" pitchFamily="34" charset="0"/>
                <a:ea typeface="Lora" pitchFamily="34" charset="-122"/>
                <a:cs typeface="Lora" pitchFamily="34" charset="-120"/>
              </a:rPr>
              <a:t>Narrative: 0.518 → 0.689 (+33.0%)</a:t>
            </a:r>
            <a:endParaRPr lang="en-US" sz="950" dirty="0"/>
          </a:p>
        </p:txBody>
      </p:sp>
      <p:sp>
        <p:nvSpPr>
          <p:cNvPr id="18" name="Text 16"/>
          <p:cNvSpPr/>
          <p:nvPr/>
        </p:nvSpPr>
        <p:spPr>
          <a:xfrm>
            <a:off x="424696" y="4972645"/>
            <a:ext cx="13781008" cy="194072"/>
          </a:xfrm>
          <a:prstGeom prst="rect">
            <a:avLst/>
          </a:prstGeom>
          <a:noFill/>
          <a:ln/>
        </p:spPr>
        <p:txBody>
          <a:bodyPr wrap="none" lIns="0" tIns="0" rIns="0" bIns="0" rtlCol="0" anchor="t"/>
          <a:lstStyle/>
          <a:p>
            <a:pPr algn="l" marL="342900" indent="-342900">
              <a:lnSpc>
                <a:spcPts val="1500"/>
              </a:lnSpc>
              <a:buSzPct val="100000"/>
              <a:buChar char="•"/>
            </a:pPr>
            <a:r>
              <a:rPr lang="en-US" sz="950" dirty="0">
                <a:solidFill>
                  <a:srgbClr val="2C2821"/>
                </a:solidFill>
                <a:latin typeface="Lora" pitchFamily="34" charset="0"/>
                <a:ea typeface="Lora" pitchFamily="34" charset="-122"/>
                <a:cs typeface="Lora" pitchFamily="34" charset="-120"/>
              </a:rPr>
              <a:t>Causal: 0.204 → 0.519 (+154.4%)</a:t>
            </a:r>
            <a:endParaRPr lang="en-US" sz="950" dirty="0"/>
          </a:p>
        </p:txBody>
      </p:sp>
      <p:sp>
        <p:nvSpPr>
          <p:cNvPr id="19" name="Text 17"/>
          <p:cNvSpPr/>
          <p:nvPr/>
        </p:nvSpPr>
        <p:spPr>
          <a:xfrm>
            <a:off x="424696" y="5209103"/>
            <a:ext cx="13781008" cy="194072"/>
          </a:xfrm>
          <a:prstGeom prst="rect">
            <a:avLst/>
          </a:prstGeom>
          <a:noFill/>
          <a:ln/>
        </p:spPr>
        <p:txBody>
          <a:bodyPr wrap="none" lIns="0" tIns="0" rIns="0" bIns="0" rtlCol="0" anchor="t"/>
          <a:lstStyle/>
          <a:p>
            <a:pPr algn="l" marL="342900" indent="-342900">
              <a:lnSpc>
                <a:spcPts val="1500"/>
              </a:lnSpc>
              <a:buSzPct val="100000"/>
              <a:buChar char="•"/>
            </a:pPr>
            <a:r>
              <a:rPr lang="en-US" sz="950" dirty="0">
                <a:solidFill>
                  <a:srgbClr val="2C2821"/>
                </a:solidFill>
                <a:latin typeface="Lora" pitchFamily="34" charset="0"/>
                <a:ea typeface="Lora" pitchFamily="34" charset="-122"/>
                <a:cs typeface="Lora" pitchFamily="34" charset="-120"/>
              </a:rPr>
              <a:t>World: 0.629 → 0.784 (+24.6%)</a:t>
            </a:r>
            <a:endParaRPr lang="en-US" sz="950" dirty="0"/>
          </a:p>
        </p:txBody>
      </p:sp>
      <p:sp>
        <p:nvSpPr>
          <p:cNvPr id="20" name="Text 18"/>
          <p:cNvSpPr/>
          <p:nvPr/>
        </p:nvSpPr>
        <p:spPr>
          <a:xfrm>
            <a:off x="424696" y="5445562"/>
            <a:ext cx="13781008" cy="194072"/>
          </a:xfrm>
          <a:prstGeom prst="rect">
            <a:avLst/>
          </a:prstGeom>
          <a:noFill/>
          <a:ln/>
        </p:spPr>
        <p:txBody>
          <a:bodyPr wrap="none" lIns="0" tIns="0" rIns="0" bIns="0" rtlCol="0" anchor="t"/>
          <a:lstStyle/>
          <a:p>
            <a:pPr algn="l" marL="342900" indent="-342900">
              <a:lnSpc>
                <a:spcPts val="1500"/>
              </a:lnSpc>
              <a:buSzPct val="100000"/>
              <a:buChar char="•"/>
            </a:pPr>
            <a:r>
              <a:rPr lang="en-US" sz="950" dirty="0">
                <a:solidFill>
                  <a:srgbClr val="2C2821"/>
                </a:solidFill>
                <a:latin typeface="Lora" pitchFamily="34" charset="0"/>
                <a:ea typeface="Lora" pitchFamily="34" charset="-122"/>
                <a:cs typeface="Lora" pitchFamily="34" charset="-120"/>
              </a:rPr>
              <a:t>Character: 0.157 → 0.341 (+117.2%) ← Targeted improvement</a:t>
            </a:r>
            <a:endParaRPr lang="en-US" sz="950" dirty="0"/>
          </a:p>
        </p:txBody>
      </p:sp>
      <p:sp>
        <p:nvSpPr>
          <p:cNvPr id="21" name="Shape 19"/>
          <p:cNvSpPr/>
          <p:nvPr/>
        </p:nvSpPr>
        <p:spPr>
          <a:xfrm>
            <a:off x="424696" y="5776079"/>
            <a:ext cx="13781008" cy="2144078"/>
          </a:xfrm>
          <a:prstGeom prst="roundRect">
            <a:avLst>
              <a:gd name="adj" fmla="val 849"/>
            </a:avLst>
          </a:prstGeom>
          <a:noFill/>
          <a:ln w="7620">
            <a:solidFill>
              <a:srgbClr val="000000">
                <a:alpha val="8000"/>
              </a:srgbClr>
            </a:solidFill>
            <a:prstDash val="solid"/>
          </a:ln>
        </p:spPr>
      </p:sp>
      <p:sp>
        <p:nvSpPr>
          <p:cNvPr id="22" name="Shape 20"/>
          <p:cNvSpPr/>
          <p:nvPr/>
        </p:nvSpPr>
        <p:spPr>
          <a:xfrm>
            <a:off x="432316" y="5783699"/>
            <a:ext cx="13768507" cy="354806"/>
          </a:xfrm>
          <a:prstGeom prst="rect">
            <a:avLst/>
          </a:prstGeom>
          <a:solidFill>
            <a:srgbClr val="FFFFFF">
              <a:alpha val="4000"/>
            </a:srgbClr>
          </a:solidFill>
          <a:ln/>
        </p:spPr>
      </p:sp>
      <p:sp>
        <p:nvSpPr>
          <p:cNvPr id="23" name="Text 21"/>
          <p:cNvSpPr/>
          <p:nvPr/>
        </p:nvSpPr>
        <p:spPr>
          <a:xfrm>
            <a:off x="553998" y="5864066"/>
            <a:ext cx="2048232" cy="194072"/>
          </a:xfrm>
          <a:prstGeom prst="rect">
            <a:avLst/>
          </a:prstGeom>
          <a:noFill/>
          <a:ln/>
        </p:spPr>
        <p:txBody>
          <a:bodyPr wrap="none" lIns="0" tIns="0" rIns="0" bIns="0" rtlCol="0" anchor="t"/>
          <a:lstStyle/>
          <a:p>
            <a:pPr algn="l" indent="0" marL="0">
              <a:lnSpc>
                <a:spcPts val="1500"/>
              </a:lnSpc>
              <a:buNone/>
            </a:pPr>
            <a:r>
              <a:rPr lang="en-US" sz="950" dirty="0">
                <a:solidFill>
                  <a:srgbClr val="2C2821"/>
                </a:solidFill>
                <a:latin typeface="Lora" pitchFamily="34" charset="0"/>
                <a:ea typeface="Lora" pitchFamily="34" charset="-122"/>
                <a:cs typeface="Lora" pitchFamily="34" charset="-120"/>
              </a:rPr>
              <a:t>Training Step</a:t>
            </a:r>
            <a:endParaRPr lang="en-US" sz="950" dirty="0"/>
          </a:p>
        </p:txBody>
      </p:sp>
      <p:sp>
        <p:nvSpPr>
          <p:cNvPr id="24" name="Text 22"/>
          <p:cNvSpPr/>
          <p:nvPr/>
        </p:nvSpPr>
        <p:spPr>
          <a:xfrm>
            <a:off x="2852499" y="5864066"/>
            <a:ext cx="2044422" cy="194072"/>
          </a:xfrm>
          <a:prstGeom prst="rect">
            <a:avLst/>
          </a:prstGeom>
          <a:noFill/>
          <a:ln/>
        </p:spPr>
        <p:txBody>
          <a:bodyPr wrap="none" lIns="0" tIns="0" rIns="0" bIns="0" rtlCol="0" anchor="t"/>
          <a:lstStyle/>
          <a:p>
            <a:pPr algn="l" indent="0" marL="0">
              <a:lnSpc>
                <a:spcPts val="1500"/>
              </a:lnSpc>
              <a:buNone/>
            </a:pPr>
            <a:r>
              <a:rPr lang="en-US" sz="950" dirty="0">
                <a:solidFill>
                  <a:srgbClr val="2C2821"/>
                </a:solidFill>
                <a:latin typeface="Lora" pitchFamily="34" charset="0"/>
                <a:ea typeface="Lora" pitchFamily="34" charset="-122"/>
                <a:cs typeface="Lora" pitchFamily="34" charset="-120"/>
              </a:rPr>
              <a:t>Mean Reward</a:t>
            </a:r>
            <a:endParaRPr lang="en-US" sz="950" dirty="0"/>
          </a:p>
        </p:txBody>
      </p:sp>
      <p:sp>
        <p:nvSpPr>
          <p:cNvPr id="25" name="Text 23"/>
          <p:cNvSpPr/>
          <p:nvPr/>
        </p:nvSpPr>
        <p:spPr>
          <a:xfrm>
            <a:off x="5147191" y="5864066"/>
            <a:ext cx="2044422" cy="194072"/>
          </a:xfrm>
          <a:prstGeom prst="rect">
            <a:avLst/>
          </a:prstGeom>
          <a:noFill/>
          <a:ln/>
        </p:spPr>
        <p:txBody>
          <a:bodyPr wrap="none" lIns="0" tIns="0" rIns="0" bIns="0" rtlCol="0" anchor="t"/>
          <a:lstStyle/>
          <a:p>
            <a:pPr algn="l" indent="0" marL="0">
              <a:lnSpc>
                <a:spcPts val="1500"/>
              </a:lnSpc>
              <a:buNone/>
            </a:pPr>
            <a:r>
              <a:rPr lang="en-US" sz="950" dirty="0">
                <a:solidFill>
                  <a:srgbClr val="2C2821"/>
                </a:solidFill>
                <a:latin typeface="Lora" pitchFamily="34" charset="0"/>
                <a:ea typeface="Lora" pitchFamily="34" charset="-122"/>
                <a:cs typeface="Lora" pitchFamily="34" charset="-120"/>
              </a:rPr>
              <a:t>Narrative</a:t>
            </a:r>
            <a:endParaRPr lang="en-US" sz="950" dirty="0"/>
          </a:p>
        </p:txBody>
      </p:sp>
      <p:sp>
        <p:nvSpPr>
          <p:cNvPr id="26" name="Text 24"/>
          <p:cNvSpPr/>
          <p:nvPr/>
        </p:nvSpPr>
        <p:spPr>
          <a:xfrm>
            <a:off x="7441883" y="5864066"/>
            <a:ext cx="2044422" cy="194072"/>
          </a:xfrm>
          <a:prstGeom prst="rect">
            <a:avLst/>
          </a:prstGeom>
          <a:noFill/>
          <a:ln/>
        </p:spPr>
        <p:txBody>
          <a:bodyPr wrap="none" lIns="0" tIns="0" rIns="0" bIns="0" rtlCol="0" anchor="t"/>
          <a:lstStyle/>
          <a:p>
            <a:pPr algn="l" indent="0" marL="0">
              <a:lnSpc>
                <a:spcPts val="1500"/>
              </a:lnSpc>
              <a:buNone/>
            </a:pPr>
            <a:r>
              <a:rPr lang="en-US" sz="950" dirty="0">
                <a:solidFill>
                  <a:srgbClr val="2C2821"/>
                </a:solidFill>
                <a:latin typeface="Lora" pitchFamily="34" charset="0"/>
                <a:ea typeface="Lora" pitchFamily="34" charset="-122"/>
                <a:cs typeface="Lora" pitchFamily="34" charset="-120"/>
              </a:rPr>
              <a:t>Causal</a:t>
            </a:r>
            <a:endParaRPr lang="en-US" sz="950" dirty="0"/>
          </a:p>
        </p:txBody>
      </p:sp>
      <p:sp>
        <p:nvSpPr>
          <p:cNvPr id="27" name="Text 25"/>
          <p:cNvSpPr/>
          <p:nvPr/>
        </p:nvSpPr>
        <p:spPr>
          <a:xfrm>
            <a:off x="9736574" y="5864066"/>
            <a:ext cx="2044422" cy="194072"/>
          </a:xfrm>
          <a:prstGeom prst="rect">
            <a:avLst/>
          </a:prstGeom>
          <a:noFill/>
          <a:ln/>
        </p:spPr>
        <p:txBody>
          <a:bodyPr wrap="none" lIns="0" tIns="0" rIns="0" bIns="0" rtlCol="0" anchor="t"/>
          <a:lstStyle/>
          <a:p>
            <a:pPr algn="l" indent="0" marL="0">
              <a:lnSpc>
                <a:spcPts val="1500"/>
              </a:lnSpc>
              <a:buNone/>
            </a:pPr>
            <a:r>
              <a:rPr lang="en-US" sz="950" dirty="0">
                <a:solidFill>
                  <a:srgbClr val="2C2821"/>
                </a:solidFill>
                <a:latin typeface="Lora" pitchFamily="34" charset="0"/>
                <a:ea typeface="Lora" pitchFamily="34" charset="-122"/>
                <a:cs typeface="Lora" pitchFamily="34" charset="-120"/>
              </a:rPr>
              <a:t>World</a:t>
            </a:r>
            <a:endParaRPr lang="en-US" sz="950" dirty="0"/>
          </a:p>
        </p:txBody>
      </p:sp>
      <p:sp>
        <p:nvSpPr>
          <p:cNvPr id="28" name="Text 26"/>
          <p:cNvSpPr/>
          <p:nvPr/>
        </p:nvSpPr>
        <p:spPr>
          <a:xfrm>
            <a:off x="12031266" y="5864066"/>
            <a:ext cx="2048232" cy="194072"/>
          </a:xfrm>
          <a:prstGeom prst="rect">
            <a:avLst/>
          </a:prstGeom>
          <a:noFill/>
          <a:ln/>
        </p:spPr>
        <p:txBody>
          <a:bodyPr wrap="none" lIns="0" tIns="0" rIns="0" bIns="0" rtlCol="0" anchor="t"/>
          <a:lstStyle/>
          <a:p>
            <a:pPr algn="l" indent="0" marL="0">
              <a:lnSpc>
                <a:spcPts val="1500"/>
              </a:lnSpc>
              <a:buNone/>
            </a:pPr>
            <a:r>
              <a:rPr lang="en-US" sz="950" dirty="0">
                <a:solidFill>
                  <a:srgbClr val="2C2821"/>
                </a:solidFill>
                <a:latin typeface="Lora" pitchFamily="34" charset="0"/>
                <a:ea typeface="Lora" pitchFamily="34" charset="-122"/>
                <a:cs typeface="Lora" pitchFamily="34" charset="-120"/>
              </a:rPr>
              <a:t>Character</a:t>
            </a:r>
            <a:endParaRPr lang="en-US" sz="950" dirty="0"/>
          </a:p>
        </p:txBody>
      </p:sp>
      <p:sp>
        <p:nvSpPr>
          <p:cNvPr id="29" name="Shape 27"/>
          <p:cNvSpPr/>
          <p:nvPr/>
        </p:nvSpPr>
        <p:spPr>
          <a:xfrm>
            <a:off x="432316" y="6138505"/>
            <a:ext cx="13768507" cy="354806"/>
          </a:xfrm>
          <a:prstGeom prst="rect">
            <a:avLst/>
          </a:prstGeom>
          <a:solidFill>
            <a:srgbClr val="000000">
              <a:alpha val="4000"/>
            </a:srgbClr>
          </a:solidFill>
          <a:ln/>
        </p:spPr>
      </p:sp>
      <p:sp>
        <p:nvSpPr>
          <p:cNvPr id="30" name="Text 28"/>
          <p:cNvSpPr/>
          <p:nvPr/>
        </p:nvSpPr>
        <p:spPr>
          <a:xfrm>
            <a:off x="553998" y="6218873"/>
            <a:ext cx="2048232" cy="194072"/>
          </a:xfrm>
          <a:prstGeom prst="rect">
            <a:avLst/>
          </a:prstGeom>
          <a:noFill/>
          <a:ln/>
        </p:spPr>
        <p:txBody>
          <a:bodyPr wrap="none" lIns="0" tIns="0" rIns="0" bIns="0" rtlCol="0" anchor="t"/>
          <a:lstStyle/>
          <a:p>
            <a:pPr algn="l" indent="0" marL="0">
              <a:lnSpc>
                <a:spcPts val="1500"/>
              </a:lnSpc>
              <a:buNone/>
            </a:pPr>
            <a:r>
              <a:rPr lang="en-US" sz="950" b="1" dirty="0">
                <a:solidFill>
                  <a:srgbClr val="2C2821"/>
                </a:solidFill>
                <a:latin typeface="Lora" pitchFamily="34" charset="0"/>
                <a:ea typeface="Lora" pitchFamily="34" charset="-122"/>
                <a:cs typeface="Lora" pitchFamily="34" charset="-120"/>
              </a:rPr>
              <a:t>0 (SFT Baseline)</a:t>
            </a:r>
            <a:endParaRPr lang="en-US" sz="950" dirty="0"/>
          </a:p>
        </p:txBody>
      </p:sp>
      <p:sp>
        <p:nvSpPr>
          <p:cNvPr id="31" name="Text 29"/>
          <p:cNvSpPr/>
          <p:nvPr/>
        </p:nvSpPr>
        <p:spPr>
          <a:xfrm>
            <a:off x="2852499" y="6218873"/>
            <a:ext cx="2044422" cy="194072"/>
          </a:xfrm>
          <a:prstGeom prst="rect">
            <a:avLst/>
          </a:prstGeom>
          <a:noFill/>
          <a:ln/>
        </p:spPr>
        <p:txBody>
          <a:bodyPr wrap="none" lIns="0" tIns="0" rIns="0" bIns="0" rtlCol="0" anchor="t"/>
          <a:lstStyle/>
          <a:p>
            <a:pPr algn="l" indent="0" marL="0">
              <a:lnSpc>
                <a:spcPts val="1500"/>
              </a:lnSpc>
              <a:buNone/>
            </a:pPr>
            <a:r>
              <a:rPr lang="en-US" sz="950" dirty="0">
                <a:solidFill>
                  <a:srgbClr val="2C2821"/>
                </a:solidFill>
                <a:latin typeface="Lora" pitchFamily="34" charset="0"/>
                <a:ea typeface="Lora" pitchFamily="34" charset="-122"/>
                <a:cs typeface="Lora" pitchFamily="34" charset="-120"/>
              </a:rPr>
              <a:t>0.412</a:t>
            </a:r>
            <a:endParaRPr lang="en-US" sz="950" dirty="0"/>
          </a:p>
        </p:txBody>
      </p:sp>
      <p:sp>
        <p:nvSpPr>
          <p:cNvPr id="32" name="Text 30"/>
          <p:cNvSpPr/>
          <p:nvPr/>
        </p:nvSpPr>
        <p:spPr>
          <a:xfrm>
            <a:off x="5147191" y="6218873"/>
            <a:ext cx="2044422" cy="194072"/>
          </a:xfrm>
          <a:prstGeom prst="rect">
            <a:avLst/>
          </a:prstGeom>
          <a:noFill/>
          <a:ln/>
        </p:spPr>
        <p:txBody>
          <a:bodyPr wrap="none" lIns="0" tIns="0" rIns="0" bIns="0" rtlCol="0" anchor="t"/>
          <a:lstStyle/>
          <a:p>
            <a:pPr algn="l" indent="0" marL="0">
              <a:lnSpc>
                <a:spcPts val="1500"/>
              </a:lnSpc>
              <a:buNone/>
            </a:pPr>
            <a:r>
              <a:rPr lang="en-US" sz="950" dirty="0">
                <a:solidFill>
                  <a:srgbClr val="2C2821"/>
                </a:solidFill>
                <a:latin typeface="Lora" pitchFamily="34" charset="0"/>
                <a:ea typeface="Lora" pitchFamily="34" charset="-122"/>
                <a:cs typeface="Lora" pitchFamily="34" charset="-120"/>
              </a:rPr>
              <a:t>0.523</a:t>
            </a:r>
            <a:endParaRPr lang="en-US" sz="950" dirty="0"/>
          </a:p>
        </p:txBody>
      </p:sp>
      <p:sp>
        <p:nvSpPr>
          <p:cNvPr id="33" name="Text 31"/>
          <p:cNvSpPr/>
          <p:nvPr/>
        </p:nvSpPr>
        <p:spPr>
          <a:xfrm>
            <a:off x="7441883" y="6218873"/>
            <a:ext cx="2044422" cy="194072"/>
          </a:xfrm>
          <a:prstGeom prst="rect">
            <a:avLst/>
          </a:prstGeom>
          <a:noFill/>
          <a:ln/>
        </p:spPr>
        <p:txBody>
          <a:bodyPr wrap="none" lIns="0" tIns="0" rIns="0" bIns="0" rtlCol="0" anchor="t"/>
          <a:lstStyle/>
          <a:p>
            <a:pPr algn="l" indent="0" marL="0">
              <a:lnSpc>
                <a:spcPts val="1500"/>
              </a:lnSpc>
              <a:buNone/>
            </a:pPr>
            <a:r>
              <a:rPr lang="en-US" sz="950" dirty="0">
                <a:solidFill>
                  <a:srgbClr val="2C2821"/>
                </a:solidFill>
                <a:latin typeface="Lora" pitchFamily="34" charset="0"/>
                <a:ea typeface="Lora" pitchFamily="34" charset="-122"/>
                <a:cs typeface="Lora" pitchFamily="34" charset="-120"/>
              </a:rPr>
              <a:t>0.189</a:t>
            </a:r>
            <a:endParaRPr lang="en-US" sz="950" dirty="0"/>
          </a:p>
        </p:txBody>
      </p:sp>
      <p:sp>
        <p:nvSpPr>
          <p:cNvPr id="34" name="Text 32"/>
          <p:cNvSpPr/>
          <p:nvPr/>
        </p:nvSpPr>
        <p:spPr>
          <a:xfrm>
            <a:off x="9736574" y="6218873"/>
            <a:ext cx="2044422" cy="194072"/>
          </a:xfrm>
          <a:prstGeom prst="rect">
            <a:avLst/>
          </a:prstGeom>
          <a:noFill/>
          <a:ln/>
        </p:spPr>
        <p:txBody>
          <a:bodyPr wrap="none" lIns="0" tIns="0" rIns="0" bIns="0" rtlCol="0" anchor="t"/>
          <a:lstStyle/>
          <a:p>
            <a:pPr algn="l" indent="0" marL="0">
              <a:lnSpc>
                <a:spcPts val="1500"/>
              </a:lnSpc>
              <a:buNone/>
            </a:pPr>
            <a:r>
              <a:rPr lang="en-US" sz="950" dirty="0">
                <a:solidFill>
                  <a:srgbClr val="2C2821"/>
                </a:solidFill>
                <a:latin typeface="Lora" pitchFamily="34" charset="0"/>
                <a:ea typeface="Lora" pitchFamily="34" charset="-122"/>
                <a:cs typeface="Lora" pitchFamily="34" charset="-120"/>
              </a:rPr>
              <a:t>0.618</a:t>
            </a:r>
            <a:endParaRPr lang="en-US" sz="950" dirty="0"/>
          </a:p>
        </p:txBody>
      </p:sp>
      <p:sp>
        <p:nvSpPr>
          <p:cNvPr id="35" name="Text 33"/>
          <p:cNvSpPr/>
          <p:nvPr/>
        </p:nvSpPr>
        <p:spPr>
          <a:xfrm>
            <a:off x="12031266" y="6218873"/>
            <a:ext cx="2048232" cy="194072"/>
          </a:xfrm>
          <a:prstGeom prst="rect">
            <a:avLst/>
          </a:prstGeom>
          <a:noFill/>
          <a:ln/>
        </p:spPr>
        <p:txBody>
          <a:bodyPr wrap="none" lIns="0" tIns="0" rIns="0" bIns="0" rtlCol="0" anchor="t"/>
          <a:lstStyle/>
          <a:p>
            <a:pPr algn="l" indent="0" marL="0">
              <a:lnSpc>
                <a:spcPts val="1500"/>
              </a:lnSpc>
              <a:buNone/>
            </a:pPr>
            <a:r>
              <a:rPr lang="en-US" sz="950" dirty="0">
                <a:solidFill>
                  <a:srgbClr val="2C2821"/>
                </a:solidFill>
                <a:latin typeface="Lora" pitchFamily="34" charset="0"/>
                <a:ea typeface="Lora" pitchFamily="34" charset="-122"/>
                <a:cs typeface="Lora" pitchFamily="34" charset="-120"/>
              </a:rPr>
              <a:t>0.138</a:t>
            </a:r>
            <a:endParaRPr lang="en-US" sz="950" dirty="0"/>
          </a:p>
        </p:txBody>
      </p:sp>
      <p:sp>
        <p:nvSpPr>
          <p:cNvPr id="36" name="Shape 34"/>
          <p:cNvSpPr/>
          <p:nvPr/>
        </p:nvSpPr>
        <p:spPr>
          <a:xfrm>
            <a:off x="432316" y="6493312"/>
            <a:ext cx="13768507" cy="354806"/>
          </a:xfrm>
          <a:prstGeom prst="rect">
            <a:avLst/>
          </a:prstGeom>
          <a:solidFill>
            <a:srgbClr val="FFFFFF">
              <a:alpha val="4000"/>
            </a:srgbClr>
          </a:solidFill>
          <a:ln/>
        </p:spPr>
      </p:sp>
      <p:sp>
        <p:nvSpPr>
          <p:cNvPr id="37" name="Text 35"/>
          <p:cNvSpPr/>
          <p:nvPr/>
        </p:nvSpPr>
        <p:spPr>
          <a:xfrm>
            <a:off x="553998" y="6573679"/>
            <a:ext cx="2048232" cy="194072"/>
          </a:xfrm>
          <a:prstGeom prst="rect">
            <a:avLst/>
          </a:prstGeom>
          <a:noFill/>
          <a:ln/>
        </p:spPr>
        <p:txBody>
          <a:bodyPr wrap="none" lIns="0" tIns="0" rIns="0" bIns="0" rtlCol="0" anchor="t"/>
          <a:lstStyle/>
          <a:p>
            <a:pPr algn="l" indent="0" marL="0">
              <a:lnSpc>
                <a:spcPts val="1500"/>
              </a:lnSpc>
              <a:buNone/>
            </a:pPr>
            <a:r>
              <a:rPr lang="en-US" sz="950" b="1" dirty="0">
                <a:solidFill>
                  <a:srgbClr val="2C2821"/>
                </a:solidFill>
                <a:latin typeface="Lora" pitchFamily="34" charset="0"/>
                <a:ea typeface="Lora" pitchFamily="34" charset="-122"/>
                <a:cs typeface="Lora" pitchFamily="34" charset="-120"/>
              </a:rPr>
              <a:t>250</a:t>
            </a:r>
            <a:endParaRPr lang="en-US" sz="950" dirty="0"/>
          </a:p>
        </p:txBody>
      </p:sp>
      <p:sp>
        <p:nvSpPr>
          <p:cNvPr id="38" name="Text 36"/>
          <p:cNvSpPr/>
          <p:nvPr/>
        </p:nvSpPr>
        <p:spPr>
          <a:xfrm>
            <a:off x="2852499" y="6573679"/>
            <a:ext cx="2044422" cy="194072"/>
          </a:xfrm>
          <a:prstGeom prst="rect">
            <a:avLst/>
          </a:prstGeom>
          <a:noFill/>
          <a:ln/>
        </p:spPr>
        <p:txBody>
          <a:bodyPr wrap="none" lIns="0" tIns="0" rIns="0" bIns="0" rtlCol="0" anchor="t"/>
          <a:lstStyle/>
          <a:p>
            <a:pPr algn="l" indent="0" marL="0">
              <a:lnSpc>
                <a:spcPts val="1500"/>
              </a:lnSpc>
              <a:buNone/>
            </a:pPr>
            <a:r>
              <a:rPr lang="en-US" sz="950" dirty="0">
                <a:solidFill>
                  <a:srgbClr val="2C2821"/>
                </a:solidFill>
                <a:latin typeface="Lora" pitchFamily="34" charset="0"/>
                <a:ea typeface="Lora" pitchFamily="34" charset="-122"/>
                <a:cs typeface="Lora" pitchFamily="34" charset="-120"/>
              </a:rPr>
              <a:t>0.507</a:t>
            </a:r>
            <a:endParaRPr lang="en-US" sz="950" dirty="0"/>
          </a:p>
        </p:txBody>
      </p:sp>
      <p:sp>
        <p:nvSpPr>
          <p:cNvPr id="39" name="Text 37"/>
          <p:cNvSpPr/>
          <p:nvPr/>
        </p:nvSpPr>
        <p:spPr>
          <a:xfrm>
            <a:off x="5147191" y="6573679"/>
            <a:ext cx="2044422" cy="194072"/>
          </a:xfrm>
          <a:prstGeom prst="rect">
            <a:avLst/>
          </a:prstGeom>
          <a:noFill/>
          <a:ln/>
        </p:spPr>
        <p:txBody>
          <a:bodyPr wrap="none" lIns="0" tIns="0" rIns="0" bIns="0" rtlCol="0" anchor="t"/>
          <a:lstStyle/>
          <a:p>
            <a:pPr algn="l" indent="0" marL="0">
              <a:lnSpc>
                <a:spcPts val="1500"/>
              </a:lnSpc>
              <a:buNone/>
            </a:pPr>
            <a:r>
              <a:rPr lang="en-US" sz="950" dirty="0">
                <a:solidFill>
                  <a:srgbClr val="2C2821"/>
                </a:solidFill>
                <a:latin typeface="Lora" pitchFamily="34" charset="0"/>
                <a:ea typeface="Lora" pitchFamily="34" charset="-122"/>
                <a:cs typeface="Lora" pitchFamily="34" charset="-120"/>
              </a:rPr>
              <a:t>0.601</a:t>
            </a:r>
            <a:endParaRPr lang="en-US" sz="950" dirty="0"/>
          </a:p>
        </p:txBody>
      </p:sp>
      <p:sp>
        <p:nvSpPr>
          <p:cNvPr id="40" name="Text 38"/>
          <p:cNvSpPr/>
          <p:nvPr/>
        </p:nvSpPr>
        <p:spPr>
          <a:xfrm>
            <a:off x="7441883" y="6573679"/>
            <a:ext cx="2044422" cy="194072"/>
          </a:xfrm>
          <a:prstGeom prst="rect">
            <a:avLst/>
          </a:prstGeom>
          <a:noFill/>
          <a:ln/>
        </p:spPr>
        <p:txBody>
          <a:bodyPr wrap="none" lIns="0" tIns="0" rIns="0" bIns="0" rtlCol="0" anchor="t"/>
          <a:lstStyle/>
          <a:p>
            <a:pPr algn="l" indent="0" marL="0">
              <a:lnSpc>
                <a:spcPts val="1500"/>
              </a:lnSpc>
              <a:buNone/>
            </a:pPr>
            <a:r>
              <a:rPr lang="en-US" sz="950" dirty="0">
                <a:solidFill>
                  <a:srgbClr val="2C2821"/>
                </a:solidFill>
                <a:latin typeface="Lora" pitchFamily="34" charset="0"/>
                <a:ea typeface="Lora" pitchFamily="34" charset="-122"/>
                <a:cs typeface="Lora" pitchFamily="34" charset="-120"/>
              </a:rPr>
              <a:t>0.374</a:t>
            </a:r>
            <a:endParaRPr lang="en-US" sz="950" dirty="0"/>
          </a:p>
        </p:txBody>
      </p:sp>
      <p:sp>
        <p:nvSpPr>
          <p:cNvPr id="41" name="Text 39"/>
          <p:cNvSpPr/>
          <p:nvPr/>
        </p:nvSpPr>
        <p:spPr>
          <a:xfrm>
            <a:off x="9736574" y="6573679"/>
            <a:ext cx="2044422" cy="194072"/>
          </a:xfrm>
          <a:prstGeom prst="rect">
            <a:avLst/>
          </a:prstGeom>
          <a:noFill/>
          <a:ln/>
        </p:spPr>
        <p:txBody>
          <a:bodyPr wrap="none" lIns="0" tIns="0" rIns="0" bIns="0" rtlCol="0" anchor="t"/>
          <a:lstStyle/>
          <a:p>
            <a:pPr algn="l" indent="0" marL="0">
              <a:lnSpc>
                <a:spcPts val="1500"/>
              </a:lnSpc>
              <a:buNone/>
            </a:pPr>
            <a:r>
              <a:rPr lang="en-US" sz="950" dirty="0">
                <a:solidFill>
                  <a:srgbClr val="2C2821"/>
                </a:solidFill>
                <a:latin typeface="Lora" pitchFamily="34" charset="0"/>
                <a:ea typeface="Lora" pitchFamily="34" charset="-122"/>
                <a:cs typeface="Lora" pitchFamily="34" charset="-120"/>
              </a:rPr>
              <a:t>0.721</a:t>
            </a:r>
            <a:endParaRPr lang="en-US" sz="950" dirty="0"/>
          </a:p>
        </p:txBody>
      </p:sp>
      <p:sp>
        <p:nvSpPr>
          <p:cNvPr id="42" name="Text 40"/>
          <p:cNvSpPr/>
          <p:nvPr/>
        </p:nvSpPr>
        <p:spPr>
          <a:xfrm>
            <a:off x="12031266" y="6573679"/>
            <a:ext cx="2048232" cy="194072"/>
          </a:xfrm>
          <a:prstGeom prst="rect">
            <a:avLst/>
          </a:prstGeom>
          <a:noFill/>
          <a:ln/>
        </p:spPr>
        <p:txBody>
          <a:bodyPr wrap="none" lIns="0" tIns="0" rIns="0" bIns="0" rtlCol="0" anchor="t"/>
          <a:lstStyle/>
          <a:p>
            <a:pPr algn="l" indent="0" marL="0">
              <a:lnSpc>
                <a:spcPts val="1500"/>
              </a:lnSpc>
              <a:buNone/>
            </a:pPr>
            <a:r>
              <a:rPr lang="en-US" sz="950" dirty="0">
                <a:solidFill>
                  <a:srgbClr val="2C2821"/>
                </a:solidFill>
                <a:latin typeface="Lora" pitchFamily="34" charset="0"/>
                <a:ea typeface="Lora" pitchFamily="34" charset="-122"/>
                <a:cs typeface="Lora" pitchFamily="34" charset="-120"/>
              </a:rPr>
              <a:t>0.189</a:t>
            </a:r>
            <a:endParaRPr lang="en-US" sz="950" dirty="0"/>
          </a:p>
        </p:txBody>
      </p:sp>
      <p:sp>
        <p:nvSpPr>
          <p:cNvPr id="43" name="Shape 41"/>
          <p:cNvSpPr/>
          <p:nvPr/>
        </p:nvSpPr>
        <p:spPr>
          <a:xfrm>
            <a:off x="432316" y="6848118"/>
            <a:ext cx="13768507" cy="354806"/>
          </a:xfrm>
          <a:prstGeom prst="rect">
            <a:avLst/>
          </a:prstGeom>
          <a:solidFill>
            <a:srgbClr val="000000">
              <a:alpha val="4000"/>
            </a:srgbClr>
          </a:solidFill>
          <a:ln/>
        </p:spPr>
      </p:sp>
      <p:sp>
        <p:nvSpPr>
          <p:cNvPr id="44" name="Text 42"/>
          <p:cNvSpPr/>
          <p:nvPr/>
        </p:nvSpPr>
        <p:spPr>
          <a:xfrm>
            <a:off x="553998" y="6928485"/>
            <a:ext cx="2048232" cy="194072"/>
          </a:xfrm>
          <a:prstGeom prst="rect">
            <a:avLst/>
          </a:prstGeom>
          <a:noFill/>
          <a:ln/>
        </p:spPr>
        <p:txBody>
          <a:bodyPr wrap="none" lIns="0" tIns="0" rIns="0" bIns="0" rtlCol="0" anchor="t"/>
          <a:lstStyle/>
          <a:p>
            <a:pPr algn="l" indent="0" marL="0">
              <a:lnSpc>
                <a:spcPts val="1500"/>
              </a:lnSpc>
              <a:buNone/>
            </a:pPr>
            <a:r>
              <a:rPr lang="en-US" sz="950" b="1" dirty="0">
                <a:solidFill>
                  <a:srgbClr val="2C2821"/>
                </a:solidFill>
                <a:latin typeface="Lora" pitchFamily="34" charset="0"/>
                <a:ea typeface="Lora" pitchFamily="34" charset="-122"/>
                <a:cs typeface="Lora" pitchFamily="34" charset="-120"/>
              </a:rPr>
              <a:t>500</a:t>
            </a:r>
            <a:endParaRPr lang="en-US" sz="950" dirty="0"/>
          </a:p>
        </p:txBody>
      </p:sp>
      <p:sp>
        <p:nvSpPr>
          <p:cNvPr id="45" name="Text 43"/>
          <p:cNvSpPr/>
          <p:nvPr/>
        </p:nvSpPr>
        <p:spPr>
          <a:xfrm>
            <a:off x="2852499" y="6928485"/>
            <a:ext cx="2044422" cy="194072"/>
          </a:xfrm>
          <a:prstGeom prst="rect">
            <a:avLst/>
          </a:prstGeom>
          <a:noFill/>
          <a:ln/>
        </p:spPr>
        <p:txBody>
          <a:bodyPr wrap="none" lIns="0" tIns="0" rIns="0" bIns="0" rtlCol="0" anchor="t"/>
          <a:lstStyle/>
          <a:p>
            <a:pPr algn="l" indent="0" marL="0">
              <a:lnSpc>
                <a:spcPts val="1500"/>
              </a:lnSpc>
              <a:buNone/>
            </a:pPr>
            <a:r>
              <a:rPr lang="en-US" sz="950" dirty="0">
                <a:solidFill>
                  <a:srgbClr val="2C2821"/>
                </a:solidFill>
                <a:latin typeface="Lora" pitchFamily="34" charset="0"/>
                <a:ea typeface="Lora" pitchFamily="34" charset="-122"/>
                <a:cs typeface="Lora" pitchFamily="34" charset="-120"/>
              </a:rPr>
              <a:t>0.571</a:t>
            </a:r>
            <a:endParaRPr lang="en-US" sz="950" dirty="0"/>
          </a:p>
        </p:txBody>
      </p:sp>
      <p:sp>
        <p:nvSpPr>
          <p:cNvPr id="46" name="Text 44"/>
          <p:cNvSpPr/>
          <p:nvPr/>
        </p:nvSpPr>
        <p:spPr>
          <a:xfrm>
            <a:off x="5147191" y="6928485"/>
            <a:ext cx="2044422" cy="194072"/>
          </a:xfrm>
          <a:prstGeom prst="rect">
            <a:avLst/>
          </a:prstGeom>
          <a:noFill/>
          <a:ln/>
        </p:spPr>
        <p:txBody>
          <a:bodyPr wrap="none" lIns="0" tIns="0" rIns="0" bIns="0" rtlCol="0" anchor="t"/>
          <a:lstStyle/>
          <a:p>
            <a:pPr algn="l" indent="0" marL="0">
              <a:lnSpc>
                <a:spcPts val="1500"/>
              </a:lnSpc>
              <a:buNone/>
            </a:pPr>
            <a:r>
              <a:rPr lang="en-US" sz="950" dirty="0">
                <a:solidFill>
                  <a:srgbClr val="2C2821"/>
                </a:solidFill>
                <a:latin typeface="Lora" pitchFamily="34" charset="0"/>
                <a:ea typeface="Lora" pitchFamily="34" charset="-122"/>
                <a:cs typeface="Lora" pitchFamily="34" charset="-120"/>
              </a:rPr>
              <a:t>0.658</a:t>
            </a:r>
            <a:endParaRPr lang="en-US" sz="950" dirty="0"/>
          </a:p>
        </p:txBody>
      </p:sp>
      <p:sp>
        <p:nvSpPr>
          <p:cNvPr id="47" name="Text 45"/>
          <p:cNvSpPr/>
          <p:nvPr/>
        </p:nvSpPr>
        <p:spPr>
          <a:xfrm>
            <a:off x="7441883" y="6928485"/>
            <a:ext cx="2044422" cy="194072"/>
          </a:xfrm>
          <a:prstGeom prst="rect">
            <a:avLst/>
          </a:prstGeom>
          <a:noFill/>
          <a:ln/>
        </p:spPr>
        <p:txBody>
          <a:bodyPr wrap="none" lIns="0" tIns="0" rIns="0" bIns="0" rtlCol="0" anchor="t"/>
          <a:lstStyle/>
          <a:p>
            <a:pPr algn="l" indent="0" marL="0">
              <a:lnSpc>
                <a:spcPts val="1500"/>
              </a:lnSpc>
              <a:buNone/>
            </a:pPr>
            <a:r>
              <a:rPr lang="en-US" sz="950" dirty="0">
                <a:solidFill>
                  <a:srgbClr val="2C2821"/>
                </a:solidFill>
                <a:latin typeface="Lora" pitchFamily="34" charset="0"/>
                <a:ea typeface="Lora" pitchFamily="34" charset="-122"/>
                <a:cs typeface="Lora" pitchFamily="34" charset="-120"/>
              </a:rPr>
              <a:t>0.487</a:t>
            </a:r>
            <a:endParaRPr lang="en-US" sz="950" dirty="0"/>
          </a:p>
        </p:txBody>
      </p:sp>
      <p:sp>
        <p:nvSpPr>
          <p:cNvPr id="48" name="Text 46"/>
          <p:cNvSpPr/>
          <p:nvPr/>
        </p:nvSpPr>
        <p:spPr>
          <a:xfrm>
            <a:off x="9736574" y="6928485"/>
            <a:ext cx="2044422" cy="194072"/>
          </a:xfrm>
          <a:prstGeom prst="rect">
            <a:avLst/>
          </a:prstGeom>
          <a:noFill/>
          <a:ln/>
        </p:spPr>
        <p:txBody>
          <a:bodyPr wrap="none" lIns="0" tIns="0" rIns="0" bIns="0" rtlCol="0" anchor="t"/>
          <a:lstStyle/>
          <a:p>
            <a:pPr algn="l" indent="0" marL="0">
              <a:lnSpc>
                <a:spcPts val="1500"/>
              </a:lnSpc>
              <a:buNone/>
            </a:pPr>
            <a:r>
              <a:rPr lang="en-US" sz="950" dirty="0">
                <a:solidFill>
                  <a:srgbClr val="2C2821"/>
                </a:solidFill>
                <a:latin typeface="Lora" pitchFamily="34" charset="0"/>
                <a:ea typeface="Lora" pitchFamily="34" charset="-122"/>
                <a:cs typeface="Lora" pitchFamily="34" charset="-120"/>
              </a:rPr>
              <a:t>0.782</a:t>
            </a:r>
            <a:endParaRPr lang="en-US" sz="950" dirty="0"/>
          </a:p>
        </p:txBody>
      </p:sp>
      <p:sp>
        <p:nvSpPr>
          <p:cNvPr id="49" name="Text 47"/>
          <p:cNvSpPr/>
          <p:nvPr/>
        </p:nvSpPr>
        <p:spPr>
          <a:xfrm>
            <a:off x="12031266" y="6928485"/>
            <a:ext cx="2048232" cy="194072"/>
          </a:xfrm>
          <a:prstGeom prst="rect">
            <a:avLst/>
          </a:prstGeom>
          <a:noFill/>
          <a:ln/>
        </p:spPr>
        <p:txBody>
          <a:bodyPr wrap="none" lIns="0" tIns="0" rIns="0" bIns="0" rtlCol="0" anchor="t"/>
          <a:lstStyle/>
          <a:p>
            <a:pPr algn="l" indent="0" marL="0">
              <a:lnSpc>
                <a:spcPts val="1500"/>
              </a:lnSpc>
              <a:buNone/>
            </a:pPr>
            <a:r>
              <a:rPr lang="en-US" sz="950" dirty="0">
                <a:solidFill>
                  <a:srgbClr val="2C2821"/>
                </a:solidFill>
                <a:latin typeface="Lora" pitchFamily="34" charset="0"/>
                <a:ea typeface="Lora" pitchFamily="34" charset="-122"/>
                <a:cs typeface="Lora" pitchFamily="34" charset="-120"/>
              </a:rPr>
              <a:t>0.233</a:t>
            </a:r>
            <a:endParaRPr lang="en-US" sz="950" dirty="0"/>
          </a:p>
        </p:txBody>
      </p:sp>
      <p:sp>
        <p:nvSpPr>
          <p:cNvPr id="50" name="Shape 48"/>
          <p:cNvSpPr/>
          <p:nvPr/>
        </p:nvSpPr>
        <p:spPr>
          <a:xfrm>
            <a:off x="432316" y="7202924"/>
            <a:ext cx="13768507" cy="354806"/>
          </a:xfrm>
          <a:prstGeom prst="rect">
            <a:avLst/>
          </a:prstGeom>
          <a:solidFill>
            <a:srgbClr val="FFFFFF">
              <a:alpha val="4000"/>
            </a:srgbClr>
          </a:solidFill>
          <a:ln/>
        </p:spPr>
      </p:sp>
      <p:sp>
        <p:nvSpPr>
          <p:cNvPr id="51" name="Text 49"/>
          <p:cNvSpPr/>
          <p:nvPr/>
        </p:nvSpPr>
        <p:spPr>
          <a:xfrm>
            <a:off x="553998" y="7283291"/>
            <a:ext cx="2048232" cy="194072"/>
          </a:xfrm>
          <a:prstGeom prst="rect">
            <a:avLst/>
          </a:prstGeom>
          <a:noFill/>
          <a:ln/>
        </p:spPr>
        <p:txBody>
          <a:bodyPr wrap="none" lIns="0" tIns="0" rIns="0" bIns="0" rtlCol="0" anchor="t"/>
          <a:lstStyle/>
          <a:p>
            <a:pPr algn="l" indent="0" marL="0">
              <a:lnSpc>
                <a:spcPts val="1500"/>
              </a:lnSpc>
              <a:buNone/>
            </a:pPr>
            <a:r>
              <a:rPr lang="en-US" sz="950" b="1" dirty="0">
                <a:solidFill>
                  <a:srgbClr val="2C2821"/>
                </a:solidFill>
                <a:latin typeface="Lora" pitchFamily="34" charset="0"/>
                <a:ea typeface="Lora" pitchFamily="34" charset="-122"/>
                <a:cs typeface="Lora" pitchFamily="34" charset="-120"/>
              </a:rPr>
              <a:t>750</a:t>
            </a:r>
            <a:endParaRPr lang="en-US" sz="950" dirty="0"/>
          </a:p>
        </p:txBody>
      </p:sp>
      <p:sp>
        <p:nvSpPr>
          <p:cNvPr id="52" name="Text 50"/>
          <p:cNvSpPr/>
          <p:nvPr/>
        </p:nvSpPr>
        <p:spPr>
          <a:xfrm>
            <a:off x="2852499" y="7283291"/>
            <a:ext cx="2044422" cy="194072"/>
          </a:xfrm>
          <a:prstGeom prst="rect">
            <a:avLst/>
          </a:prstGeom>
          <a:noFill/>
          <a:ln/>
        </p:spPr>
        <p:txBody>
          <a:bodyPr wrap="none" lIns="0" tIns="0" rIns="0" bIns="0" rtlCol="0" anchor="t"/>
          <a:lstStyle/>
          <a:p>
            <a:pPr algn="l" indent="0" marL="0">
              <a:lnSpc>
                <a:spcPts val="1500"/>
              </a:lnSpc>
              <a:buNone/>
            </a:pPr>
            <a:r>
              <a:rPr lang="en-US" sz="950" dirty="0">
                <a:solidFill>
                  <a:srgbClr val="2C2821"/>
                </a:solidFill>
                <a:latin typeface="Lora" pitchFamily="34" charset="0"/>
                <a:ea typeface="Lora" pitchFamily="34" charset="-122"/>
                <a:cs typeface="Lora" pitchFamily="34" charset="-120"/>
              </a:rPr>
              <a:t>0.598</a:t>
            </a:r>
            <a:endParaRPr lang="en-US" sz="950" dirty="0"/>
          </a:p>
        </p:txBody>
      </p:sp>
      <p:sp>
        <p:nvSpPr>
          <p:cNvPr id="53" name="Text 51"/>
          <p:cNvSpPr/>
          <p:nvPr/>
        </p:nvSpPr>
        <p:spPr>
          <a:xfrm>
            <a:off x="5147191" y="7283291"/>
            <a:ext cx="2044422" cy="194072"/>
          </a:xfrm>
          <a:prstGeom prst="rect">
            <a:avLst/>
          </a:prstGeom>
          <a:noFill/>
          <a:ln/>
        </p:spPr>
        <p:txBody>
          <a:bodyPr wrap="none" lIns="0" tIns="0" rIns="0" bIns="0" rtlCol="0" anchor="t"/>
          <a:lstStyle/>
          <a:p>
            <a:pPr algn="l" indent="0" marL="0">
              <a:lnSpc>
                <a:spcPts val="1500"/>
              </a:lnSpc>
              <a:buNone/>
            </a:pPr>
            <a:r>
              <a:rPr lang="en-US" sz="950" dirty="0">
                <a:solidFill>
                  <a:srgbClr val="2C2821"/>
                </a:solidFill>
                <a:latin typeface="Lora" pitchFamily="34" charset="0"/>
                <a:ea typeface="Lora" pitchFamily="34" charset="-122"/>
                <a:cs typeface="Lora" pitchFamily="34" charset="-120"/>
              </a:rPr>
              <a:t>0.681</a:t>
            </a:r>
            <a:endParaRPr lang="en-US" sz="950" dirty="0"/>
          </a:p>
        </p:txBody>
      </p:sp>
      <p:sp>
        <p:nvSpPr>
          <p:cNvPr id="54" name="Text 52"/>
          <p:cNvSpPr/>
          <p:nvPr/>
        </p:nvSpPr>
        <p:spPr>
          <a:xfrm>
            <a:off x="7441883" y="7283291"/>
            <a:ext cx="2044422" cy="194072"/>
          </a:xfrm>
          <a:prstGeom prst="rect">
            <a:avLst/>
          </a:prstGeom>
          <a:noFill/>
          <a:ln/>
        </p:spPr>
        <p:txBody>
          <a:bodyPr wrap="none" lIns="0" tIns="0" rIns="0" bIns="0" rtlCol="0" anchor="t"/>
          <a:lstStyle/>
          <a:p>
            <a:pPr algn="l" indent="0" marL="0">
              <a:lnSpc>
                <a:spcPts val="1500"/>
              </a:lnSpc>
              <a:buNone/>
            </a:pPr>
            <a:r>
              <a:rPr lang="en-US" sz="950" dirty="0">
                <a:solidFill>
                  <a:srgbClr val="2C2821"/>
                </a:solidFill>
                <a:latin typeface="Lora" pitchFamily="34" charset="0"/>
                <a:ea typeface="Lora" pitchFamily="34" charset="-122"/>
                <a:cs typeface="Lora" pitchFamily="34" charset="-120"/>
              </a:rPr>
              <a:t>0.541</a:t>
            </a:r>
            <a:endParaRPr lang="en-US" sz="950" dirty="0"/>
          </a:p>
        </p:txBody>
      </p:sp>
      <p:sp>
        <p:nvSpPr>
          <p:cNvPr id="55" name="Text 53"/>
          <p:cNvSpPr/>
          <p:nvPr/>
        </p:nvSpPr>
        <p:spPr>
          <a:xfrm>
            <a:off x="9736574" y="7283291"/>
            <a:ext cx="2044422" cy="194072"/>
          </a:xfrm>
          <a:prstGeom prst="rect">
            <a:avLst/>
          </a:prstGeom>
          <a:noFill/>
          <a:ln/>
        </p:spPr>
        <p:txBody>
          <a:bodyPr wrap="none" lIns="0" tIns="0" rIns="0" bIns="0" rtlCol="0" anchor="t"/>
          <a:lstStyle/>
          <a:p>
            <a:pPr algn="l" indent="0" marL="0">
              <a:lnSpc>
                <a:spcPts val="1500"/>
              </a:lnSpc>
              <a:buNone/>
            </a:pPr>
            <a:r>
              <a:rPr lang="en-US" sz="950" dirty="0">
                <a:solidFill>
                  <a:srgbClr val="2C2821"/>
                </a:solidFill>
                <a:latin typeface="Lora" pitchFamily="34" charset="0"/>
                <a:ea typeface="Lora" pitchFamily="34" charset="-122"/>
                <a:cs typeface="Lora" pitchFamily="34" charset="-120"/>
              </a:rPr>
              <a:t>0.807</a:t>
            </a:r>
            <a:endParaRPr lang="en-US" sz="950" dirty="0"/>
          </a:p>
        </p:txBody>
      </p:sp>
      <p:sp>
        <p:nvSpPr>
          <p:cNvPr id="56" name="Text 54"/>
          <p:cNvSpPr/>
          <p:nvPr/>
        </p:nvSpPr>
        <p:spPr>
          <a:xfrm>
            <a:off x="12031266" y="7283291"/>
            <a:ext cx="2048232" cy="194072"/>
          </a:xfrm>
          <a:prstGeom prst="rect">
            <a:avLst/>
          </a:prstGeom>
          <a:noFill/>
          <a:ln/>
        </p:spPr>
        <p:txBody>
          <a:bodyPr wrap="none" lIns="0" tIns="0" rIns="0" bIns="0" rtlCol="0" anchor="t"/>
          <a:lstStyle/>
          <a:p>
            <a:pPr algn="l" indent="0" marL="0">
              <a:lnSpc>
                <a:spcPts val="1500"/>
              </a:lnSpc>
              <a:buNone/>
            </a:pPr>
            <a:r>
              <a:rPr lang="en-US" sz="950" dirty="0">
                <a:solidFill>
                  <a:srgbClr val="2C2821"/>
                </a:solidFill>
                <a:latin typeface="Lora" pitchFamily="34" charset="0"/>
                <a:ea typeface="Lora" pitchFamily="34" charset="-122"/>
                <a:cs typeface="Lora" pitchFamily="34" charset="-120"/>
              </a:rPr>
              <a:t>0.256</a:t>
            </a:r>
            <a:endParaRPr lang="en-US" sz="950" dirty="0"/>
          </a:p>
        </p:txBody>
      </p:sp>
      <p:sp>
        <p:nvSpPr>
          <p:cNvPr id="57" name="Shape 55"/>
          <p:cNvSpPr/>
          <p:nvPr/>
        </p:nvSpPr>
        <p:spPr>
          <a:xfrm>
            <a:off x="432316" y="7557730"/>
            <a:ext cx="13768507" cy="354806"/>
          </a:xfrm>
          <a:prstGeom prst="rect">
            <a:avLst/>
          </a:prstGeom>
          <a:solidFill>
            <a:srgbClr val="000000">
              <a:alpha val="4000"/>
            </a:srgbClr>
          </a:solidFill>
          <a:ln/>
        </p:spPr>
      </p:sp>
      <p:sp>
        <p:nvSpPr>
          <p:cNvPr id="58" name="Text 56"/>
          <p:cNvSpPr/>
          <p:nvPr/>
        </p:nvSpPr>
        <p:spPr>
          <a:xfrm>
            <a:off x="553998" y="7638098"/>
            <a:ext cx="2048232" cy="194072"/>
          </a:xfrm>
          <a:prstGeom prst="rect">
            <a:avLst/>
          </a:prstGeom>
          <a:noFill/>
          <a:ln/>
        </p:spPr>
        <p:txBody>
          <a:bodyPr wrap="none" lIns="0" tIns="0" rIns="0" bIns="0" rtlCol="0" anchor="t"/>
          <a:lstStyle/>
          <a:p>
            <a:pPr algn="l" indent="0" marL="0">
              <a:lnSpc>
                <a:spcPts val="1500"/>
              </a:lnSpc>
              <a:buNone/>
            </a:pPr>
            <a:r>
              <a:rPr lang="en-US" sz="950" b="1" dirty="0">
                <a:solidFill>
                  <a:srgbClr val="2C2821"/>
                </a:solidFill>
                <a:latin typeface="Lora" pitchFamily="34" charset="0"/>
                <a:ea typeface="Lora" pitchFamily="34" charset="-122"/>
                <a:cs typeface="Lora" pitchFamily="34" charset="-120"/>
              </a:rPr>
              <a:t>1000 (Final)</a:t>
            </a:r>
            <a:endParaRPr lang="en-US" sz="950" dirty="0"/>
          </a:p>
        </p:txBody>
      </p:sp>
      <p:sp>
        <p:nvSpPr>
          <p:cNvPr id="59" name="Text 57"/>
          <p:cNvSpPr/>
          <p:nvPr/>
        </p:nvSpPr>
        <p:spPr>
          <a:xfrm>
            <a:off x="2852499" y="7638098"/>
            <a:ext cx="2044422" cy="194072"/>
          </a:xfrm>
          <a:prstGeom prst="rect">
            <a:avLst/>
          </a:prstGeom>
          <a:noFill/>
          <a:ln/>
        </p:spPr>
        <p:txBody>
          <a:bodyPr wrap="none" lIns="0" tIns="0" rIns="0" bIns="0" rtlCol="0" anchor="t"/>
          <a:lstStyle/>
          <a:p>
            <a:pPr algn="l" indent="0" marL="0">
              <a:lnSpc>
                <a:spcPts val="1500"/>
              </a:lnSpc>
              <a:buNone/>
            </a:pPr>
            <a:r>
              <a:rPr lang="en-US" sz="950" dirty="0">
                <a:solidFill>
                  <a:srgbClr val="2C2821"/>
                </a:solidFill>
                <a:latin typeface="Lora" pitchFamily="34" charset="0"/>
                <a:ea typeface="Lora" pitchFamily="34" charset="-122"/>
                <a:cs typeface="Lora" pitchFamily="34" charset="-120"/>
              </a:rPr>
              <a:t>0.611</a:t>
            </a:r>
            <a:endParaRPr lang="en-US" sz="950" dirty="0"/>
          </a:p>
        </p:txBody>
      </p:sp>
      <p:sp>
        <p:nvSpPr>
          <p:cNvPr id="60" name="Text 58"/>
          <p:cNvSpPr/>
          <p:nvPr/>
        </p:nvSpPr>
        <p:spPr>
          <a:xfrm>
            <a:off x="5147191" y="7638098"/>
            <a:ext cx="2044422" cy="194072"/>
          </a:xfrm>
          <a:prstGeom prst="rect">
            <a:avLst/>
          </a:prstGeom>
          <a:noFill/>
          <a:ln/>
        </p:spPr>
        <p:txBody>
          <a:bodyPr wrap="none" lIns="0" tIns="0" rIns="0" bIns="0" rtlCol="0" anchor="t"/>
          <a:lstStyle/>
          <a:p>
            <a:pPr algn="l" indent="0" marL="0">
              <a:lnSpc>
                <a:spcPts val="1500"/>
              </a:lnSpc>
              <a:buNone/>
            </a:pPr>
            <a:r>
              <a:rPr lang="en-US" sz="950" dirty="0">
                <a:solidFill>
                  <a:srgbClr val="2C2821"/>
                </a:solidFill>
                <a:latin typeface="Lora" pitchFamily="34" charset="0"/>
                <a:ea typeface="Lora" pitchFamily="34" charset="-122"/>
                <a:cs typeface="Lora" pitchFamily="34" charset="-120"/>
              </a:rPr>
              <a:t>0.694</a:t>
            </a:r>
            <a:endParaRPr lang="en-US" sz="950" dirty="0"/>
          </a:p>
        </p:txBody>
      </p:sp>
      <p:sp>
        <p:nvSpPr>
          <p:cNvPr id="61" name="Text 59"/>
          <p:cNvSpPr/>
          <p:nvPr/>
        </p:nvSpPr>
        <p:spPr>
          <a:xfrm>
            <a:off x="7441883" y="7638098"/>
            <a:ext cx="2044422" cy="194072"/>
          </a:xfrm>
          <a:prstGeom prst="rect">
            <a:avLst/>
          </a:prstGeom>
          <a:noFill/>
          <a:ln/>
        </p:spPr>
        <p:txBody>
          <a:bodyPr wrap="none" lIns="0" tIns="0" rIns="0" bIns="0" rtlCol="0" anchor="t"/>
          <a:lstStyle/>
          <a:p>
            <a:pPr algn="l" indent="0" marL="0">
              <a:lnSpc>
                <a:spcPts val="1500"/>
              </a:lnSpc>
              <a:buNone/>
            </a:pPr>
            <a:r>
              <a:rPr lang="en-US" sz="950" dirty="0">
                <a:solidFill>
                  <a:srgbClr val="2C2821"/>
                </a:solidFill>
                <a:latin typeface="Lora" pitchFamily="34" charset="0"/>
                <a:ea typeface="Lora" pitchFamily="34" charset="-122"/>
                <a:cs typeface="Lora" pitchFamily="34" charset="-120"/>
              </a:rPr>
              <a:t>0.567</a:t>
            </a:r>
            <a:endParaRPr lang="en-US" sz="950" dirty="0"/>
          </a:p>
        </p:txBody>
      </p:sp>
      <p:sp>
        <p:nvSpPr>
          <p:cNvPr id="62" name="Text 60"/>
          <p:cNvSpPr/>
          <p:nvPr/>
        </p:nvSpPr>
        <p:spPr>
          <a:xfrm>
            <a:off x="9736574" y="7638098"/>
            <a:ext cx="2044422" cy="194072"/>
          </a:xfrm>
          <a:prstGeom prst="rect">
            <a:avLst/>
          </a:prstGeom>
          <a:noFill/>
          <a:ln/>
        </p:spPr>
        <p:txBody>
          <a:bodyPr wrap="none" lIns="0" tIns="0" rIns="0" bIns="0" rtlCol="0" anchor="t"/>
          <a:lstStyle/>
          <a:p>
            <a:pPr algn="l" indent="0" marL="0">
              <a:lnSpc>
                <a:spcPts val="1500"/>
              </a:lnSpc>
              <a:buNone/>
            </a:pPr>
            <a:r>
              <a:rPr lang="en-US" sz="950" dirty="0">
                <a:solidFill>
                  <a:srgbClr val="2C2821"/>
                </a:solidFill>
                <a:latin typeface="Lora" pitchFamily="34" charset="0"/>
                <a:ea typeface="Lora" pitchFamily="34" charset="-122"/>
                <a:cs typeface="Lora" pitchFamily="34" charset="-120"/>
              </a:rPr>
              <a:t>0.821</a:t>
            </a:r>
            <a:endParaRPr lang="en-US" sz="950" dirty="0"/>
          </a:p>
        </p:txBody>
      </p:sp>
      <p:sp>
        <p:nvSpPr>
          <p:cNvPr id="63" name="Text 61"/>
          <p:cNvSpPr/>
          <p:nvPr/>
        </p:nvSpPr>
        <p:spPr>
          <a:xfrm>
            <a:off x="12031266" y="7638098"/>
            <a:ext cx="2048232" cy="194072"/>
          </a:xfrm>
          <a:prstGeom prst="rect">
            <a:avLst/>
          </a:prstGeom>
          <a:noFill/>
          <a:ln/>
        </p:spPr>
        <p:txBody>
          <a:bodyPr wrap="none" lIns="0" tIns="0" rIns="0" bIns="0" rtlCol="0" anchor="t"/>
          <a:lstStyle/>
          <a:p>
            <a:pPr algn="l" indent="0" marL="0">
              <a:lnSpc>
                <a:spcPts val="1500"/>
              </a:lnSpc>
              <a:buNone/>
            </a:pPr>
            <a:r>
              <a:rPr lang="en-US" sz="950" dirty="0">
                <a:solidFill>
                  <a:srgbClr val="2C2821"/>
                </a:solidFill>
                <a:latin typeface="Lora" pitchFamily="34" charset="0"/>
                <a:ea typeface="Lora" pitchFamily="34" charset="-122"/>
                <a:cs typeface="Lora" pitchFamily="34" charset="-120"/>
              </a:rPr>
              <a:t>0.268</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28982" y="337066"/>
            <a:ext cx="3088958" cy="383024"/>
          </a:xfrm>
          <a:prstGeom prst="rect">
            <a:avLst/>
          </a:prstGeom>
          <a:noFill/>
          <a:ln/>
        </p:spPr>
        <p:txBody>
          <a:bodyPr wrap="none" lIns="0" tIns="0" rIns="0" bIns="0" rtlCol="0" anchor="t"/>
          <a:lstStyle/>
          <a:p>
            <a:pPr algn="l" indent="0" marL="0">
              <a:lnSpc>
                <a:spcPts val="3000"/>
              </a:lnSpc>
              <a:buNone/>
            </a:pPr>
            <a:r>
              <a:rPr lang="en-US" sz="2400" dirty="0">
                <a:solidFill>
                  <a:srgbClr val="233E32"/>
                </a:solidFill>
                <a:latin typeface="Alice" pitchFamily="34" charset="0"/>
                <a:ea typeface="Alice" pitchFamily="34" charset="-122"/>
                <a:cs typeface="Alice" pitchFamily="34" charset="-120"/>
              </a:rPr>
              <a:t>PPO - Training Results</a:t>
            </a:r>
            <a:endParaRPr lang="en-US" sz="2400" dirty="0"/>
          </a:p>
        </p:txBody>
      </p:sp>
      <p:sp>
        <p:nvSpPr>
          <p:cNvPr id="3" name="Text 1"/>
          <p:cNvSpPr/>
          <p:nvPr/>
        </p:nvSpPr>
        <p:spPr>
          <a:xfrm>
            <a:off x="428982" y="965240"/>
            <a:ext cx="13772436" cy="196215"/>
          </a:xfrm>
          <a:prstGeom prst="rect">
            <a:avLst/>
          </a:prstGeom>
          <a:noFill/>
          <a:ln/>
        </p:spPr>
        <p:txBody>
          <a:bodyPr wrap="none" lIns="0" tIns="0" rIns="0" bIns="0" rtlCol="0" anchor="t"/>
          <a:lstStyle/>
          <a:p>
            <a:pPr algn="l" indent="0" marL="0">
              <a:lnSpc>
                <a:spcPts val="1500"/>
              </a:lnSpc>
              <a:buNone/>
            </a:pPr>
            <a:r>
              <a:rPr lang="en-US" sz="950" b="1" dirty="0">
                <a:solidFill>
                  <a:srgbClr val="2C2821"/>
                </a:solidFill>
                <a:latin typeface="Lora" pitchFamily="34" charset="0"/>
                <a:ea typeface="Lora" pitchFamily="34" charset="-122"/>
                <a:cs typeface="Lora" pitchFamily="34" charset="-120"/>
              </a:rPr>
              <a:t>Static vs Dynamic Weighting Comparison:</a:t>
            </a:r>
            <a:endParaRPr lang="en-US" sz="950" dirty="0"/>
          </a:p>
        </p:txBody>
      </p:sp>
      <p:sp>
        <p:nvSpPr>
          <p:cNvPr id="4" name="Text 2"/>
          <p:cNvSpPr/>
          <p:nvPr/>
        </p:nvSpPr>
        <p:spPr>
          <a:xfrm>
            <a:off x="428982" y="1299329"/>
            <a:ext cx="13772436" cy="196215"/>
          </a:xfrm>
          <a:prstGeom prst="rect">
            <a:avLst/>
          </a:prstGeom>
          <a:noFill/>
          <a:ln/>
        </p:spPr>
        <p:txBody>
          <a:bodyPr wrap="none" lIns="0" tIns="0" rIns="0" bIns="0" rtlCol="0" anchor="t"/>
          <a:lstStyle/>
          <a:p>
            <a:pPr algn="l" marL="342900" indent="-342900">
              <a:lnSpc>
                <a:spcPts val="1500"/>
              </a:lnSpc>
              <a:buSzPct val="100000"/>
              <a:buChar char="•"/>
            </a:pPr>
            <a:r>
              <a:rPr lang="en-US" sz="950" dirty="0">
                <a:solidFill>
                  <a:srgbClr val="2C2821"/>
                </a:solidFill>
                <a:latin typeface="Lora" pitchFamily="34" charset="0"/>
                <a:ea typeface="Lora" pitchFamily="34" charset="-122"/>
                <a:cs typeface="Lora" pitchFamily="34" charset="-120"/>
              </a:rPr>
              <a:t>Static (Uniform Weights): Mean Reward 0.528</a:t>
            </a:r>
            <a:endParaRPr lang="en-US" sz="950" dirty="0"/>
          </a:p>
        </p:txBody>
      </p:sp>
      <p:sp>
        <p:nvSpPr>
          <p:cNvPr id="5" name="Text 3"/>
          <p:cNvSpPr/>
          <p:nvPr/>
        </p:nvSpPr>
        <p:spPr>
          <a:xfrm>
            <a:off x="428982" y="1538407"/>
            <a:ext cx="13772436" cy="196215"/>
          </a:xfrm>
          <a:prstGeom prst="rect">
            <a:avLst/>
          </a:prstGeom>
          <a:noFill/>
          <a:ln/>
        </p:spPr>
        <p:txBody>
          <a:bodyPr wrap="none" lIns="0" tIns="0" rIns="0" bIns="0" rtlCol="0" anchor="t"/>
          <a:lstStyle/>
          <a:p>
            <a:pPr algn="l" marL="342900" indent="-342900">
              <a:lnSpc>
                <a:spcPts val="1500"/>
              </a:lnSpc>
              <a:buSzPct val="100000"/>
              <a:buChar char="•"/>
            </a:pPr>
            <a:r>
              <a:rPr lang="en-US" sz="950" dirty="0">
                <a:solidFill>
                  <a:srgbClr val="2C2821"/>
                </a:solidFill>
                <a:latin typeface="Lora" pitchFamily="34" charset="0"/>
                <a:ea typeface="Lora" pitchFamily="34" charset="-122"/>
                <a:cs typeface="Lora" pitchFamily="34" charset="-120"/>
              </a:rPr>
              <a:t>Dynamic (Intent-Aware): Mean Reward 0.611</a:t>
            </a:r>
            <a:endParaRPr lang="en-US" sz="950" dirty="0"/>
          </a:p>
        </p:txBody>
      </p:sp>
      <p:sp>
        <p:nvSpPr>
          <p:cNvPr id="6" name="Text 4"/>
          <p:cNvSpPr/>
          <p:nvPr/>
        </p:nvSpPr>
        <p:spPr>
          <a:xfrm>
            <a:off x="428982" y="1777484"/>
            <a:ext cx="13772436" cy="196215"/>
          </a:xfrm>
          <a:prstGeom prst="rect">
            <a:avLst/>
          </a:prstGeom>
          <a:noFill/>
          <a:ln/>
        </p:spPr>
        <p:txBody>
          <a:bodyPr wrap="none" lIns="0" tIns="0" rIns="0" bIns="0" rtlCol="0" anchor="t"/>
          <a:lstStyle/>
          <a:p>
            <a:pPr algn="l" marL="342900" indent="-342900">
              <a:lnSpc>
                <a:spcPts val="1500"/>
              </a:lnSpc>
              <a:buSzPct val="100000"/>
              <a:buChar char="•"/>
            </a:pPr>
            <a:r>
              <a:rPr lang="en-US" sz="950" b="1" dirty="0">
                <a:solidFill>
                  <a:srgbClr val="2C2821"/>
                </a:solidFill>
                <a:latin typeface="Lora" pitchFamily="34" charset="0"/>
                <a:ea typeface="Lora" pitchFamily="34" charset="-122"/>
                <a:cs typeface="Lora" pitchFamily="34" charset="-120"/>
              </a:rPr>
              <a:t>Improvement from Dynamic Weighting: +15.7%</a:t>
            </a:r>
            <a:endParaRPr lang="en-US" sz="950" dirty="0"/>
          </a:p>
        </p:txBody>
      </p:sp>
      <p:sp>
        <p:nvSpPr>
          <p:cNvPr id="7" name="Text 5"/>
          <p:cNvSpPr/>
          <p:nvPr/>
        </p:nvSpPr>
        <p:spPr>
          <a:xfrm>
            <a:off x="428982" y="2016562"/>
            <a:ext cx="13772436" cy="196215"/>
          </a:xfrm>
          <a:prstGeom prst="rect">
            <a:avLst/>
          </a:prstGeom>
          <a:noFill/>
          <a:ln/>
        </p:spPr>
        <p:txBody>
          <a:bodyPr wrap="none" lIns="0" tIns="0" rIns="0" bIns="0" rtlCol="0" anchor="t"/>
          <a:lstStyle/>
          <a:p>
            <a:pPr algn="l" marL="342900" indent="-342900">
              <a:lnSpc>
                <a:spcPts val="1500"/>
              </a:lnSpc>
              <a:buSzPct val="100000"/>
              <a:buChar char="•"/>
            </a:pPr>
            <a:r>
              <a:rPr lang="en-US" sz="950" dirty="0">
                <a:solidFill>
                  <a:srgbClr val="2C2821"/>
                </a:solidFill>
                <a:latin typeface="Lora" pitchFamily="34" charset="0"/>
                <a:ea typeface="Lora" pitchFamily="34" charset="-122"/>
                <a:cs typeface="Lora" pitchFamily="34" charset="-120"/>
              </a:rPr>
              <a:t>Strongest gains in causal consistency</a:t>
            </a:r>
            <a:endParaRPr lang="en-US" sz="950" dirty="0"/>
          </a:p>
        </p:txBody>
      </p:sp>
      <p:sp>
        <p:nvSpPr>
          <p:cNvPr id="8" name="Text 6"/>
          <p:cNvSpPr/>
          <p:nvPr/>
        </p:nvSpPr>
        <p:spPr>
          <a:xfrm>
            <a:off x="428982" y="2255639"/>
            <a:ext cx="13772436" cy="196215"/>
          </a:xfrm>
          <a:prstGeom prst="rect">
            <a:avLst/>
          </a:prstGeom>
          <a:noFill/>
          <a:ln/>
        </p:spPr>
        <p:txBody>
          <a:bodyPr wrap="none" lIns="0" tIns="0" rIns="0" bIns="0" rtlCol="0" anchor="t"/>
          <a:lstStyle/>
          <a:p>
            <a:pPr algn="l" marL="342900" indent="-342900">
              <a:lnSpc>
                <a:spcPts val="1500"/>
              </a:lnSpc>
              <a:buSzPct val="100000"/>
              <a:buChar char="•"/>
            </a:pPr>
            <a:r>
              <a:rPr lang="en-US" sz="950" dirty="0">
                <a:solidFill>
                  <a:srgbClr val="2C2821"/>
                </a:solidFill>
                <a:latin typeface="Lora" pitchFamily="34" charset="0"/>
                <a:ea typeface="Lora" pitchFamily="34" charset="-122"/>
                <a:cs typeface="Lora" pitchFamily="34" charset="-120"/>
              </a:rPr>
              <a:t>Balanced optimization across all dimensions</a:t>
            </a:r>
            <a:endParaRPr lang="en-US" sz="950" dirty="0"/>
          </a:p>
        </p:txBody>
      </p:sp>
      <p:sp>
        <p:nvSpPr>
          <p:cNvPr id="9" name="Text 7"/>
          <p:cNvSpPr/>
          <p:nvPr/>
        </p:nvSpPr>
        <p:spPr>
          <a:xfrm>
            <a:off x="428982" y="2494717"/>
            <a:ext cx="13772436" cy="196215"/>
          </a:xfrm>
          <a:prstGeom prst="rect">
            <a:avLst/>
          </a:prstGeom>
          <a:noFill/>
          <a:ln/>
        </p:spPr>
        <p:txBody>
          <a:bodyPr wrap="none" lIns="0" tIns="0" rIns="0" bIns="0" rtlCol="0" anchor="t"/>
          <a:lstStyle/>
          <a:p>
            <a:pPr algn="l" marL="342900" indent="-342900">
              <a:lnSpc>
                <a:spcPts val="1500"/>
              </a:lnSpc>
              <a:buSzPct val="100000"/>
              <a:buChar char="•"/>
            </a:pPr>
            <a:r>
              <a:rPr lang="en-US" sz="950" dirty="0">
                <a:solidFill>
                  <a:srgbClr val="2C2821"/>
                </a:solidFill>
                <a:latin typeface="Lora" pitchFamily="34" charset="0"/>
                <a:ea typeface="Lora" pitchFamily="34" charset="-122"/>
                <a:cs typeface="Lora" pitchFamily="34" charset="-120"/>
              </a:rPr>
              <a:t>Prevents single-aspect over-optimization</a:t>
            </a:r>
            <a:endParaRPr lang="en-US" sz="950" dirty="0"/>
          </a:p>
        </p:txBody>
      </p:sp>
      <p:sp>
        <p:nvSpPr>
          <p:cNvPr id="10" name="Text 8"/>
          <p:cNvSpPr/>
          <p:nvPr/>
        </p:nvSpPr>
        <p:spPr>
          <a:xfrm>
            <a:off x="428982" y="2828806"/>
            <a:ext cx="13772436" cy="196215"/>
          </a:xfrm>
          <a:prstGeom prst="rect">
            <a:avLst/>
          </a:prstGeom>
          <a:noFill/>
          <a:ln/>
        </p:spPr>
        <p:txBody>
          <a:bodyPr wrap="none" lIns="0" tIns="0" rIns="0" bIns="0" rtlCol="0" anchor="t"/>
          <a:lstStyle/>
          <a:p>
            <a:pPr algn="l" indent="0" marL="0">
              <a:lnSpc>
                <a:spcPts val="1500"/>
              </a:lnSpc>
              <a:buNone/>
            </a:pPr>
            <a:r>
              <a:rPr lang="en-US" sz="950" b="1" dirty="0">
                <a:solidFill>
                  <a:srgbClr val="2C2821"/>
                </a:solidFill>
                <a:latin typeface="Lora" pitchFamily="34" charset="0"/>
                <a:ea typeface="Lora" pitchFamily="34" charset="-122"/>
                <a:cs typeface="Lora" pitchFamily="34" charset="-120"/>
              </a:rPr>
              <a:t>Qualitative Improvement Examples:</a:t>
            </a:r>
            <a:endParaRPr lang="en-US" sz="950" dirty="0"/>
          </a:p>
        </p:txBody>
      </p:sp>
      <p:sp>
        <p:nvSpPr>
          <p:cNvPr id="11" name="Text 9"/>
          <p:cNvSpPr/>
          <p:nvPr/>
        </p:nvSpPr>
        <p:spPr>
          <a:xfrm>
            <a:off x="428982" y="3162895"/>
            <a:ext cx="13772436" cy="196215"/>
          </a:xfrm>
          <a:prstGeom prst="rect">
            <a:avLst/>
          </a:prstGeom>
          <a:noFill/>
          <a:ln/>
        </p:spPr>
        <p:txBody>
          <a:bodyPr wrap="none" lIns="0" tIns="0" rIns="0" bIns="0" rtlCol="0" anchor="t"/>
          <a:lstStyle/>
          <a:p>
            <a:pPr algn="l" indent="0" marL="0">
              <a:lnSpc>
                <a:spcPts val="1500"/>
              </a:lnSpc>
              <a:buNone/>
            </a:pPr>
            <a:r>
              <a:rPr lang="en-US" sz="950" b="1" dirty="0">
                <a:solidFill>
                  <a:srgbClr val="2C2821"/>
                </a:solidFill>
                <a:latin typeface="Lora" pitchFamily="34" charset="0"/>
                <a:ea typeface="Lora" pitchFamily="34" charset="-122"/>
                <a:cs typeface="Lora" pitchFamily="34" charset="-120"/>
              </a:rPr>
              <a:t>Example 1 - Causal Consistency (Combat):</a:t>
            </a:r>
            <a:endParaRPr lang="en-US" sz="950" dirty="0"/>
          </a:p>
        </p:txBody>
      </p:sp>
      <p:sp>
        <p:nvSpPr>
          <p:cNvPr id="12" name="Text 10"/>
          <p:cNvSpPr/>
          <p:nvPr/>
        </p:nvSpPr>
        <p:spPr>
          <a:xfrm>
            <a:off x="428982" y="3496985"/>
            <a:ext cx="13772436" cy="196215"/>
          </a:xfrm>
          <a:prstGeom prst="rect">
            <a:avLst/>
          </a:prstGeom>
          <a:noFill/>
          <a:ln/>
        </p:spPr>
        <p:txBody>
          <a:bodyPr wrap="none" lIns="0" tIns="0" rIns="0" bIns="0" rtlCol="0" anchor="t"/>
          <a:lstStyle/>
          <a:p>
            <a:pPr algn="l" marL="342900" indent="-342900">
              <a:lnSpc>
                <a:spcPts val="1500"/>
              </a:lnSpc>
              <a:buSzPct val="100000"/>
              <a:buChar char="•"/>
            </a:pPr>
            <a:r>
              <a:rPr lang="en-US" sz="950" dirty="0">
                <a:solidFill>
                  <a:srgbClr val="2C2821"/>
                </a:solidFill>
                <a:latin typeface="Lora" pitchFamily="34" charset="0"/>
                <a:ea typeface="Lora" pitchFamily="34" charset="-122"/>
                <a:cs typeface="Lora" pitchFamily="34" charset="-120"/>
              </a:rPr>
              <a:t>Player: "I cast Fireball at the group of goblins!"</a:t>
            </a:r>
            <a:endParaRPr lang="en-US" sz="950" dirty="0"/>
          </a:p>
        </p:txBody>
      </p:sp>
      <p:sp>
        <p:nvSpPr>
          <p:cNvPr id="13" name="Text 11"/>
          <p:cNvSpPr/>
          <p:nvPr/>
        </p:nvSpPr>
        <p:spPr>
          <a:xfrm>
            <a:off x="428982" y="3736062"/>
            <a:ext cx="13772436" cy="196215"/>
          </a:xfrm>
          <a:prstGeom prst="rect">
            <a:avLst/>
          </a:prstGeom>
          <a:noFill/>
          <a:ln/>
        </p:spPr>
        <p:txBody>
          <a:bodyPr wrap="none" lIns="0" tIns="0" rIns="0" bIns="0" rtlCol="0" anchor="t"/>
          <a:lstStyle/>
          <a:p>
            <a:pPr algn="l" marL="342900" indent="-342900">
              <a:lnSpc>
                <a:spcPts val="1500"/>
              </a:lnSpc>
              <a:buSzPct val="100000"/>
              <a:buChar char="•"/>
            </a:pPr>
            <a:r>
              <a:rPr lang="en-US" sz="950" dirty="0">
                <a:solidFill>
                  <a:srgbClr val="2C2821"/>
                </a:solidFill>
                <a:latin typeface="Lora" pitchFamily="34" charset="0"/>
                <a:ea typeface="Lora" pitchFamily="34" charset="-122"/>
                <a:cs typeface="Lora" pitchFamily="34" charset="-120"/>
              </a:rPr>
              <a:t>SFT: "The tavern erupts in chaos... wooden beams overhead..."</a:t>
            </a:r>
            <a:endParaRPr lang="en-US" sz="950" dirty="0"/>
          </a:p>
        </p:txBody>
      </p:sp>
      <p:sp>
        <p:nvSpPr>
          <p:cNvPr id="14" name="Text 12"/>
          <p:cNvSpPr/>
          <p:nvPr/>
        </p:nvSpPr>
        <p:spPr>
          <a:xfrm>
            <a:off x="428982" y="3975140"/>
            <a:ext cx="13772436" cy="196215"/>
          </a:xfrm>
          <a:prstGeom prst="rect">
            <a:avLst/>
          </a:prstGeom>
          <a:noFill/>
          <a:ln/>
        </p:spPr>
        <p:txBody>
          <a:bodyPr wrap="none" lIns="0" tIns="0" rIns="0" bIns="0" rtlCol="0" anchor="t"/>
          <a:lstStyle/>
          <a:p>
            <a:pPr algn="l" lvl="1" marL="685800" indent="-342900">
              <a:lnSpc>
                <a:spcPts val="1500"/>
              </a:lnSpc>
              <a:buSzPct val="100000"/>
              <a:buChar char="•"/>
            </a:pPr>
            <a:r>
              <a:rPr lang="en-US" sz="950" dirty="0">
                <a:solidFill>
                  <a:srgbClr val="2C2821"/>
                </a:solidFill>
                <a:latin typeface="Lora" pitchFamily="34" charset="0"/>
                <a:ea typeface="Lora" pitchFamily="34" charset="-122"/>
                <a:cs typeface="Lora" pitchFamily="34" charset="-120"/>
              </a:rPr>
              <a:t>Scores: N:0.61, C:0.09, W:0.54 (ignores spell, no resolution)</a:t>
            </a:r>
            <a:endParaRPr lang="en-US" sz="950" dirty="0"/>
          </a:p>
        </p:txBody>
      </p:sp>
      <p:sp>
        <p:nvSpPr>
          <p:cNvPr id="15" name="Text 13"/>
          <p:cNvSpPr/>
          <p:nvPr/>
        </p:nvSpPr>
        <p:spPr>
          <a:xfrm>
            <a:off x="428982" y="4214217"/>
            <a:ext cx="13772436" cy="196215"/>
          </a:xfrm>
          <a:prstGeom prst="rect">
            <a:avLst/>
          </a:prstGeom>
          <a:noFill/>
          <a:ln/>
        </p:spPr>
        <p:txBody>
          <a:bodyPr wrap="none" lIns="0" tIns="0" rIns="0" bIns="0" rtlCol="0" anchor="t"/>
          <a:lstStyle/>
          <a:p>
            <a:pPr algn="l" marL="342900" indent="-342900">
              <a:lnSpc>
                <a:spcPts val="1500"/>
              </a:lnSpc>
              <a:buSzPct val="100000"/>
              <a:buChar char="•"/>
            </a:pPr>
            <a:r>
              <a:rPr lang="en-US" sz="950" dirty="0">
                <a:solidFill>
                  <a:srgbClr val="2C2821"/>
                </a:solidFill>
                <a:latin typeface="Lora" pitchFamily="34" charset="0"/>
                <a:ea typeface="Lora" pitchFamily="34" charset="-122"/>
                <a:cs typeface="Lora" pitchFamily="34" charset="-120"/>
              </a:rPr>
              <a:t>PPO: "Your Fireball explodes in flames. Roll 8d6 damage. Two goblins incinerated..."</a:t>
            </a:r>
            <a:endParaRPr lang="en-US" sz="950" dirty="0"/>
          </a:p>
        </p:txBody>
      </p:sp>
      <p:sp>
        <p:nvSpPr>
          <p:cNvPr id="16" name="Text 14"/>
          <p:cNvSpPr/>
          <p:nvPr/>
        </p:nvSpPr>
        <p:spPr>
          <a:xfrm>
            <a:off x="428982" y="4453295"/>
            <a:ext cx="13772436" cy="196215"/>
          </a:xfrm>
          <a:prstGeom prst="rect">
            <a:avLst/>
          </a:prstGeom>
          <a:noFill/>
          <a:ln/>
        </p:spPr>
        <p:txBody>
          <a:bodyPr wrap="none" lIns="0" tIns="0" rIns="0" bIns="0" rtlCol="0" anchor="t"/>
          <a:lstStyle/>
          <a:p>
            <a:pPr algn="l" lvl="1" marL="685800" indent="-342900">
              <a:lnSpc>
                <a:spcPts val="1500"/>
              </a:lnSpc>
              <a:buSzPct val="100000"/>
              <a:buChar char="•"/>
            </a:pPr>
            <a:r>
              <a:rPr lang="en-US" sz="950" dirty="0">
                <a:solidFill>
                  <a:srgbClr val="2C2821"/>
                </a:solidFill>
                <a:latin typeface="Lora" pitchFamily="34" charset="0"/>
                <a:ea typeface="Lora" pitchFamily="34" charset="-122"/>
                <a:cs typeface="Lora" pitchFamily="34" charset="-120"/>
              </a:rPr>
              <a:t>Scores: N:0.68, C:0.94, W:0.89 (+200% causal improvement)</a:t>
            </a:r>
            <a:endParaRPr lang="en-US" sz="950" dirty="0"/>
          </a:p>
        </p:txBody>
      </p:sp>
      <p:sp>
        <p:nvSpPr>
          <p:cNvPr id="17" name="Text 15"/>
          <p:cNvSpPr/>
          <p:nvPr/>
        </p:nvSpPr>
        <p:spPr>
          <a:xfrm>
            <a:off x="428982" y="4787384"/>
            <a:ext cx="13772436" cy="196215"/>
          </a:xfrm>
          <a:prstGeom prst="rect">
            <a:avLst/>
          </a:prstGeom>
          <a:noFill/>
          <a:ln/>
        </p:spPr>
        <p:txBody>
          <a:bodyPr wrap="none" lIns="0" tIns="0" rIns="0" bIns="0" rtlCol="0" anchor="t"/>
          <a:lstStyle/>
          <a:p>
            <a:pPr algn="l" indent="0" marL="0">
              <a:lnSpc>
                <a:spcPts val="1500"/>
              </a:lnSpc>
              <a:buNone/>
            </a:pPr>
            <a:r>
              <a:rPr lang="en-US" sz="950" b="1" dirty="0">
                <a:solidFill>
                  <a:srgbClr val="2C2821"/>
                </a:solidFill>
                <a:latin typeface="Lora" pitchFamily="34" charset="0"/>
                <a:ea typeface="Lora" pitchFamily="34" charset="-122"/>
                <a:cs typeface="Lora" pitchFamily="34" charset="-120"/>
              </a:rPr>
              <a:t>Example 2 - Narrative Quality (Exploration):</a:t>
            </a:r>
            <a:endParaRPr lang="en-US" sz="950" dirty="0"/>
          </a:p>
        </p:txBody>
      </p:sp>
      <p:sp>
        <p:nvSpPr>
          <p:cNvPr id="18" name="Text 16"/>
          <p:cNvSpPr/>
          <p:nvPr/>
        </p:nvSpPr>
        <p:spPr>
          <a:xfrm>
            <a:off x="428982" y="5121473"/>
            <a:ext cx="13772436" cy="196215"/>
          </a:xfrm>
          <a:prstGeom prst="rect">
            <a:avLst/>
          </a:prstGeom>
          <a:noFill/>
          <a:ln/>
        </p:spPr>
        <p:txBody>
          <a:bodyPr wrap="none" lIns="0" tIns="0" rIns="0" bIns="0" rtlCol="0" anchor="t"/>
          <a:lstStyle/>
          <a:p>
            <a:pPr algn="l" marL="342900" indent="-342900">
              <a:lnSpc>
                <a:spcPts val="1500"/>
              </a:lnSpc>
              <a:buSzPct val="100000"/>
              <a:buChar char="•"/>
            </a:pPr>
            <a:r>
              <a:rPr lang="en-US" sz="950" dirty="0">
                <a:solidFill>
                  <a:srgbClr val="2C2821"/>
                </a:solidFill>
                <a:latin typeface="Lora" pitchFamily="34" charset="0"/>
                <a:ea typeface="Lora" pitchFamily="34" charset="-122"/>
                <a:cs typeface="Lora" pitchFamily="34" charset="-120"/>
              </a:rPr>
              <a:t>Player: "I examine the ancient door for traps"</a:t>
            </a:r>
            <a:endParaRPr lang="en-US" sz="950" dirty="0"/>
          </a:p>
        </p:txBody>
      </p:sp>
      <p:sp>
        <p:nvSpPr>
          <p:cNvPr id="19" name="Text 17"/>
          <p:cNvSpPr/>
          <p:nvPr/>
        </p:nvSpPr>
        <p:spPr>
          <a:xfrm>
            <a:off x="428982" y="5360551"/>
            <a:ext cx="13772436" cy="196215"/>
          </a:xfrm>
          <a:prstGeom prst="rect">
            <a:avLst/>
          </a:prstGeom>
          <a:noFill/>
          <a:ln/>
        </p:spPr>
        <p:txBody>
          <a:bodyPr wrap="none" lIns="0" tIns="0" rIns="0" bIns="0" rtlCol="0" anchor="t"/>
          <a:lstStyle/>
          <a:p>
            <a:pPr algn="l" marL="342900" indent="-342900">
              <a:lnSpc>
                <a:spcPts val="1500"/>
              </a:lnSpc>
              <a:buSzPct val="100000"/>
              <a:buChar char="•"/>
            </a:pPr>
            <a:r>
              <a:rPr lang="en-US" sz="950" dirty="0">
                <a:solidFill>
                  <a:srgbClr val="2C2821"/>
                </a:solidFill>
                <a:latin typeface="Lora" pitchFamily="34" charset="0"/>
                <a:ea typeface="Lora" pitchFamily="34" charset="-122"/>
                <a:cs typeface="Lora" pitchFamily="34" charset="-120"/>
              </a:rPr>
              <a:t>SFT: "You look at the door. It's stone with carvings. Roll perception."</a:t>
            </a:r>
            <a:endParaRPr lang="en-US" sz="950" dirty="0"/>
          </a:p>
        </p:txBody>
      </p:sp>
      <p:sp>
        <p:nvSpPr>
          <p:cNvPr id="20" name="Text 18"/>
          <p:cNvSpPr/>
          <p:nvPr/>
        </p:nvSpPr>
        <p:spPr>
          <a:xfrm>
            <a:off x="428982" y="5599628"/>
            <a:ext cx="13772436" cy="196215"/>
          </a:xfrm>
          <a:prstGeom prst="rect">
            <a:avLst/>
          </a:prstGeom>
          <a:noFill/>
          <a:ln/>
        </p:spPr>
        <p:txBody>
          <a:bodyPr wrap="none" lIns="0" tIns="0" rIns="0" bIns="0" rtlCol="0" anchor="t"/>
          <a:lstStyle/>
          <a:p>
            <a:pPr algn="l" lvl="1" marL="685800" indent="-342900">
              <a:lnSpc>
                <a:spcPts val="1500"/>
              </a:lnSpc>
              <a:buSzPct val="100000"/>
              <a:buChar char="•"/>
            </a:pPr>
            <a:r>
              <a:rPr lang="en-US" sz="950" dirty="0">
                <a:solidFill>
                  <a:srgbClr val="2C2821"/>
                </a:solidFill>
                <a:latin typeface="Lora" pitchFamily="34" charset="0"/>
                <a:ea typeface="Lora" pitchFamily="34" charset="-122"/>
                <a:cs typeface="Lora" pitchFamily="34" charset="-120"/>
              </a:rPr>
              <a:t>Scores: N:0.27, C:0.38, W:0.55 (minimal description)</a:t>
            </a:r>
            <a:endParaRPr lang="en-US" sz="950" dirty="0"/>
          </a:p>
        </p:txBody>
      </p:sp>
      <p:sp>
        <p:nvSpPr>
          <p:cNvPr id="21" name="Text 19"/>
          <p:cNvSpPr/>
          <p:nvPr/>
        </p:nvSpPr>
        <p:spPr>
          <a:xfrm>
            <a:off x="428982" y="5838706"/>
            <a:ext cx="13772436" cy="196215"/>
          </a:xfrm>
          <a:prstGeom prst="rect">
            <a:avLst/>
          </a:prstGeom>
          <a:noFill/>
          <a:ln/>
        </p:spPr>
        <p:txBody>
          <a:bodyPr wrap="none" lIns="0" tIns="0" rIns="0" bIns="0" rtlCol="0" anchor="t"/>
          <a:lstStyle/>
          <a:p>
            <a:pPr algn="l" marL="342900" indent="-342900">
              <a:lnSpc>
                <a:spcPts val="1500"/>
              </a:lnSpc>
              <a:buSzPct val="100000"/>
              <a:buChar char="•"/>
            </a:pPr>
            <a:r>
              <a:rPr lang="en-US" sz="950" dirty="0">
                <a:solidFill>
                  <a:srgbClr val="2C2821"/>
                </a:solidFill>
                <a:latin typeface="Lora" pitchFamily="34" charset="0"/>
                <a:ea typeface="Lora" pitchFamily="34" charset="-122"/>
                <a:cs typeface="Lora" pitchFamily="34" charset="-120"/>
              </a:rPr>
              <a:t>PPO: "Masterwork dwarven craftsmanship. Glowing runes spiral across cold stone..."</a:t>
            </a:r>
            <a:endParaRPr lang="en-US" sz="950" dirty="0"/>
          </a:p>
        </p:txBody>
      </p:sp>
      <p:sp>
        <p:nvSpPr>
          <p:cNvPr id="22" name="Text 20"/>
          <p:cNvSpPr/>
          <p:nvPr/>
        </p:nvSpPr>
        <p:spPr>
          <a:xfrm>
            <a:off x="428982" y="6077783"/>
            <a:ext cx="13772436" cy="196215"/>
          </a:xfrm>
          <a:prstGeom prst="rect">
            <a:avLst/>
          </a:prstGeom>
          <a:noFill/>
          <a:ln/>
        </p:spPr>
        <p:txBody>
          <a:bodyPr wrap="none" lIns="0" tIns="0" rIns="0" bIns="0" rtlCol="0" anchor="t"/>
          <a:lstStyle/>
          <a:p>
            <a:pPr algn="l" lvl="1" marL="685800" indent="-342900">
              <a:lnSpc>
                <a:spcPts val="1500"/>
              </a:lnSpc>
              <a:buSzPct val="100000"/>
              <a:buChar char="•"/>
            </a:pPr>
            <a:r>
              <a:rPr lang="en-US" sz="950" dirty="0">
                <a:solidFill>
                  <a:srgbClr val="2C2821"/>
                </a:solidFill>
                <a:latin typeface="Lora" pitchFamily="34" charset="0"/>
                <a:ea typeface="Lora" pitchFamily="34" charset="-122"/>
                <a:cs typeface="Lora" pitchFamily="34" charset="-120"/>
              </a:rPr>
              <a:t>Scores: N:0.91, C:0.59, W:0.87 (+237% narrative improvement)</a:t>
            </a:r>
            <a:endParaRPr lang="en-US" sz="950" dirty="0"/>
          </a:p>
        </p:txBody>
      </p:sp>
      <p:sp>
        <p:nvSpPr>
          <p:cNvPr id="23" name="Text 21"/>
          <p:cNvSpPr/>
          <p:nvPr/>
        </p:nvSpPr>
        <p:spPr>
          <a:xfrm>
            <a:off x="428982" y="6411873"/>
            <a:ext cx="13772436" cy="196215"/>
          </a:xfrm>
          <a:prstGeom prst="rect">
            <a:avLst/>
          </a:prstGeom>
          <a:noFill/>
          <a:ln/>
        </p:spPr>
        <p:txBody>
          <a:bodyPr wrap="none" lIns="0" tIns="0" rIns="0" bIns="0" rtlCol="0" anchor="t"/>
          <a:lstStyle/>
          <a:p>
            <a:pPr algn="l" indent="0" marL="0">
              <a:lnSpc>
                <a:spcPts val="1500"/>
              </a:lnSpc>
              <a:buNone/>
            </a:pPr>
            <a:r>
              <a:rPr lang="en-US" sz="950" b="1" dirty="0">
                <a:solidFill>
                  <a:srgbClr val="2C2821"/>
                </a:solidFill>
                <a:latin typeface="Lora" pitchFamily="34" charset="0"/>
                <a:ea typeface="Lora" pitchFamily="34" charset="-122"/>
                <a:cs typeface="Lora" pitchFamily="34" charset="-120"/>
              </a:rPr>
              <a:t>Example 3 - Character Voice (Dialogue):</a:t>
            </a:r>
            <a:endParaRPr lang="en-US" sz="950" dirty="0"/>
          </a:p>
        </p:txBody>
      </p:sp>
      <p:sp>
        <p:nvSpPr>
          <p:cNvPr id="24" name="Text 22"/>
          <p:cNvSpPr/>
          <p:nvPr/>
        </p:nvSpPr>
        <p:spPr>
          <a:xfrm>
            <a:off x="428982" y="6745962"/>
            <a:ext cx="13772436" cy="196215"/>
          </a:xfrm>
          <a:prstGeom prst="rect">
            <a:avLst/>
          </a:prstGeom>
          <a:noFill/>
          <a:ln/>
        </p:spPr>
        <p:txBody>
          <a:bodyPr wrap="none" lIns="0" tIns="0" rIns="0" bIns="0" rtlCol="0" anchor="t"/>
          <a:lstStyle/>
          <a:p>
            <a:pPr algn="l" marL="342900" indent="-342900">
              <a:lnSpc>
                <a:spcPts val="1500"/>
              </a:lnSpc>
              <a:buSzPct val="100000"/>
              <a:buChar char="•"/>
            </a:pPr>
            <a:r>
              <a:rPr lang="en-US" sz="950" dirty="0">
                <a:solidFill>
                  <a:srgbClr val="2C2821"/>
                </a:solidFill>
                <a:latin typeface="Lora" pitchFamily="34" charset="0"/>
                <a:ea typeface="Lora" pitchFamily="34" charset="-122"/>
                <a:cs typeface="Lora" pitchFamily="34" charset="-120"/>
              </a:rPr>
              <a:t>Player: "I ask the innkeeper about the stranger"</a:t>
            </a:r>
            <a:endParaRPr lang="en-US" sz="950" dirty="0"/>
          </a:p>
        </p:txBody>
      </p:sp>
      <p:sp>
        <p:nvSpPr>
          <p:cNvPr id="25" name="Text 23"/>
          <p:cNvSpPr/>
          <p:nvPr/>
        </p:nvSpPr>
        <p:spPr>
          <a:xfrm>
            <a:off x="428982" y="6985040"/>
            <a:ext cx="13772436" cy="196215"/>
          </a:xfrm>
          <a:prstGeom prst="rect">
            <a:avLst/>
          </a:prstGeom>
          <a:noFill/>
          <a:ln/>
        </p:spPr>
        <p:txBody>
          <a:bodyPr wrap="none" lIns="0" tIns="0" rIns="0" bIns="0" rtlCol="0" anchor="t"/>
          <a:lstStyle/>
          <a:p>
            <a:pPr algn="l" marL="342900" indent="-342900">
              <a:lnSpc>
                <a:spcPts val="1500"/>
              </a:lnSpc>
              <a:buSzPct val="100000"/>
              <a:buChar char="•"/>
            </a:pPr>
            <a:r>
              <a:rPr lang="en-US" sz="950" dirty="0">
                <a:solidFill>
                  <a:srgbClr val="2C2821"/>
                </a:solidFill>
                <a:latin typeface="Lora" pitchFamily="34" charset="0"/>
                <a:ea typeface="Lora" pitchFamily="34" charset="-122"/>
                <a:cs typeface="Lora" pitchFamily="34" charset="-120"/>
              </a:rPr>
              <a:t>SFT: "She tells you about a stranger in a dark cloak. Might be dangerous."</a:t>
            </a:r>
            <a:endParaRPr lang="en-US" sz="950" dirty="0"/>
          </a:p>
        </p:txBody>
      </p:sp>
      <p:sp>
        <p:nvSpPr>
          <p:cNvPr id="26" name="Text 24"/>
          <p:cNvSpPr/>
          <p:nvPr/>
        </p:nvSpPr>
        <p:spPr>
          <a:xfrm>
            <a:off x="428982" y="7224117"/>
            <a:ext cx="13772436" cy="196215"/>
          </a:xfrm>
          <a:prstGeom prst="rect">
            <a:avLst/>
          </a:prstGeom>
          <a:noFill/>
          <a:ln/>
        </p:spPr>
        <p:txBody>
          <a:bodyPr wrap="none" lIns="0" tIns="0" rIns="0" bIns="0" rtlCol="0" anchor="t"/>
          <a:lstStyle/>
          <a:p>
            <a:pPr algn="l" lvl="1" marL="685800" indent="-342900">
              <a:lnSpc>
                <a:spcPts val="1500"/>
              </a:lnSpc>
              <a:buSzPct val="100000"/>
              <a:buChar char="•"/>
            </a:pPr>
            <a:r>
              <a:rPr lang="en-US" sz="950" dirty="0">
                <a:solidFill>
                  <a:srgbClr val="2C2821"/>
                </a:solidFill>
                <a:latin typeface="Lora" pitchFamily="34" charset="0"/>
                <a:ea typeface="Lora" pitchFamily="34" charset="-122"/>
                <a:cs typeface="Lora" pitchFamily="34" charset="-120"/>
              </a:rPr>
              <a:t>Scores: N:0.49, C:0.28, Ch:0.08 (generic NPC)</a:t>
            </a:r>
            <a:endParaRPr lang="en-US" sz="950" dirty="0"/>
          </a:p>
        </p:txBody>
      </p:sp>
      <p:sp>
        <p:nvSpPr>
          <p:cNvPr id="27" name="Text 25"/>
          <p:cNvSpPr/>
          <p:nvPr/>
        </p:nvSpPr>
        <p:spPr>
          <a:xfrm>
            <a:off x="428982" y="7463195"/>
            <a:ext cx="13772436" cy="196215"/>
          </a:xfrm>
          <a:prstGeom prst="rect">
            <a:avLst/>
          </a:prstGeom>
          <a:noFill/>
          <a:ln/>
        </p:spPr>
        <p:txBody>
          <a:bodyPr wrap="none" lIns="0" tIns="0" rIns="0" bIns="0" rtlCol="0" anchor="t"/>
          <a:lstStyle/>
          <a:p>
            <a:pPr algn="l" marL="342900" indent="-342900">
              <a:lnSpc>
                <a:spcPts val="1500"/>
              </a:lnSpc>
              <a:buSzPct val="100000"/>
              <a:buChar char="•"/>
            </a:pPr>
            <a:r>
              <a:rPr lang="en-US" sz="950" dirty="0">
                <a:solidFill>
                  <a:srgbClr val="2C2821"/>
                </a:solidFill>
                <a:latin typeface="Lora" pitchFamily="34" charset="0"/>
                <a:ea typeface="Lora" pitchFamily="34" charset="-122"/>
                <a:cs typeface="Lora" pitchFamily="34" charset="-120"/>
              </a:rPr>
              <a:t>PPO: "Margery leans close, northern accent thick. 'Paid in old gold, kept hood up...'"</a:t>
            </a:r>
            <a:endParaRPr lang="en-US" sz="950" dirty="0"/>
          </a:p>
        </p:txBody>
      </p:sp>
      <p:sp>
        <p:nvSpPr>
          <p:cNvPr id="28" name="Text 26"/>
          <p:cNvSpPr/>
          <p:nvPr/>
        </p:nvSpPr>
        <p:spPr>
          <a:xfrm>
            <a:off x="428982" y="7702272"/>
            <a:ext cx="13772436" cy="196215"/>
          </a:xfrm>
          <a:prstGeom prst="rect">
            <a:avLst/>
          </a:prstGeom>
          <a:noFill/>
          <a:ln/>
        </p:spPr>
        <p:txBody>
          <a:bodyPr wrap="none" lIns="0" tIns="0" rIns="0" bIns="0" rtlCol="0" anchor="t"/>
          <a:lstStyle/>
          <a:p>
            <a:pPr algn="l" lvl="1" marL="685800" indent="-342900">
              <a:lnSpc>
                <a:spcPts val="1500"/>
              </a:lnSpc>
              <a:buSzPct val="100000"/>
              <a:buChar char="•"/>
            </a:pPr>
            <a:r>
              <a:rPr lang="en-US" sz="950" dirty="0">
                <a:solidFill>
                  <a:srgbClr val="2C2821"/>
                </a:solidFill>
                <a:latin typeface="Lora" pitchFamily="34" charset="0"/>
                <a:ea typeface="Lora" pitchFamily="34" charset="-122"/>
                <a:cs typeface="Lora" pitchFamily="34" charset="-120"/>
              </a:rPr>
              <a:t>Scores: N:0.79, C:0.57, Ch:0.81 (+912% character improvement)</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2025-11-07T19:24:52Z</dcterms:created>
  <dcterms:modified xsi:type="dcterms:W3CDTF">2025-11-07T19:24:52Z</dcterms:modified>
</cp:coreProperties>
</file>